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82"/>
  </p:notesMasterIdLst>
  <p:sldIdLst>
    <p:sldId id="256" r:id="rId2"/>
    <p:sldId id="257" r:id="rId3"/>
    <p:sldId id="261" r:id="rId4"/>
    <p:sldId id="262" r:id="rId5"/>
    <p:sldId id="263" r:id="rId6"/>
    <p:sldId id="284" r:id="rId7"/>
    <p:sldId id="264" r:id="rId8"/>
    <p:sldId id="265" r:id="rId9"/>
    <p:sldId id="266" r:id="rId10"/>
    <p:sldId id="267" r:id="rId11"/>
    <p:sldId id="268" r:id="rId12"/>
    <p:sldId id="269" r:id="rId13"/>
    <p:sldId id="270" r:id="rId14"/>
    <p:sldId id="271" r:id="rId15"/>
    <p:sldId id="277" r:id="rId16"/>
    <p:sldId id="278" r:id="rId17"/>
    <p:sldId id="279" r:id="rId18"/>
    <p:sldId id="280" r:id="rId19"/>
    <p:sldId id="281" r:id="rId20"/>
    <p:sldId id="282" r:id="rId21"/>
    <p:sldId id="283" r:id="rId22"/>
    <p:sldId id="273" r:id="rId23"/>
    <p:sldId id="305" r:id="rId24"/>
    <p:sldId id="275" r:id="rId25"/>
    <p:sldId id="276" r:id="rId26"/>
    <p:sldId id="285" r:id="rId27"/>
    <p:sldId id="286" r:id="rId28"/>
    <p:sldId id="287" r:id="rId29"/>
    <p:sldId id="288" r:id="rId30"/>
    <p:sldId id="289" r:id="rId31"/>
    <p:sldId id="291" r:id="rId32"/>
    <p:sldId id="290" r:id="rId33"/>
    <p:sldId id="292" r:id="rId34"/>
    <p:sldId id="293" r:id="rId35"/>
    <p:sldId id="294" r:id="rId36"/>
    <p:sldId id="295" r:id="rId37"/>
    <p:sldId id="296" r:id="rId38"/>
    <p:sldId id="297" r:id="rId39"/>
    <p:sldId id="299" r:id="rId40"/>
    <p:sldId id="300" r:id="rId41"/>
    <p:sldId id="306" r:id="rId42"/>
    <p:sldId id="307" r:id="rId43"/>
    <p:sldId id="308" r:id="rId44"/>
    <p:sldId id="309" r:id="rId45"/>
    <p:sldId id="320" r:id="rId46"/>
    <p:sldId id="321" r:id="rId47"/>
    <p:sldId id="322" r:id="rId48"/>
    <p:sldId id="323" r:id="rId49"/>
    <p:sldId id="324" r:id="rId50"/>
    <p:sldId id="329" r:id="rId51"/>
    <p:sldId id="330" r:id="rId52"/>
    <p:sldId id="331" r:id="rId53"/>
    <p:sldId id="332" r:id="rId54"/>
    <p:sldId id="310" r:id="rId55"/>
    <p:sldId id="311" r:id="rId56"/>
    <p:sldId id="312" r:id="rId57"/>
    <p:sldId id="313" r:id="rId58"/>
    <p:sldId id="314" r:id="rId59"/>
    <p:sldId id="315" r:id="rId60"/>
    <p:sldId id="316" r:id="rId61"/>
    <p:sldId id="317" r:id="rId62"/>
    <p:sldId id="318" r:id="rId63"/>
    <p:sldId id="319" r:id="rId64"/>
    <p:sldId id="338" r:id="rId65"/>
    <p:sldId id="339" r:id="rId66"/>
    <p:sldId id="361" r:id="rId67"/>
    <p:sldId id="362" r:id="rId68"/>
    <p:sldId id="363" r:id="rId69"/>
    <p:sldId id="357" r:id="rId70"/>
    <p:sldId id="358" r:id="rId71"/>
    <p:sldId id="359" r:id="rId72"/>
    <p:sldId id="346" r:id="rId73"/>
    <p:sldId id="347" r:id="rId74"/>
    <p:sldId id="348" r:id="rId75"/>
    <p:sldId id="355" r:id="rId76"/>
    <p:sldId id="356" r:id="rId77"/>
    <p:sldId id="349" r:id="rId78"/>
    <p:sldId id="350" r:id="rId79"/>
    <p:sldId id="352" r:id="rId80"/>
    <p:sldId id="351"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9599" autoAdjust="0"/>
  </p:normalViewPr>
  <p:slideViewPr>
    <p:cSldViewPr snapToGrid="0">
      <p:cViewPr varScale="1">
        <p:scale>
          <a:sx n="89" d="100"/>
          <a:sy n="89" d="100"/>
        </p:scale>
        <p:origin x="14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E9DF4A-9EC9-48D2-88FA-B677E1F4AAB6}"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25090-B1C7-4AA6-A752-59249389DECE}" type="slidenum">
              <a:rPr lang="en-US" smtClean="0"/>
              <a:t>‹#›</a:t>
            </a:fld>
            <a:endParaRPr lang="en-US"/>
          </a:p>
        </p:txBody>
      </p:sp>
    </p:spTree>
    <p:extLst>
      <p:ext uri="{BB962C8B-B14F-4D97-AF65-F5344CB8AC3E}">
        <p14:creationId xmlns:p14="http://schemas.microsoft.com/office/powerpoint/2010/main" val="2750589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8C6DB85F-A721-4613-A889-37A8CC02AFE1}" type="slidenum">
              <a:rPr lang="en-US" altLang="en-US" sz="1200" smtClean="0">
                <a:latin typeface="Arial" panose="020B0604020202020204" pitchFamily="34" charset="0"/>
              </a:rPr>
              <a:pPr/>
              <a:t>3</a:t>
            </a:fld>
            <a:endParaRPr lang="en-US" altLang="en-US" sz="1200">
              <a:latin typeface="Arial" panose="020B0604020202020204" pitchFamily="34" charset="0"/>
            </a:endParaRPr>
          </a:p>
        </p:txBody>
      </p:sp>
      <p:sp>
        <p:nvSpPr>
          <p:cNvPr id="48131"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48132"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03333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FF05E743-F79F-427B-92DD-FF36B7F9BC72}" type="slidenum">
              <a:rPr lang="en-US" altLang="en-US" sz="1200" smtClean="0">
                <a:latin typeface="Arial" panose="020B0604020202020204" pitchFamily="34" charset="0"/>
              </a:rPr>
              <a:pPr/>
              <a:t>4</a:t>
            </a:fld>
            <a:endParaRPr lang="en-US" altLang="en-US" sz="1200">
              <a:latin typeface="Arial" panose="020B0604020202020204" pitchFamily="34" charset="0"/>
            </a:endParaRPr>
          </a:p>
        </p:txBody>
      </p:sp>
      <p:sp>
        <p:nvSpPr>
          <p:cNvPr id="50179"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50180"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92944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55BE14F6-D09A-479C-9B6C-E60920E7093F}" type="slidenum">
              <a:rPr lang="en-US" altLang="en-US" sz="1200" smtClean="0">
                <a:latin typeface="Arial" panose="020B0604020202020204" pitchFamily="34" charset="0"/>
              </a:rPr>
              <a:pPr/>
              <a:t>5</a:t>
            </a:fld>
            <a:endParaRPr lang="en-US" altLang="en-US" sz="1200">
              <a:latin typeface="Arial" panose="020B0604020202020204" pitchFamily="34" charset="0"/>
            </a:endParaRPr>
          </a:p>
        </p:txBody>
      </p:sp>
      <p:sp>
        <p:nvSpPr>
          <p:cNvPr id="52227"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52228"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838996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99CBA72C-81AA-4C37-867E-E292C4AC0D79}" type="slidenum">
              <a:rPr lang="en-US" altLang="en-US" sz="1200" smtClean="0">
                <a:latin typeface="Arial" panose="020B0604020202020204" pitchFamily="34" charset="0"/>
              </a:rPr>
              <a:pPr/>
              <a:t>7</a:t>
            </a:fld>
            <a:endParaRPr lang="en-US" altLang="en-US" sz="1200">
              <a:latin typeface="Arial" panose="020B0604020202020204" pitchFamily="34" charset="0"/>
            </a:endParaRPr>
          </a:p>
        </p:txBody>
      </p:sp>
      <p:sp>
        <p:nvSpPr>
          <p:cNvPr id="54275"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54276"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588985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0CFCA369-F3B3-42BC-B669-85F6759FDA1C}" type="slidenum">
              <a:rPr lang="en-US" altLang="en-US" sz="1200" smtClean="0">
                <a:latin typeface="Arial" panose="020B0604020202020204" pitchFamily="34" charset="0"/>
              </a:rPr>
              <a:pPr/>
              <a:t>8</a:t>
            </a:fld>
            <a:endParaRPr lang="en-US" altLang="en-US" sz="1200">
              <a:latin typeface="Arial" panose="020B0604020202020204" pitchFamily="34" charset="0"/>
            </a:endParaRPr>
          </a:p>
        </p:txBody>
      </p:sp>
      <p:sp>
        <p:nvSpPr>
          <p:cNvPr id="56323"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56324"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68777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6D81C4F4-98DD-4B94-BDEE-5BDC81AB5A87}" type="slidenum">
              <a:rPr lang="en-US" altLang="en-US" sz="1200" smtClean="0">
                <a:latin typeface="Arial" panose="020B0604020202020204" pitchFamily="34" charset="0"/>
              </a:rPr>
              <a:pPr/>
              <a:t>9</a:t>
            </a:fld>
            <a:endParaRPr lang="en-US" altLang="en-US" sz="1200">
              <a:latin typeface="Arial" panose="020B0604020202020204" pitchFamily="34" charset="0"/>
            </a:endParaRPr>
          </a:p>
        </p:txBody>
      </p:sp>
      <p:sp>
        <p:nvSpPr>
          <p:cNvPr id="58371" name="Rectangle 2"/>
          <p:cNvSpPr>
            <a:spLocks noGrp="1" noRot="1" noChangeAspect="1" noChangeArrowheads="1" noTextEdit="1"/>
          </p:cNvSpPr>
          <p:nvPr>
            <p:ph type="sldImg"/>
          </p:nvPr>
        </p:nvSpPr>
        <p:spPr>
          <a:solidFill>
            <a:srgbClr val="FFFFFF"/>
          </a:solidFill>
          <a:ln/>
        </p:spPr>
      </p:sp>
      <p:sp>
        <p:nvSpPr>
          <p:cNvPr id="5837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Arial" panose="020B0604020202020204" pitchFamily="34" charset="0"/>
                <a:ea typeface="ＭＳ Ｐゴシック" panose="020B0600070205080204" pitchFamily="34" charset="-128"/>
              </a:rPr>
              <a:t>Main program displays greetings and instructions, then enters a loop in which it calls the three subroutines in turn.</a:t>
            </a:r>
          </a:p>
        </p:txBody>
      </p:sp>
    </p:spTree>
    <p:extLst>
      <p:ext uri="{BB962C8B-B14F-4D97-AF65-F5344CB8AC3E}">
        <p14:creationId xmlns:p14="http://schemas.microsoft.com/office/powerpoint/2010/main" val="1740376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317452CB-CE2A-4DB6-85F2-6276CEAC4A7A}" type="slidenum">
              <a:rPr lang="en-US" altLang="en-US" sz="1200" smtClean="0">
                <a:latin typeface="Arial" panose="020B0604020202020204" pitchFamily="34" charset="0"/>
              </a:rPr>
              <a:pPr/>
              <a:t>10</a:t>
            </a:fld>
            <a:endParaRPr lang="en-US" altLang="en-US" sz="1200">
              <a:latin typeface="Arial" panose="020B0604020202020204" pitchFamily="34" charset="0"/>
            </a:endParaRPr>
          </a:p>
        </p:txBody>
      </p:sp>
      <p:sp>
        <p:nvSpPr>
          <p:cNvPr id="6147"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6148"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r>
              <a:rPr lang="en-US" altLang="en-US" dirty="0">
                <a:latin typeface="Arial" panose="020B0604020202020204" pitchFamily="34" charset="0"/>
                <a:ea typeface="ＭＳ Ｐゴシック" panose="020B0600070205080204" pitchFamily="34" charset="-128"/>
              </a:rPr>
              <a:t>For example, simply using the right formula to compute the area of an enclosed shape will vary depending on if the shape is a triangle, rectangle, ellipse, or circle. In traditional computer programming this would result in long IF-THEN statements testing what sort of object the shape was and calling the appropriate code. The object-oriented way to handle this is to define a class called Shape with subclasses such as Rectangle and Ellipse (which in turn have subclasses Square and Circle) and then to simply send a message to any Shape asking it to compute its area. Each Shape object will then invoke the subclass's method with the formula appropriate for that kind of object.</a:t>
            </a:r>
            <a:endParaRPr lang="en-US" altLang="en-US" baseline="30000" dirty="0">
              <a:latin typeface="Arial" panose="020B0604020202020204" pitchFamily="34" charset="0"/>
              <a:ea typeface="ＭＳ Ｐゴシック" panose="020B0600070205080204" pitchFamily="34" charset="-128"/>
            </a:endParaRPr>
          </a:p>
          <a:p>
            <a:pPr eaLnBrk="1" hangingPunct="1"/>
            <a:endParaRPr lang="en-US" altLang="en-US" baseline="30000" dirty="0">
              <a:latin typeface="Arial" panose="020B0604020202020204" pitchFamily="34" charset="0"/>
              <a:ea typeface="ＭＳ Ｐゴシック" panose="020B0600070205080204" pitchFamily="34" charset="-128"/>
            </a:endParaRPr>
          </a:p>
          <a:p>
            <a:pPr eaLnBrk="1" hangingPunct="1"/>
            <a:endParaRPr lang="en-US" altLang="en-US" dirty="0">
              <a:latin typeface="Arial" panose="020B0604020202020204" pitchFamily="34" charset="0"/>
              <a:ea typeface="ＭＳ Ｐゴシック" panose="020B0600070205080204" pitchFamily="34" charset="-128"/>
            </a:endParaRPr>
          </a:p>
          <a:p>
            <a:pPr eaLnBrk="1" hangingPunct="1"/>
            <a:r>
              <a:rPr lang="en-US" altLang="en-US" dirty="0">
                <a:latin typeface="Arial" panose="020B0604020202020204" pitchFamily="34" charset="0"/>
                <a:ea typeface="ＭＳ Ｐゴシック" panose="020B0600070205080204" pitchFamily="34" charset="-128"/>
              </a:rPr>
              <a:t>Cache, buffer, stack, queue </a:t>
            </a:r>
          </a:p>
          <a:p>
            <a:pPr eaLnBrk="1" hangingPunct="1"/>
            <a:endParaRPr lang="en-US" altLang="en-US" baseline="30000" dirty="0">
              <a:latin typeface="Arial" panose="020B0604020202020204" pitchFamily="34" charset="0"/>
              <a:ea typeface="ＭＳ Ｐゴシック" panose="020B0600070205080204" pitchFamily="34" charset="-128"/>
            </a:endParaRPr>
          </a:p>
          <a:p>
            <a:pPr eaLnBrk="1" hangingPunct="1"/>
            <a:endParaRPr lang="en-US" altLang="en-US" baseline="30000" dirty="0">
              <a:latin typeface="Arial" panose="020B0604020202020204" pitchFamily="34" charset="0"/>
              <a:ea typeface="ＭＳ Ｐゴシック" panose="020B0600070205080204" pitchFamily="34" charset="-128"/>
            </a:endParaRPr>
          </a:p>
          <a:p>
            <a:r>
              <a:rPr lang="en-US" dirty="0">
                <a:latin typeface="Arial" panose="020B0604020202020204" pitchFamily="34" charset="0"/>
                <a:ea typeface="ＭＳ Ｐゴシック" panose="020B0600070205080204" pitchFamily="34" charset="-128"/>
              </a:rPr>
              <a:t>Here are a few points of intersection between clean code and method invocation:</a:t>
            </a:r>
          </a:p>
          <a:p>
            <a:r>
              <a:rPr lang="en-US" b="1" dirty="0">
                <a:latin typeface="Arial" panose="020B0604020202020204" pitchFamily="34" charset="0"/>
                <a:ea typeface="ＭＳ Ｐゴシック" panose="020B0600070205080204" pitchFamily="34" charset="-128"/>
              </a:rPr>
              <a:t>Meaningful Method Names:</a:t>
            </a:r>
            <a:r>
              <a:rPr lang="en-US" dirty="0">
                <a:latin typeface="Arial" panose="020B0604020202020204" pitchFamily="34" charset="0"/>
                <a:ea typeface="ＭＳ Ｐゴシック" panose="020B0600070205080204" pitchFamily="34" charset="-128"/>
              </a:rPr>
              <a:t> Clean code encourages using descriptive names for methods, which makes it clear what the method does. Meaningful method names make method invocations self-explanatory and improve the overall readability of the code.</a:t>
            </a:r>
          </a:p>
          <a:p>
            <a:r>
              <a:rPr lang="en-US" b="1" dirty="0">
                <a:highlight>
                  <a:srgbClr val="FFFF00"/>
                </a:highlight>
                <a:latin typeface="Arial" panose="020B0604020202020204" pitchFamily="34" charset="0"/>
                <a:ea typeface="ＭＳ Ｐゴシック" panose="020B0600070205080204" pitchFamily="34" charset="-128"/>
              </a:rPr>
              <a:t>Single Responsibility Principle (SRP):</a:t>
            </a:r>
            <a:r>
              <a:rPr lang="en-US" dirty="0">
                <a:highlight>
                  <a:srgbClr val="FFFF00"/>
                </a:highlight>
                <a:latin typeface="Arial" panose="020B0604020202020204" pitchFamily="34" charset="0"/>
                <a:ea typeface="ＭＳ Ｐゴシック" panose="020B0600070205080204" pitchFamily="34" charset="-128"/>
              </a:rPr>
              <a:t> Clean code follows the Single Responsibility Principle, which states that a method should do one thing and do it well. When methods have a single responsibility, they are easier to invoke correctly, leading to more maintainable and understandable code</a:t>
            </a:r>
            <a:r>
              <a:rPr lang="en-US" dirty="0">
                <a:latin typeface="Arial" panose="020B0604020202020204" pitchFamily="34" charset="0"/>
                <a:ea typeface="ＭＳ Ｐゴシック" panose="020B0600070205080204" pitchFamily="34" charset="-128"/>
              </a:rPr>
              <a:t>.</a:t>
            </a:r>
          </a:p>
          <a:p>
            <a:r>
              <a:rPr lang="en-US" b="1" dirty="0">
                <a:latin typeface="Arial" panose="020B0604020202020204" pitchFamily="34" charset="0"/>
                <a:ea typeface="ＭＳ Ｐゴシック" panose="020B0600070205080204" pitchFamily="34" charset="-128"/>
              </a:rPr>
              <a:t>Code Organization:</a:t>
            </a:r>
            <a:r>
              <a:rPr lang="en-US" dirty="0">
                <a:latin typeface="Arial" panose="020B0604020202020204" pitchFamily="34" charset="0"/>
                <a:ea typeface="ＭＳ Ｐゴシック" panose="020B0600070205080204" pitchFamily="34" charset="-128"/>
              </a:rPr>
              <a:t> Clean code promotes organizing methods and functions in a logical manner within classes or modules. Proper organization makes it easier to find and invoke the methods needed for specific tasks.</a:t>
            </a:r>
          </a:p>
          <a:p>
            <a:r>
              <a:rPr lang="en-US" b="1" dirty="0">
                <a:latin typeface="Arial" panose="020B0604020202020204" pitchFamily="34" charset="0"/>
                <a:ea typeface="ＭＳ Ｐゴシック" panose="020B0600070205080204" pitchFamily="34" charset="-128"/>
              </a:rPr>
              <a:t>Avoiding Code Duplication:</a:t>
            </a:r>
            <a:r>
              <a:rPr lang="en-US" dirty="0">
                <a:latin typeface="Arial" panose="020B0604020202020204" pitchFamily="34" charset="0"/>
                <a:ea typeface="ＭＳ Ｐゴシック" panose="020B0600070205080204" pitchFamily="34" charset="-128"/>
              </a:rPr>
              <a:t> Clean code advocates for avoiding code duplication. When methods are well-organized and named appropriately, developers are more likely to reuse existing methods, reducing the need to write similar code multiple times.</a:t>
            </a:r>
          </a:p>
          <a:p>
            <a:pPr eaLnBrk="1" hangingPunct="1"/>
            <a:endParaRPr lang="en-US" altLang="en-US" baseline="30000"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362751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1- Two machine learning components are coupled when at least one of them uses the other. </a:t>
            </a:r>
          </a:p>
          <a:p>
            <a:r>
              <a:rPr lang="en-US" altLang="en-US">
                <a:latin typeface="Arial" panose="020B0604020202020204" pitchFamily="34" charset="0"/>
                <a:ea typeface="ＭＳ Ｐゴシック" panose="020B0600070205080204" pitchFamily="34" charset="-128"/>
              </a:rPr>
              <a:t>2-ML components that do change for different reasons or at different times should be kept separate.</a:t>
            </a:r>
          </a:p>
          <a:p>
            <a:r>
              <a:rPr lang="en-US" altLang="en-US">
                <a:latin typeface="Arial" panose="020B0604020202020204" pitchFamily="34" charset="0"/>
                <a:ea typeface="ＭＳ Ｐゴシック" panose="020B0600070205080204" pitchFamily="34" charset="-128"/>
              </a:rPr>
              <a:t>3- Keeping ML components changes local means that there are boundaries in the design which changes do not cross.</a:t>
            </a:r>
          </a:p>
          <a:p>
            <a:r>
              <a:rPr lang="en-US" altLang="en-US">
                <a:latin typeface="Arial" panose="020B0604020202020204" pitchFamily="34" charset="0"/>
                <a:ea typeface="ＭＳ Ｐゴシック" panose="020B0600070205080204" pitchFamily="34" charset="-128"/>
              </a:rPr>
              <a:t>4-When an ML block gets too complicated, it has to be removed and replaced with one or more simpler ML blocks.</a:t>
            </a:r>
          </a:p>
          <a:p>
            <a:r>
              <a:rPr lang="en-US" altLang="en-US">
                <a:latin typeface="Arial" panose="020B0604020202020204" pitchFamily="34" charset="0"/>
                <a:ea typeface="ＭＳ Ｐゴシック" panose="020B0600070205080204" pitchFamily="34" charset="-128"/>
              </a:rPr>
              <a:t>5- Break your machine learning system down into Data/ML components into sizes you can grasp within your mind. The goal is to predict the consequences of changes easily (dependencies, control flow, etc,…). </a:t>
            </a:r>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EA3DA7C0-5BDD-4E12-933F-E108794DDBD1}" type="slidenum">
              <a:rPr lang="en-US" altLang="en-US" sz="1200" smtClean="0">
                <a:latin typeface="Arial" panose="020B0604020202020204" pitchFamily="34" charset="0"/>
              </a:rPr>
              <a:pPr/>
              <a:t>11</a:t>
            </a:fld>
            <a:endParaRPr lang="en-US" altLang="en-US" sz="1200">
              <a:latin typeface="Arial" panose="020B0604020202020204" pitchFamily="34" charset="0"/>
            </a:endParaRPr>
          </a:p>
        </p:txBody>
      </p:sp>
    </p:spTree>
    <p:extLst>
      <p:ext uri="{BB962C8B-B14F-4D97-AF65-F5344CB8AC3E}">
        <p14:creationId xmlns:p14="http://schemas.microsoft.com/office/powerpoint/2010/main" val="3825643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Spacecrat: Altitude, fuel, time, velocity  	  Br: BurnRate , Spacecraft             SpaceCraft: get, set</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BurnRate: The only flight control law in this game is translation of a pilot-specified throtle percentage into a volume/second fuel-flow setting (the BurnRate) to control the des</a:t>
            </a:r>
          </a:p>
          <a:p>
            <a:endParaRPr lang="en-US" altLang="en-US">
              <a:latin typeface="Arial" panose="020B0604020202020204" pitchFamily="34" charset="0"/>
              <a:ea typeface="ＭＳ Ｐゴシック" panose="020B0600070205080204" pitchFamily="34" charset="-128"/>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3E77BF4C-F7A6-499F-BD9F-6A99F8BEBF4B}" type="slidenum">
              <a:rPr lang="en-US" altLang="en-US" sz="1200" smtClean="0">
                <a:latin typeface="Arial" panose="020B0604020202020204" pitchFamily="34" charset="0"/>
              </a:rPr>
              <a:pPr/>
              <a:t>12</a:t>
            </a:fld>
            <a:endParaRPr lang="en-US" altLang="en-US" sz="1200">
              <a:latin typeface="Arial" panose="020B0604020202020204" pitchFamily="34" charset="0"/>
            </a:endParaRPr>
          </a:p>
        </p:txBody>
      </p:sp>
    </p:spTree>
    <p:extLst>
      <p:ext uri="{BB962C8B-B14F-4D97-AF65-F5344CB8AC3E}">
        <p14:creationId xmlns:p14="http://schemas.microsoft.com/office/powerpoint/2010/main" val="4017909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77094C58-E2A9-4649-9BFD-A243DF45ACEE}" type="slidenum">
              <a:rPr lang="en-US" altLang="en-US" sz="1200" smtClean="0">
                <a:latin typeface="Arial" panose="020B0604020202020204" pitchFamily="34" charset="0"/>
              </a:rPr>
              <a:pPr/>
              <a:t>14</a:t>
            </a:fld>
            <a:endParaRPr lang="en-US" altLang="en-US" sz="1200">
              <a:latin typeface="Arial" panose="020B0604020202020204" pitchFamily="34" charset="0"/>
            </a:endParaRPr>
          </a:p>
        </p:txBody>
      </p:sp>
      <p:sp>
        <p:nvSpPr>
          <p:cNvPr id="13315"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13316"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496115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E25090-B1C7-4AA6-A752-59249389DECE}" type="slidenum">
              <a:rPr lang="en-US" smtClean="0"/>
              <a:t>15</a:t>
            </a:fld>
            <a:endParaRPr lang="en-US"/>
          </a:p>
        </p:txBody>
      </p:sp>
    </p:spTree>
    <p:extLst>
      <p:ext uri="{BB962C8B-B14F-4D97-AF65-F5344CB8AC3E}">
        <p14:creationId xmlns:p14="http://schemas.microsoft.com/office/powerpoint/2010/main" val="939631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701661F1-BB9E-4185-91F9-D14A0C363DED}" type="slidenum">
              <a:rPr lang="en-US" altLang="en-US" sz="1200" smtClean="0">
                <a:latin typeface="Arial" panose="020B0604020202020204" pitchFamily="34" charset="0"/>
              </a:rPr>
              <a:pPr/>
              <a:t>16</a:t>
            </a:fld>
            <a:endParaRPr lang="en-US" altLang="en-US" sz="1200">
              <a:latin typeface="Arial" panose="020B0604020202020204" pitchFamily="34" charset="0"/>
            </a:endParaRPr>
          </a:p>
        </p:txBody>
      </p:sp>
      <p:sp>
        <p:nvSpPr>
          <p:cNvPr id="16387"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16388"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82769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A779E77E-528B-41BD-8C81-53427C9F6531}" type="slidenum">
              <a:rPr lang="en-US" altLang="en-US" sz="1200" smtClean="0">
                <a:latin typeface="Arial" panose="020B0604020202020204" pitchFamily="34" charset="0"/>
              </a:rPr>
              <a:pPr/>
              <a:t>17</a:t>
            </a:fld>
            <a:endParaRPr lang="en-US" altLang="en-US" sz="1200">
              <a:latin typeface="Arial" panose="020B0604020202020204" pitchFamily="34" charset="0"/>
            </a:endParaRPr>
          </a:p>
        </p:txBody>
      </p:sp>
      <p:sp>
        <p:nvSpPr>
          <p:cNvPr id="18435"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18436"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3514257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C80FA8DD-3C3D-40DC-8CEA-EB99724385C9}" type="slidenum">
              <a:rPr lang="en-US" altLang="en-US" sz="1200" smtClean="0">
                <a:latin typeface="Arial" panose="020B0604020202020204" pitchFamily="34" charset="0"/>
              </a:rPr>
              <a:pPr/>
              <a:t>20</a:t>
            </a:fld>
            <a:endParaRPr lang="en-US" altLang="en-US" sz="1200">
              <a:latin typeface="Arial" panose="020B0604020202020204" pitchFamily="34" charset="0"/>
            </a:endParaRPr>
          </a:p>
        </p:txBody>
      </p:sp>
      <p:sp>
        <p:nvSpPr>
          <p:cNvPr id="22531"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22532"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71972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Stub:</a:t>
            </a:r>
            <a:r>
              <a:rPr lang="en-US" sz="1200" b="0" i="0" kern="1200" dirty="0">
                <a:solidFill>
                  <a:schemeClr val="tx1"/>
                </a:solidFill>
                <a:effectLst/>
                <a:latin typeface="+mn-lt"/>
                <a:ea typeface="+mn-ea"/>
                <a:cs typeface="+mn-cs"/>
              </a:rPr>
              <a:t> You're testing a </a:t>
            </a:r>
            <a:r>
              <a:rPr lang="en-US" dirty="0" err="1"/>
              <a:t>UserRegistrationService</a:t>
            </a:r>
            <a:r>
              <a:rPr lang="en-US" sz="1200" b="0" i="0" kern="1200" dirty="0">
                <a:solidFill>
                  <a:schemeClr val="tx1"/>
                </a:solidFill>
                <a:effectLst/>
                <a:latin typeface="+mn-lt"/>
                <a:ea typeface="+mn-ea"/>
                <a:cs typeface="+mn-cs"/>
              </a:rPr>
              <a:t> that needs to check if a username is available via an external </a:t>
            </a:r>
            <a:r>
              <a:rPr lang="en-US" dirty="0" err="1"/>
              <a:t>UserDatabase</a:t>
            </a:r>
            <a:r>
              <a:rPr lang="en-US" sz="1200" b="0" i="0" kern="1200" dirty="0">
                <a:solidFill>
                  <a:schemeClr val="tx1"/>
                </a:solidFill>
                <a:effectLst/>
                <a:latin typeface="+mn-lt"/>
                <a:ea typeface="+mn-ea"/>
                <a:cs typeface="+mn-cs"/>
              </a:rPr>
              <a:t> service. You want to test how the registration service handles a specific scenario where the username is already taken. A simple, hard-coded implementation of the </a:t>
            </a:r>
            <a:r>
              <a:rPr lang="en-US" dirty="0" err="1"/>
              <a:t>UserDatabase</a:t>
            </a:r>
            <a:r>
              <a:rPr lang="en-US" sz="1200" b="0" i="0" kern="1200" dirty="0">
                <a:solidFill>
                  <a:schemeClr val="tx1"/>
                </a:solidFill>
                <a:effectLst/>
                <a:latin typeface="+mn-lt"/>
                <a:ea typeface="+mn-ea"/>
                <a:cs typeface="+mn-cs"/>
              </a:rPr>
              <a:t> interface that, when its </a:t>
            </a:r>
            <a:r>
              <a:rPr lang="en-US" dirty="0" err="1"/>
              <a:t>isUsernameAvailable</a:t>
            </a:r>
            <a:r>
              <a:rPr lang="en-US" dirty="0"/>
              <a:t>()</a:t>
            </a:r>
            <a:r>
              <a:rPr lang="en-US" sz="1200" b="0" i="0" kern="1200" dirty="0">
                <a:solidFill>
                  <a:schemeClr val="tx1"/>
                </a:solidFill>
                <a:effectLst/>
                <a:latin typeface="+mn-lt"/>
                <a:ea typeface="+mn-ea"/>
                <a:cs typeface="+mn-cs"/>
              </a:rPr>
              <a:t> method is called, always returns </a:t>
            </a:r>
            <a:r>
              <a:rPr lang="en-US" dirty="0"/>
              <a:t>false</a:t>
            </a:r>
            <a:r>
              <a:rPr lang="en-US" sz="1200" b="0" i="0" kern="1200" dirty="0">
                <a:solidFill>
                  <a:schemeClr val="tx1"/>
                </a:solidFill>
                <a:effectLst/>
                <a:latin typeface="+mn-lt"/>
                <a:ea typeface="+mn-ea"/>
                <a:cs typeface="+mn-cs"/>
              </a:rPr>
              <a:t> for a specific test username. The test then asserts that the </a:t>
            </a:r>
            <a:r>
              <a:rPr lang="en-US" dirty="0" err="1"/>
              <a:t>UserRegistrationService</a:t>
            </a:r>
            <a:r>
              <a:rPr lang="en-US" sz="1200" b="0" i="0" kern="1200" dirty="0">
                <a:solidFill>
                  <a:schemeClr val="tx1"/>
                </a:solidFill>
                <a:effectLst/>
                <a:latin typeface="+mn-lt"/>
                <a:ea typeface="+mn-ea"/>
                <a:cs typeface="+mn-cs"/>
              </a:rPr>
              <a:t> correctly sets the user's status to "unavailable" (state verification).</a:t>
            </a:r>
          </a:p>
          <a:p>
            <a:r>
              <a:rPr lang="en-US" sz="1200" b="0" i="0" kern="1200" dirty="0">
                <a:solidFill>
                  <a:schemeClr val="tx1"/>
                </a:solidFill>
                <a:effectLst/>
                <a:latin typeface="+mn-lt"/>
                <a:ea typeface="+mn-ea"/>
                <a:cs typeface="+mn-cs"/>
              </a:rPr>
              <a:t>Mock: Consider testing a </a:t>
            </a:r>
            <a:r>
              <a:rPr lang="en-US" dirty="0" err="1"/>
              <a:t>OrderProcessor</a:t>
            </a:r>
            <a:r>
              <a:rPr lang="en-US" sz="1200" b="0" i="0" kern="1200" dirty="0">
                <a:solidFill>
                  <a:schemeClr val="tx1"/>
                </a:solidFill>
                <a:effectLst/>
                <a:latin typeface="+mn-lt"/>
                <a:ea typeface="+mn-ea"/>
                <a:cs typeface="+mn-cs"/>
              </a:rPr>
              <a:t> that needs to call an </a:t>
            </a:r>
            <a:r>
              <a:rPr lang="en-US" dirty="0" err="1"/>
              <a:t>EmailService</a:t>
            </a:r>
            <a:r>
              <a:rPr lang="en-US" sz="1200" b="0" i="0" kern="1200" dirty="0">
                <a:solidFill>
                  <a:schemeClr val="tx1"/>
                </a:solidFill>
                <a:effectLst/>
                <a:latin typeface="+mn-lt"/>
                <a:ea typeface="+mn-ea"/>
                <a:cs typeface="+mn-cs"/>
              </a:rPr>
              <a:t> to send a confirmation email after an order is placed. The goal is not just to see if the order status changes (state), but to ensure that the email service's </a:t>
            </a:r>
            <a:r>
              <a:rPr lang="en-US" dirty="0" err="1"/>
              <a:t>send_email</a:t>
            </a:r>
            <a:r>
              <a:rPr lang="en-US" sz="1200" b="0" i="0" kern="1200" dirty="0">
                <a:solidFill>
                  <a:schemeClr val="tx1"/>
                </a:solidFill>
                <a:effectLst/>
                <a:latin typeface="+mn-lt"/>
                <a:ea typeface="+mn-ea"/>
                <a:cs typeface="+mn-cs"/>
              </a:rPr>
              <a:t> method was indeed called with the correct arguments (behavior)</a:t>
            </a:r>
          </a:p>
          <a:p>
            <a:r>
              <a:rPr lang="en-US" sz="1200" b="0" i="0" kern="1200" dirty="0">
                <a:solidFill>
                  <a:schemeClr val="tx1"/>
                </a:solidFill>
                <a:effectLst/>
                <a:latin typeface="+mn-lt"/>
                <a:ea typeface="+mn-ea"/>
                <a:cs typeface="+mn-cs"/>
              </a:rPr>
              <a:t> A simulated </a:t>
            </a:r>
            <a:r>
              <a:rPr lang="en-US" dirty="0" err="1"/>
              <a:t>EmailService</a:t>
            </a:r>
            <a:r>
              <a:rPr lang="en-US" sz="1200" b="0" i="0" kern="1200" dirty="0">
                <a:solidFill>
                  <a:schemeClr val="tx1"/>
                </a:solidFill>
                <a:effectLst/>
                <a:latin typeface="+mn-lt"/>
                <a:ea typeface="+mn-ea"/>
                <a:cs typeface="+mn-cs"/>
              </a:rPr>
              <a:t> that records the calls it receives. After the test runs the </a:t>
            </a:r>
            <a:r>
              <a:rPr lang="en-US" dirty="0" err="1"/>
              <a:t>OrderProcessor</a:t>
            </a:r>
            <a:r>
              <a:rPr lang="en-US" sz="1200" b="0" i="0" kern="1200" dirty="0">
                <a:solidFill>
                  <a:schemeClr val="tx1"/>
                </a:solidFill>
                <a:effectLst/>
                <a:latin typeface="+mn-lt"/>
                <a:ea typeface="+mn-ea"/>
                <a:cs typeface="+mn-cs"/>
              </a:rPr>
              <a:t>, the test code uses the mock to assert that </a:t>
            </a:r>
            <a:r>
              <a:rPr lang="en-US" dirty="0" err="1"/>
              <a:t>send_email</a:t>
            </a:r>
            <a:r>
              <a:rPr lang="en-US" sz="1200" b="0" i="0" kern="1200" dirty="0">
                <a:solidFill>
                  <a:schemeClr val="tx1"/>
                </a:solidFill>
                <a:effectLst/>
                <a:latin typeface="+mn-lt"/>
                <a:ea typeface="+mn-ea"/>
                <a:cs typeface="+mn-cs"/>
              </a:rPr>
              <a:t> was called exactly once, with the correct recipient and email body.</a:t>
            </a:r>
            <a:endParaRPr lang="en-US" dirty="0"/>
          </a:p>
        </p:txBody>
      </p:sp>
      <p:sp>
        <p:nvSpPr>
          <p:cNvPr id="4" name="Slide Number Placeholder 3"/>
          <p:cNvSpPr>
            <a:spLocks noGrp="1"/>
          </p:cNvSpPr>
          <p:nvPr>
            <p:ph type="sldNum" sz="quarter" idx="10"/>
          </p:nvPr>
        </p:nvSpPr>
        <p:spPr/>
        <p:txBody>
          <a:bodyPr/>
          <a:lstStyle/>
          <a:p>
            <a:fld id="{0AE25090-B1C7-4AA6-A752-59249389DECE}" type="slidenum">
              <a:rPr lang="en-US" smtClean="0"/>
              <a:t>30</a:t>
            </a:fld>
            <a:endParaRPr lang="en-US"/>
          </a:p>
        </p:txBody>
      </p:sp>
    </p:spTree>
    <p:extLst>
      <p:ext uri="{BB962C8B-B14F-4D97-AF65-F5344CB8AC3E}">
        <p14:creationId xmlns:p14="http://schemas.microsoft.com/office/powerpoint/2010/main" val="28674439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E25090-B1C7-4AA6-A752-59249389DECE}" type="slidenum">
              <a:rPr lang="en-US" smtClean="0"/>
              <a:t>33</a:t>
            </a:fld>
            <a:endParaRPr lang="en-US"/>
          </a:p>
        </p:txBody>
      </p:sp>
    </p:spTree>
    <p:extLst>
      <p:ext uri="{BB962C8B-B14F-4D97-AF65-F5344CB8AC3E}">
        <p14:creationId xmlns:p14="http://schemas.microsoft.com/office/powerpoint/2010/main" val="2476617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8C39B9D1-2662-4FCF-824A-55434F533912}" type="slidenum">
              <a:rPr lang="en-US" altLang="en-US" sz="1200" smtClean="0">
                <a:latin typeface="Arial" panose="020B0604020202020204" pitchFamily="34" charset="0"/>
              </a:rPr>
              <a:pPr/>
              <a:t>44</a:t>
            </a:fld>
            <a:endParaRPr lang="en-US" altLang="en-US" sz="1200">
              <a:latin typeface="Arial" panose="020B0604020202020204" pitchFamily="34" charset="0"/>
            </a:endParaRPr>
          </a:p>
        </p:txBody>
      </p:sp>
      <p:sp>
        <p:nvSpPr>
          <p:cNvPr id="28675"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28676"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529240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D563D6D1-A856-4A7C-AACA-D94819D21E53}" type="slidenum">
              <a:rPr lang="en-US" altLang="en-US" sz="1200" smtClean="0">
                <a:latin typeface="Arial" panose="020B0604020202020204" pitchFamily="34" charset="0"/>
              </a:rPr>
              <a:pPr/>
              <a:t>54</a:t>
            </a:fld>
            <a:endParaRPr lang="en-US" altLang="en-US" sz="1200">
              <a:latin typeface="Arial" panose="020B0604020202020204" pitchFamily="34" charset="0"/>
            </a:endParaRPr>
          </a:p>
        </p:txBody>
      </p:sp>
      <p:sp>
        <p:nvSpPr>
          <p:cNvPr id="30723"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30724"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r>
              <a:rPr lang="en-US" altLang="en-US" b="1">
                <a:latin typeface="Arial" panose="020B0604020202020204" pitchFamily="34" charset="0"/>
                <a:ea typeface="ＭＳ Ｐゴシック" panose="020B0600070205080204" pitchFamily="34" charset="-128"/>
              </a:rPr>
              <a:t>The time it takes for a packet to travel from the source to its destination is referred to as latency</a:t>
            </a:r>
            <a:r>
              <a:rPr lang="en-US" altLang="en-US">
                <a:latin typeface="Arial" panose="020B0604020202020204" pitchFamily="34" charset="0"/>
                <a:ea typeface="ＭＳ Ｐゴシック" panose="020B0600070205080204" pitchFamily="34" charset="-128"/>
              </a:rPr>
              <a:t>. Latency indicates how long it takes for packets to reach their destination. Throughput is the term given to the number of packets that are processed within a specific period of time.</a:t>
            </a:r>
          </a:p>
          <a:p>
            <a:pPr eaLnBrk="1" hangingPunct="1"/>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The throughput of a CPU pipeline is </a:t>
            </a:r>
            <a:r>
              <a:rPr lang="en-US" altLang="en-US" b="1">
                <a:latin typeface="Arial" panose="020B0604020202020204" pitchFamily="34" charset="0"/>
                <a:ea typeface="ＭＳ Ｐゴシック" panose="020B0600070205080204" pitchFamily="34" charset="-128"/>
              </a:rPr>
              <a:t>the # of instructions completed per second</a:t>
            </a:r>
            <a:r>
              <a:rPr lang="en-US" altLang="en-US">
                <a:latin typeface="Arial" panose="020B0604020202020204" pitchFamily="34" charset="0"/>
                <a:ea typeface="ＭＳ Ｐゴシック" panose="020B0600070205080204" pitchFamily="34" charset="-128"/>
              </a:rPr>
              <a:t>.</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Throughput - Number of processes completed per unit time. May range from 10 / second to 1 / hour depending on the specific processes. Turnaround time - Time required for a particular process to complete, from submission time to completion.</a:t>
            </a:r>
            <a:br>
              <a:rPr lang="en-US" altLang="en-US">
                <a:latin typeface="Arial" panose="020B0604020202020204" pitchFamily="34" charset="0"/>
                <a:ea typeface="ＭＳ Ｐゴシック" panose="020B0600070205080204" pitchFamily="34" charset="-128"/>
              </a:rPr>
            </a:b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6915607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AB9A9B4B-5A95-4473-8824-2269C418727E}" type="slidenum">
              <a:rPr lang="en-US" altLang="en-US" sz="1200" smtClean="0">
                <a:latin typeface="Arial" panose="020B0604020202020204" pitchFamily="34" charset="0"/>
              </a:rPr>
              <a:pPr/>
              <a:t>55</a:t>
            </a:fld>
            <a:endParaRPr lang="en-US" altLang="en-US" sz="1200">
              <a:latin typeface="Arial" panose="020B0604020202020204" pitchFamily="34" charset="0"/>
            </a:endParaRPr>
          </a:p>
        </p:txBody>
      </p:sp>
      <p:sp>
        <p:nvSpPr>
          <p:cNvPr id="32771"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32772"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290925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31F5B268-3A77-489B-86A3-7566528C4AB6}" type="slidenum">
              <a:rPr lang="en-US" altLang="en-US" sz="1200" smtClean="0">
                <a:latin typeface="Arial" panose="020B0604020202020204" pitchFamily="34" charset="0"/>
              </a:rPr>
              <a:pPr/>
              <a:t>56</a:t>
            </a:fld>
            <a:endParaRPr lang="en-US" altLang="en-US" sz="1200">
              <a:latin typeface="Arial" panose="020B0604020202020204" pitchFamily="34" charset="0"/>
            </a:endParaRPr>
          </a:p>
        </p:txBody>
      </p:sp>
      <p:sp>
        <p:nvSpPr>
          <p:cNvPr id="34819" name="Rectangle 2"/>
          <p:cNvSpPr>
            <a:spLocks noGrp="1" noRot="1" noChangeAspect="1" noChangeArrowheads="1" noTextEdit="1"/>
          </p:cNvSpPr>
          <p:nvPr>
            <p:ph type="sldImg"/>
          </p:nvPr>
        </p:nvSpPr>
        <p:spPr>
          <a:solidFill>
            <a:srgbClr val="FFFFFF"/>
          </a:solidFill>
          <a:ln/>
        </p:spPr>
      </p:sp>
      <p:sp>
        <p:nvSpPr>
          <p:cNvPr id="34820"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Arial" panose="020B0604020202020204" pitchFamily="34" charset="0"/>
                <a:ea typeface="ＭＳ Ｐゴシック" panose="020B0600070205080204" pitchFamily="34" charset="-128"/>
              </a:rPr>
              <a:t>GetBurnRate runs continuously on its own, prompting the user for a new burn rate.</a:t>
            </a:r>
          </a:p>
          <a:p>
            <a:pPr eaLnBrk="1" hangingPunct="1"/>
            <a:r>
              <a:rPr lang="en-US" altLang="en-US">
                <a:latin typeface="Arial" panose="020B0604020202020204" pitchFamily="34" charset="0"/>
                <a:ea typeface="ＭＳ Ｐゴシック" panose="020B0600070205080204" pitchFamily="34" charset="-128"/>
              </a:rPr>
              <a:t>In this design the “compute new values” determines how much time has passed.  Could alternatively do that in the GetBurnRate filter.  Would change semantics a bit.</a:t>
            </a:r>
          </a:p>
        </p:txBody>
      </p:sp>
    </p:spTree>
    <p:extLst>
      <p:ext uri="{BB962C8B-B14F-4D97-AF65-F5344CB8AC3E}">
        <p14:creationId xmlns:p14="http://schemas.microsoft.com/office/powerpoint/2010/main" val="6757576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7FC5A3AB-C142-4DD6-8693-660B4703B6A9}" type="slidenum">
              <a:rPr lang="en-US" altLang="en-US" sz="1200" smtClean="0">
                <a:latin typeface="Arial" panose="020B0604020202020204" pitchFamily="34" charset="0"/>
              </a:rPr>
              <a:pPr/>
              <a:t>57</a:t>
            </a:fld>
            <a:endParaRPr lang="en-US" altLang="en-US" sz="1200">
              <a:latin typeface="Arial" panose="020B0604020202020204" pitchFamily="34" charset="0"/>
            </a:endParaRPr>
          </a:p>
        </p:txBody>
      </p:sp>
      <p:sp>
        <p:nvSpPr>
          <p:cNvPr id="36867" name="Rectangle 2"/>
          <p:cNvSpPr>
            <a:spLocks noGrp="1" noRot="1" noChangeAspect="1" noChangeArrowheads="1" noTextEdit="1"/>
          </p:cNvSpPr>
          <p:nvPr>
            <p:ph type="sldImg"/>
          </p:nvPr>
        </p:nvSpPr>
        <p:spPr>
          <a:xfrm>
            <a:off x="385763" y="687388"/>
            <a:ext cx="6088062" cy="3425825"/>
          </a:xfrm>
          <a:solidFill>
            <a:srgbClr val="FFFFFF"/>
          </a:solidFill>
          <a:ln/>
        </p:spPr>
      </p:sp>
      <p:sp>
        <p:nvSpPr>
          <p:cNvPr id="36868" name="Rectangle 3"/>
          <p:cNvSpPr>
            <a:spLocks noGrp="1" noChangeArrowheads="1"/>
          </p:cNvSpPr>
          <p:nvPr>
            <p:ph type="body" idx="1"/>
          </p:nvPr>
        </p:nvSpPr>
        <p:spPr>
          <a:xfrm>
            <a:off x="914400" y="4341813"/>
            <a:ext cx="5029200" cy="4114800"/>
          </a:xfrm>
          <a:solidFill>
            <a:srgbClr val="FFFFFF"/>
          </a:solidFill>
          <a:ln>
            <a:solidFill>
              <a:srgbClr val="000000"/>
            </a:solidFill>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780136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2FE75F64-0D43-48EA-8716-5363B23E0742}" type="slidenum">
              <a:rPr lang="en-US" altLang="en-US" sz="1200" smtClean="0">
                <a:latin typeface="Arial" panose="020B0604020202020204" pitchFamily="34" charset="0"/>
              </a:rPr>
              <a:pPr/>
              <a:t>58</a:t>
            </a:fld>
            <a:endParaRPr lang="en-US" altLang="en-US" sz="1200">
              <a:latin typeface="Arial" panose="020B0604020202020204" pitchFamily="34" charset="0"/>
            </a:endParaRPr>
          </a:p>
        </p:txBody>
      </p:sp>
    </p:spTree>
    <p:extLst>
      <p:ext uri="{BB962C8B-B14F-4D97-AF65-F5344CB8AC3E}">
        <p14:creationId xmlns:p14="http://schemas.microsoft.com/office/powerpoint/2010/main" val="26600412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Definition. In the shared-memory architecture, </a:t>
            </a:r>
            <a:r>
              <a:rPr lang="en-US" altLang="en-US" b="1">
                <a:latin typeface="Arial" panose="020B0604020202020204" pitchFamily="34" charset="0"/>
                <a:ea typeface="ＭＳ Ｐゴシック" panose="020B0600070205080204" pitchFamily="34" charset="-128"/>
              </a:rPr>
              <a:t>the entire memory, i.e., main memory and disks, is shared by all processors</a:t>
            </a:r>
            <a:r>
              <a:rPr lang="en-US" altLang="en-US">
                <a:latin typeface="Arial" panose="020B0604020202020204" pitchFamily="34" charset="0"/>
                <a:ea typeface="ＭＳ Ｐゴシック" panose="020B0600070205080204" pitchFamily="34" charset="-128"/>
              </a:rPr>
              <a:t>. A special, fast interconnection network (e.g., a high-speed bus) allows any processor to access any part of the memory in parallel.</a:t>
            </a: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D4B8FBEF-8674-4C4A-AD02-064C4909648D}" type="slidenum">
              <a:rPr lang="en-US" altLang="en-US" sz="1200" smtClean="0">
                <a:latin typeface="Arial" panose="020B0604020202020204" pitchFamily="34" charset="0"/>
              </a:rPr>
              <a:pPr/>
              <a:t>60</a:t>
            </a:fld>
            <a:endParaRPr lang="en-US" altLang="en-US" sz="1200">
              <a:latin typeface="Arial" panose="020B0604020202020204" pitchFamily="34" charset="0"/>
            </a:endParaRPr>
          </a:p>
        </p:txBody>
      </p:sp>
    </p:spTree>
    <p:extLst>
      <p:ext uri="{BB962C8B-B14F-4D97-AF65-F5344CB8AC3E}">
        <p14:creationId xmlns:p14="http://schemas.microsoft.com/office/powerpoint/2010/main" val="33240113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NLTK contains a module called tokenize() which further classifies into two sub-categories: </a:t>
            </a:r>
            <a:r>
              <a:rPr lang="en-US" altLang="en-US" b="1">
                <a:latin typeface="Arial" panose="020B0604020202020204" pitchFamily="34" charset="0"/>
                <a:ea typeface="ＭＳ Ｐゴシック" panose="020B0600070205080204" pitchFamily="34" charset="-128"/>
              </a:rPr>
              <a:t>Word tokenize: We use the word_tokenize() method to split a sentence into tokens or words</a:t>
            </a:r>
            <a:r>
              <a:rPr lang="en-US" altLang="en-US">
                <a:latin typeface="Arial" panose="020B0604020202020204" pitchFamily="34" charset="0"/>
                <a:ea typeface="ＭＳ Ｐゴシック" panose="020B0600070205080204" pitchFamily="34" charset="-128"/>
              </a:rPr>
              <a:t>. </a:t>
            </a:r>
            <a:r>
              <a:rPr lang="en-US" altLang="en-US" b="1">
                <a:latin typeface="Arial" panose="020B0604020202020204" pitchFamily="34" charset="0"/>
                <a:ea typeface="ＭＳ Ｐゴシック" panose="020B0600070205080204" pitchFamily="34" charset="-128"/>
              </a:rPr>
              <a:t>Sentence tokenize: We use the sent_tokenize() method to split a document or paragraph into sentences.</a:t>
            </a:r>
          </a:p>
          <a:p>
            <a:endParaRPr lang="en-US" altLang="en-US" b="1">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A parser is </a:t>
            </a:r>
            <a:r>
              <a:rPr lang="en-US" altLang="en-US" b="1">
                <a:latin typeface="Arial" panose="020B0604020202020204" pitchFamily="34" charset="0"/>
                <a:ea typeface="ＭＳ Ｐゴシック" panose="020B0600070205080204" pitchFamily="34" charset="-128"/>
              </a:rPr>
              <a:t>a compiler or interpreter component that breaks data into smaller elements for easy translation into another language</a:t>
            </a:r>
            <a:r>
              <a:rPr lang="en-US" altLang="en-US">
                <a:latin typeface="Arial" panose="020B0604020202020204" pitchFamily="34" charset="0"/>
                <a:ea typeface="ＭＳ Ｐゴシック" panose="020B0600070205080204" pitchFamily="34" charset="-128"/>
              </a:rPr>
              <a:t>. A parser takes input in the form of a sequence of tokens, interactive commands, or program instructions and breaks them up into parts that can be used by other components in programming.</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Definition. In the shared-memory architecture, </a:t>
            </a:r>
            <a:r>
              <a:rPr lang="en-US" altLang="en-US" b="1">
                <a:latin typeface="Arial" panose="020B0604020202020204" pitchFamily="34" charset="0"/>
                <a:ea typeface="ＭＳ Ｐゴシック" panose="020B0600070205080204" pitchFamily="34" charset="-128"/>
              </a:rPr>
              <a:t>the entire memory, i.e., main memory and disks, is shared by all processors</a:t>
            </a:r>
            <a:r>
              <a:rPr lang="en-US" altLang="en-US">
                <a:latin typeface="Arial" panose="020B0604020202020204" pitchFamily="34" charset="0"/>
                <a:ea typeface="ＭＳ Ｐゴシック" panose="020B0600070205080204" pitchFamily="34" charset="-128"/>
              </a:rPr>
              <a:t>. A special, fast interconnection network (e.g., a high-speed bus) allows any processor to access any part of the memory in parallel.</a:t>
            </a:r>
          </a:p>
          <a:p>
            <a:endParaRPr lang="en-US" altLang="en-US">
              <a:latin typeface="Arial" panose="020B0604020202020204" pitchFamily="34" charset="0"/>
              <a:ea typeface="ＭＳ Ｐゴシック" panose="020B0600070205080204" pitchFamily="34" charset="-128"/>
            </a:endParaRPr>
          </a:p>
          <a:p>
            <a:endParaRPr lang="en-US" altLang="en-US">
              <a:latin typeface="Arial" panose="020B0604020202020204" pitchFamily="34" charset="0"/>
              <a:ea typeface="ＭＳ Ｐゴシック" panose="020B0600070205080204" pitchFamily="34" charset="-128"/>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4C628398-0DEF-4F63-B1A7-9A9F91EB4ADD}" type="slidenum">
              <a:rPr lang="en-US" altLang="en-US" sz="1200" smtClean="0">
                <a:latin typeface="Arial" panose="020B0604020202020204" pitchFamily="34" charset="0"/>
              </a:rPr>
              <a:pPr/>
              <a:t>64</a:t>
            </a:fld>
            <a:endParaRPr lang="en-US" altLang="en-US" sz="1200">
              <a:latin typeface="Arial" panose="020B0604020202020204" pitchFamily="34" charset="0"/>
            </a:endParaRPr>
          </a:p>
        </p:txBody>
      </p:sp>
    </p:spTree>
    <p:extLst>
      <p:ext uri="{BB962C8B-B14F-4D97-AF65-F5344CB8AC3E}">
        <p14:creationId xmlns:p14="http://schemas.microsoft.com/office/powerpoint/2010/main" val="33872068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Any recipient may query the connector to see if new event is available</a:t>
            </a:r>
          </a:p>
          <a:p>
            <a:r>
              <a:rPr lang="en-US" altLang="en-US">
                <a:latin typeface="Arial" panose="020B0604020202020204" pitchFamily="34" charset="0"/>
                <a:ea typeface="ＭＳ Ｐゴシック" panose="020B0600070205080204" pitchFamily="34" charset="-128"/>
              </a:rPr>
              <a:t>Pull : would like to fetch the information, blocking (query process will keep on waiting until a response about new event is received), non-blocking (outcome of the query will be received irrespective of new even available or not)</a:t>
            </a:r>
          </a:p>
          <a:p>
            <a:r>
              <a:rPr lang="en-US" altLang="en-US">
                <a:latin typeface="Arial" panose="020B0604020202020204" pitchFamily="34" charset="0"/>
                <a:ea typeface="ＭＳ Ｐゴシック" panose="020B0600070205080204" pitchFamily="34" charset="-128"/>
              </a:rPr>
              <a:t>Push: recipient would want the information to be disseminated.</a:t>
            </a: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7DA6D2FC-C579-4DA0-B678-AD34459C8150}" type="slidenum">
              <a:rPr lang="en-US" altLang="en-US" sz="1200" smtClean="0">
                <a:latin typeface="Arial" panose="020B0604020202020204" pitchFamily="34" charset="0"/>
              </a:rPr>
              <a:pPr/>
              <a:t>74</a:t>
            </a:fld>
            <a:endParaRPr lang="en-US" altLang="en-US" sz="1200">
              <a:latin typeface="Arial" panose="020B0604020202020204" pitchFamily="34" charset="0"/>
            </a:endParaRPr>
          </a:p>
        </p:txBody>
      </p:sp>
    </p:spTree>
    <p:extLst>
      <p:ext uri="{BB962C8B-B14F-4D97-AF65-F5344CB8AC3E}">
        <p14:creationId xmlns:p14="http://schemas.microsoft.com/office/powerpoint/2010/main" val="30645216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rPr>
              <a:t>Network redundancy is </a:t>
            </a:r>
            <a:r>
              <a:rPr lang="en-US" altLang="en-US" b="1">
                <a:latin typeface="Arial" panose="020B0604020202020204" pitchFamily="34" charset="0"/>
                <a:ea typeface="ＭＳ Ｐゴシック" panose="020B0600070205080204" pitchFamily="34" charset="-128"/>
              </a:rPr>
              <a:t>a process through which additional or alternate instances of network devices, equipment and communication mediums are installed within network infrastructure</a:t>
            </a:r>
            <a:r>
              <a:rPr lang="en-US" altLang="en-US">
                <a:latin typeface="Arial" panose="020B0604020202020204" pitchFamily="34" charset="0"/>
                <a:ea typeface="ＭＳ Ｐゴシック" panose="020B0600070205080204" pitchFamily="34" charset="-128"/>
              </a:rPr>
              <a:t>. It is a method for ensuring network availability in case of a network device or path failure and unavailability.</a:t>
            </a: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90506385-5496-42F6-B9A7-63C1D51A950C}" type="slidenum">
              <a:rPr lang="en-US" altLang="en-US" sz="1200" smtClean="0">
                <a:latin typeface="Arial" panose="020B0604020202020204" pitchFamily="34" charset="0"/>
              </a:rPr>
              <a:pPr/>
              <a:t>80</a:t>
            </a:fld>
            <a:endParaRPr lang="en-US" altLang="en-US" sz="1200">
              <a:latin typeface="Arial" panose="020B0604020202020204" pitchFamily="34" charset="0"/>
            </a:endParaRPr>
          </a:p>
        </p:txBody>
      </p:sp>
    </p:spTree>
    <p:extLst>
      <p:ext uri="{BB962C8B-B14F-4D97-AF65-F5344CB8AC3E}">
        <p14:creationId xmlns:p14="http://schemas.microsoft.com/office/powerpoint/2010/main" val="3039187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D2822C-D5C8-4773-9030-F4E5CDDD2AE7}"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844825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8AAB7B-75C9-493A-809D-7DCD0EBFE211}"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215113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FE1000-AA9C-433D-BD97-FFA315BE0186}"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2830620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3875F1-99BF-4DF1-BF72-77C2274548F2}" type="datetime1">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2789446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7BF068-91D6-49F2-A46A-164B92B28274}" type="datetime1">
              <a:rPr lang="en-US" smtClean="0"/>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1236699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B1AC5B-883A-46C6-BB1D-BB50819C3951}" type="datetime1">
              <a:rPr lang="en-US" smtClean="0"/>
              <a:t>4/4/2026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2577346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4DCC83-7CE5-4D14-B73F-D5BB3AC286DA}" type="datetime1">
              <a:rPr lang="en-US" smtClean="0"/>
              <a:t>4/4/2026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3022827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434034-E180-4160-BCB5-48FE3FE61E27}" type="datetime1">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2378315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A1A1C2-73CC-4802-810A-2F9F3E278EFE}" type="slidenum">
              <a:rPr lang="en-US" smtClean="0"/>
              <a:t>‹#›</a:t>
            </a:fld>
            <a:endParaRPr lang="en-US"/>
          </a:p>
        </p:txBody>
      </p:sp>
      <p:sp>
        <p:nvSpPr>
          <p:cNvPr id="5" name="Date Placeholder 4"/>
          <p:cNvSpPr>
            <a:spLocks noGrp="1"/>
          </p:cNvSpPr>
          <p:nvPr>
            <p:ph type="dt" sz="half" idx="10"/>
          </p:nvPr>
        </p:nvSpPr>
        <p:spPr/>
        <p:txBody>
          <a:bodyPr/>
          <a:lstStyle/>
          <a:p>
            <a:fld id="{EF991A4A-9500-4DB1-8272-C1797022F741}" type="datetime1">
              <a:rPr lang="en-US" smtClean="0"/>
              <a:t>4/4/2026</a:t>
            </a:fld>
            <a:endParaRPr lang="en-US"/>
          </a:p>
        </p:txBody>
      </p:sp>
    </p:spTree>
    <p:extLst>
      <p:ext uri="{BB962C8B-B14F-4D97-AF65-F5344CB8AC3E}">
        <p14:creationId xmlns:p14="http://schemas.microsoft.com/office/powerpoint/2010/main" val="1660746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565130-5378-4CD6-80CB-E53EBE2D684C}"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17355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E810E3-45F7-4480-9A5A-6509E4DE77E9}"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A1A1C2-73CC-4802-810A-2F9F3E278EFE}"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06358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98654A-AAD5-4A6F-B88E-A311FE1755AC}"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1878444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CAC941-5D7D-4F3E-A979-E2B8ECE02BEF}"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A1A1C2-73CC-4802-810A-2F9F3E278EFE}"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58954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712743-0870-4B4A-9818-5B6D9BF2F699}"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30064584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61D30F-4B09-4ADF-9158-6B5E764C74DF}"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1642125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C843F0-8734-4881-BFDE-788B7FB2F685}"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A1A1C2-73CC-4802-810A-2F9F3E278EFE}" type="slidenum">
              <a:rPr lang="en-US" smtClean="0"/>
              <a:t>‹#›</a:t>
            </a:fld>
            <a:endParaRPr lang="en-US"/>
          </a:p>
        </p:txBody>
      </p:sp>
    </p:spTree>
    <p:extLst>
      <p:ext uri="{BB962C8B-B14F-4D97-AF65-F5344CB8AC3E}">
        <p14:creationId xmlns:p14="http://schemas.microsoft.com/office/powerpoint/2010/main" val="3562214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A17C2D-8F92-40D0-BD80-0B8E1AAFAAFB}" type="datetime1">
              <a:rPr lang="en-US" smtClean="0"/>
              <a:t>4/4/2026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DA1A1C2-73CC-4802-810A-2F9F3E278EFE}" type="slidenum">
              <a:rPr lang="en-US" smtClean="0"/>
              <a:t>‹#›</a:t>
            </a:fld>
            <a:endParaRPr lang="en-US"/>
          </a:p>
        </p:txBody>
      </p:sp>
    </p:spTree>
    <p:extLst>
      <p:ext uri="{BB962C8B-B14F-4D97-AF65-F5344CB8AC3E}">
        <p14:creationId xmlns:p14="http://schemas.microsoft.com/office/powerpoint/2010/main" val="129294028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Software Architectural Styles</a:t>
            </a:r>
            <a:endParaRPr lang="en-US" dirty="0"/>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9DA1A1C2-73CC-4802-810A-2F9F3E278EFE}" type="slidenum">
              <a:rPr lang="en-US" smtClean="0"/>
              <a:t>1</a:t>
            </a:fld>
            <a:endParaRPr lang="en-US"/>
          </a:p>
        </p:txBody>
      </p:sp>
    </p:spTree>
    <p:extLst>
      <p:ext uri="{BB962C8B-B14F-4D97-AF65-F5344CB8AC3E}">
        <p14:creationId xmlns:p14="http://schemas.microsoft.com/office/powerpoint/2010/main" val="818994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Architectural Style</a:t>
            </a:r>
            <a:endParaRPr lang="en-US" dirty="0"/>
          </a:p>
        </p:txBody>
      </p:sp>
      <p:sp>
        <p:nvSpPr>
          <p:cNvPr id="3" name="Content Placeholder 2"/>
          <p:cNvSpPr>
            <a:spLocks noGrp="1"/>
          </p:cNvSpPr>
          <p:nvPr>
            <p:ph idx="1"/>
          </p:nvPr>
        </p:nvSpPr>
        <p:spPr/>
        <p:txBody>
          <a:bodyPr>
            <a:normAutofit fontScale="77500" lnSpcReduction="20000"/>
          </a:bodyPr>
          <a:lstStyle/>
          <a:p>
            <a:r>
              <a:rPr lang="en-US" altLang="en-US" sz="2200" dirty="0"/>
              <a:t>An architectural style is a named collection of architectural design decisions that </a:t>
            </a:r>
          </a:p>
          <a:p>
            <a:pPr lvl="2"/>
            <a:r>
              <a:rPr lang="en-US" altLang="en-US" sz="2200" dirty="0"/>
              <a:t>are applicable in a given development context</a:t>
            </a:r>
          </a:p>
          <a:p>
            <a:pPr lvl="2"/>
            <a:r>
              <a:rPr lang="en-US" altLang="en-US" sz="2200" dirty="0"/>
              <a:t>constrain architectural design decisions that are specific to a particular system within that context</a:t>
            </a:r>
          </a:p>
          <a:p>
            <a:pPr lvl="2"/>
            <a:r>
              <a:rPr lang="en-US" altLang="en-US" sz="2200" dirty="0"/>
              <a:t>elicit beneficial qualities in each resulting system</a:t>
            </a:r>
          </a:p>
          <a:p>
            <a:r>
              <a:rPr lang="en-US" altLang="en-US" sz="2200" dirty="0"/>
              <a:t>A primary way of characterizing lessons from experience in software system design</a:t>
            </a:r>
          </a:p>
          <a:p>
            <a:endParaRPr lang="en-US" altLang="en-US" sz="2200" dirty="0"/>
          </a:p>
          <a:p>
            <a:r>
              <a:rPr lang="en-US" altLang="en-US" sz="2200" dirty="0"/>
              <a:t>Reflect less domain specificity than architectural patterns</a:t>
            </a:r>
          </a:p>
          <a:p>
            <a:endParaRPr lang="en-US" altLang="en-US" sz="2200" dirty="0"/>
          </a:p>
          <a:p>
            <a:r>
              <a:rPr lang="en-US" altLang="en-US" sz="2200" dirty="0"/>
              <a:t>Useful in determining everything from subroutine structure to top-level application structure</a:t>
            </a:r>
          </a:p>
          <a:p>
            <a:endParaRPr lang="en-US" dirty="0"/>
          </a:p>
        </p:txBody>
      </p:sp>
      <p:sp>
        <p:nvSpPr>
          <p:cNvPr id="4" name="Slide Number Placeholder 3"/>
          <p:cNvSpPr>
            <a:spLocks noGrp="1"/>
          </p:cNvSpPr>
          <p:nvPr>
            <p:ph type="sldNum" sz="quarter" idx="12"/>
          </p:nvPr>
        </p:nvSpPr>
        <p:spPr/>
        <p:txBody>
          <a:bodyPr/>
          <a:lstStyle/>
          <a:p>
            <a:fld id="{9DA1A1C2-73CC-4802-810A-2F9F3E278EFE}" type="slidenum">
              <a:rPr lang="en-US" smtClean="0"/>
              <a:t>2</a:t>
            </a:fld>
            <a:endParaRPr lang="en-US"/>
          </a:p>
        </p:txBody>
      </p:sp>
    </p:spTree>
    <p:extLst>
      <p:ext uri="{BB962C8B-B14F-4D97-AF65-F5344CB8AC3E}">
        <p14:creationId xmlns:p14="http://schemas.microsoft.com/office/powerpoint/2010/main" val="3143610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77334" y="609600"/>
            <a:ext cx="8596668" cy="892838"/>
          </a:xfrm>
        </p:spPr>
        <p:txBody>
          <a:bodyPr/>
          <a:lstStyle/>
          <a:p>
            <a:pPr eaLnBrk="1" hangingPunct="1"/>
            <a:r>
              <a:rPr lang="en-US" altLang="en-US" dirty="0"/>
              <a:t>Definitions of Architectural Style</a:t>
            </a:r>
          </a:p>
        </p:txBody>
      </p:sp>
      <p:sp>
        <p:nvSpPr>
          <p:cNvPr id="47107" name="Rectangle 3"/>
          <p:cNvSpPr>
            <a:spLocks noGrp="1" noChangeArrowheads="1"/>
          </p:cNvSpPr>
          <p:nvPr>
            <p:ph idx="1"/>
          </p:nvPr>
        </p:nvSpPr>
        <p:spPr>
          <a:xfrm>
            <a:off x="1981200" y="1676400"/>
            <a:ext cx="8229600" cy="4191000"/>
          </a:xfrm>
        </p:spPr>
        <p:txBody>
          <a:bodyPr/>
          <a:lstStyle/>
          <a:p>
            <a:pPr eaLnBrk="1" hangingPunct="1">
              <a:lnSpc>
                <a:spcPct val="90000"/>
              </a:lnSpc>
            </a:pPr>
            <a:r>
              <a:rPr lang="en-US" altLang="en-US" sz="2200" dirty="0"/>
              <a:t>Recurring organizational patterns</a:t>
            </a:r>
          </a:p>
          <a:p>
            <a:pPr lvl="1" eaLnBrk="1" hangingPunct="1">
              <a:lnSpc>
                <a:spcPct val="90000"/>
              </a:lnSpc>
            </a:pPr>
            <a:r>
              <a:rPr lang="en-US" altLang="en-US" sz="2200" dirty="0"/>
              <a:t>Established, shared understanding of common design forms </a:t>
            </a:r>
          </a:p>
          <a:p>
            <a:pPr lvl="1" eaLnBrk="1" hangingPunct="1">
              <a:lnSpc>
                <a:spcPct val="90000"/>
              </a:lnSpc>
            </a:pPr>
            <a:r>
              <a:rPr lang="en-US" altLang="en-US" sz="2200" dirty="0"/>
              <a:t>Mark of mature engineering field.</a:t>
            </a:r>
          </a:p>
          <a:p>
            <a:pPr lvl="2" eaLnBrk="1" hangingPunct="1">
              <a:lnSpc>
                <a:spcPct val="90000"/>
              </a:lnSpc>
            </a:pPr>
            <a:r>
              <a:rPr lang="en-US" altLang="en-US" sz="2200" dirty="0"/>
              <a:t>Shaw &amp; </a:t>
            </a:r>
            <a:r>
              <a:rPr lang="en-US" altLang="en-US" sz="2200" dirty="0" err="1"/>
              <a:t>Garlan</a:t>
            </a:r>
            <a:endParaRPr lang="en-US" altLang="en-US" sz="2200" dirty="0"/>
          </a:p>
          <a:p>
            <a:pPr eaLnBrk="1" hangingPunct="1">
              <a:lnSpc>
                <a:spcPct val="90000"/>
              </a:lnSpc>
            </a:pPr>
            <a:r>
              <a:rPr lang="en-US" altLang="en-US" sz="2200" dirty="0"/>
              <a:t>Abstraction of recurring composition &amp; interaction characteristics in a set of architectures</a:t>
            </a:r>
          </a:p>
          <a:p>
            <a:pPr lvl="2" eaLnBrk="1" hangingPunct="1">
              <a:lnSpc>
                <a:spcPct val="90000"/>
              </a:lnSpc>
            </a:pPr>
            <a:r>
              <a:rPr lang="en-US" altLang="en-US" sz="2200" dirty="0"/>
              <a:t>Taylor</a:t>
            </a:r>
          </a:p>
        </p:txBody>
      </p:sp>
      <p:sp>
        <p:nvSpPr>
          <p:cNvPr id="47108"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2C818A42-B2DC-46CE-B6F4-9941C6C6D3BC}" type="slidenum">
              <a:rPr lang="en-US" altLang="en-US" sz="1200">
                <a:latin typeface="Arial Black" panose="020B0A04020102020204" pitchFamily="34" charset="0"/>
              </a:rPr>
              <a:pPr>
                <a:spcBef>
                  <a:spcPct val="0"/>
                </a:spcBef>
                <a:buClrTx/>
                <a:buSzTx/>
                <a:buFontTx/>
                <a:buNone/>
              </a:pPr>
              <a:t>3</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1838633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en-US"/>
              <a:t>Basic Properties of Styles</a:t>
            </a:r>
          </a:p>
        </p:txBody>
      </p:sp>
      <p:sp>
        <p:nvSpPr>
          <p:cNvPr id="49155" name="Rectangle 3"/>
          <p:cNvSpPr>
            <a:spLocks noGrp="1" noChangeArrowheads="1"/>
          </p:cNvSpPr>
          <p:nvPr>
            <p:ph idx="1"/>
          </p:nvPr>
        </p:nvSpPr>
        <p:spPr>
          <a:xfrm>
            <a:off x="1981200" y="1676400"/>
            <a:ext cx="8153400" cy="3962400"/>
          </a:xfrm>
        </p:spPr>
        <p:txBody>
          <a:bodyPr>
            <a:normAutofit fontScale="92500" lnSpcReduction="20000"/>
          </a:bodyPr>
          <a:lstStyle/>
          <a:p>
            <a:pPr eaLnBrk="1" hangingPunct="1"/>
            <a:r>
              <a:rPr lang="en-US" altLang="en-US" sz="2200" dirty="0"/>
              <a:t>A vocabulary of design elements</a:t>
            </a:r>
          </a:p>
          <a:p>
            <a:pPr lvl="1" eaLnBrk="1" hangingPunct="1"/>
            <a:r>
              <a:rPr lang="en-US" altLang="en-US" sz="2200" dirty="0"/>
              <a:t>Component and connector types; data elements</a:t>
            </a:r>
          </a:p>
          <a:p>
            <a:pPr lvl="1" eaLnBrk="1" hangingPunct="1"/>
            <a:r>
              <a:rPr lang="en-US" altLang="en-US" sz="2200" dirty="0"/>
              <a:t>e.g., pipes, filters, objects, servers</a:t>
            </a:r>
          </a:p>
          <a:p>
            <a:pPr eaLnBrk="1" hangingPunct="1"/>
            <a:r>
              <a:rPr lang="en-US" altLang="en-US" sz="2200" dirty="0"/>
              <a:t>A set of configuration rules</a:t>
            </a:r>
          </a:p>
          <a:p>
            <a:pPr lvl="1" eaLnBrk="1" hangingPunct="1"/>
            <a:r>
              <a:rPr lang="en-US" altLang="en-US" sz="2200" dirty="0"/>
              <a:t>Topological constraints that determine allowed compositions of elements</a:t>
            </a:r>
          </a:p>
          <a:p>
            <a:pPr lvl="1" eaLnBrk="1" hangingPunct="1"/>
            <a:r>
              <a:rPr lang="en-US" altLang="en-US" sz="2200" dirty="0"/>
              <a:t>e.g., a component may be connected to at most two other components</a:t>
            </a:r>
          </a:p>
          <a:p>
            <a:pPr eaLnBrk="1" hangingPunct="1"/>
            <a:r>
              <a:rPr lang="en-US" altLang="en-US" sz="2200" dirty="0"/>
              <a:t>A semantic interpretation</a:t>
            </a:r>
          </a:p>
          <a:p>
            <a:pPr lvl="1" eaLnBrk="1" hangingPunct="1"/>
            <a:r>
              <a:rPr lang="en-US" altLang="en-US" sz="2200" dirty="0"/>
              <a:t>Compositions of design elements have well-defined meanings</a:t>
            </a:r>
          </a:p>
          <a:p>
            <a:pPr eaLnBrk="1" hangingPunct="1"/>
            <a:r>
              <a:rPr lang="en-US" altLang="en-US" sz="2200" dirty="0"/>
              <a:t>Possible analyses of systems built in a style</a:t>
            </a:r>
          </a:p>
        </p:txBody>
      </p:sp>
      <p:sp>
        <p:nvSpPr>
          <p:cNvPr id="4915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D8EE4322-6AA6-4EFB-AC4F-745999963687}" type="slidenum">
              <a:rPr lang="en-US" altLang="en-US" sz="1200">
                <a:latin typeface="Arial Black" panose="020B0A04020102020204" pitchFamily="34" charset="0"/>
              </a:rPr>
              <a:pPr>
                <a:spcBef>
                  <a:spcPct val="0"/>
                </a:spcBef>
                <a:buClrTx/>
                <a:buSzTx/>
                <a:buFontTx/>
                <a:buNone/>
              </a:pPr>
              <a:t>4</a:t>
            </a:fld>
            <a:endParaRPr lang="en-US" altLang="en-US" sz="1200">
              <a:latin typeface="Arial Black" panose="020B0A04020102020204" pitchFamily="34" charset="0"/>
            </a:endParaRPr>
          </a:p>
        </p:txBody>
      </p:sp>
      <p:pic>
        <p:nvPicPr>
          <p:cNvPr id="3" name="Picture 2">
            <a:extLst>
              <a:ext uri="{FF2B5EF4-FFF2-40B4-BE49-F238E27FC236}">
                <a16:creationId xmlns:a16="http://schemas.microsoft.com/office/drawing/2014/main" id="{1F631313-38FB-40D4-B3C5-D42E7B0FBD6C}"/>
              </a:ext>
            </a:extLst>
          </p:cNvPr>
          <p:cNvPicPr>
            <a:picLocks noChangeAspect="1"/>
          </p:cNvPicPr>
          <p:nvPr/>
        </p:nvPicPr>
        <p:blipFill>
          <a:blip r:embed="rId3"/>
          <a:stretch>
            <a:fillRect/>
          </a:stretch>
        </p:blipFill>
        <p:spPr>
          <a:xfrm>
            <a:off x="8297210" y="0"/>
            <a:ext cx="3894790" cy="3141233"/>
          </a:xfrm>
          <a:prstGeom prst="rect">
            <a:avLst/>
          </a:prstGeom>
        </p:spPr>
      </p:pic>
    </p:spTree>
    <p:extLst>
      <p:ext uri="{BB962C8B-B14F-4D97-AF65-F5344CB8AC3E}">
        <p14:creationId xmlns:p14="http://schemas.microsoft.com/office/powerpoint/2010/main" val="2363791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en-US"/>
              <a:t>Benefits of Using Styles</a:t>
            </a:r>
          </a:p>
        </p:txBody>
      </p:sp>
      <p:sp>
        <p:nvSpPr>
          <p:cNvPr id="51203" name="Rectangle 3"/>
          <p:cNvSpPr>
            <a:spLocks noGrp="1" noChangeArrowheads="1"/>
          </p:cNvSpPr>
          <p:nvPr>
            <p:ph idx="1"/>
          </p:nvPr>
        </p:nvSpPr>
        <p:spPr/>
        <p:txBody>
          <a:bodyPr>
            <a:normAutofit fontScale="77500" lnSpcReduction="20000"/>
          </a:bodyPr>
          <a:lstStyle/>
          <a:p>
            <a:pPr eaLnBrk="1" hangingPunct="1"/>
            <a:r>
              <a:rPr lang="en-US" altLang="en-US" sz="2000"/>
              <a:t>Design reuse </a:t>
            </a:r>
          </a:p>
          <a:p>
            <a:pPr lvl="1" eaLnBrk="1" hangingPunct="1"/>
            <a:r>
              <a:rPr lang="en-US" altLang="en-US" sz="2000"/>
              <a:t>Well-understood solutions applied to new problems</a:t>
            </a:r>
          </a:p>
          <a:p>
            <a:pPr eaLnBrk="1" hangingPunct="1"/>
            <a:r>
              <a:rPr lang="en-US" altLang="en-US" sz="2000"/>
              <a:t>Code reuse</a:t>
            </a:r>
          </a:p>
          <a:p>
            <a:pPr lvl="1" eaLnBrk="1" hangingPunct="1"/>
            <a:r>
              <a:rPr lang="en-US" altLang="en-US" sz="2000"/>
              <a:t>Shared implementations of invariant aspects of a style</a:t>
            </a:r>
          </a:p>
          <a:p>
            <a:pPr eaLnBrk="1" hangingPunct="1"/>
            <a:r>
              <a:rPr lang="en-US" altLang="en-US" sz="2000"/>
              <a:t>Understandability of system organization </a:t>
            </a:r>
          </a:p>
          <a:p>
            <a:pPr lvl="1" eaLnBrk="1" hangingPunct="1"/>
            <a:r>
              <a:rPr lang="en-US" altLang="en-US" sz="2000"/>
              <a:t>A phrase such as “client-server” conveys a lot of information</a:t>
            </a:r>
          </a:p>
          <a:p>
            <a:pPr eaLnBrk="1" hangingPunct="1"/>
            <a:r>
              <a:rPr lang="en-US" altLang="en-US" sz="2000"/>
              <a:t>Interoperability</a:t>
            </a:r>
          </a:p>
          <a:p>
            <a:pPr lvl="1" eaLnBrk="1" hangingPunct="1"/>
            <a:r>
              <a:rPr lang="en-US" altLang="en-US" sz="2000"/>
              <a:t>Supported by style standardization</a:t>
            </a:r>
          </a:p>
          <a:p>
            <a:pPr eaLnBrk="1" hangingPunct="1"/>
            <a:r>
              <a:rPr lang="en-US" altLang="en-US" sz="2000"/>
              <a:t>Style-specific analyses</a:t>
            </a:r>
          </a:p>
          <a:p>
            <a:pPr lvl="1" eaLnBrk="1" hangingPunct="1"/>
            <a:r>
              <a:rPr lang="en-US" altLang="en-US" sz="2000"/>
              <a:t>Enabled by the constrained design space</a:t>
            </a:r>
          </a:p>
          <a:p>
            <a:pPr eaLnBrk="1" hangingPunct="1"/>
            <a:r>
              <a:rPr lang="en-US" altLang="en-US" sz="2000"/>
              <a:t>Visualizations</a:t>
            </a:r>
          </a:p>
          <a:p>
            <a:pPr lvl="1" eaLnBrk="1" hangingPunct="1"/>
            <a:r>
              <a:rPr lang="en-US" altLang="en-US" sz="2000"/>
              <a:t>Style-specific depictions matching engineers’ mental models</a:t>
            </a:r>
          </a:p>
        </p:txBody>
      </p:sp>
      <p:sp>
        <p:nvSpPr>
          <p:cNvPr id="5120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4FB65D14-0BAF-4477-8C70-BA207C0A5D1E}" type="slidenum">
              <a:rPr lang="en-US" altLang="en-US" sz="1200">
                <a:latin typeface="Arial Black" panose="020B0A04020102020204" pitchFamily="34" charset="0"/>
              </a:rPr>
              <a:pPr>
                <a:spcBef>
                  <a:spcPct val="0"/>
                </a:spcBef>
                <a:buClrTx/>
                <a:buSzTx/>
                <a:buFontTx/>
                <a:buNone/>
              </a:pPr>
              <a:t>5</a:t>
            </a:fld>
            <a:endParaRPr lang="en-US" altLang="en-US" sz="1200">
              <a:latin typeface="Arial Black" panose="020B0A04020102020204" pitchFamily="34" charset="0"/>
            </a:endParaRPr>
          </a:p>
        </p:txBody>
      </p:sp>
      <p:pic>
        <p:nvPicPr>
          <p:cNvPr id="3" name="Picture 2">
            <a:extLst>
              <a:ext uri="{FF2B5EF4-FFF2-40B4-BE49-F238E27FC236}">
                <a16:creationId xmlns:a16="http://schemas.microsoft.com/office/drawing/2014/main" id="{2C7C9DF0-4F04-F2C5-8CCE-12F04B21D4F9}"/>
              </a:ext>
            </a:extLst>
          </p:cNvPr>
          <p:cNvPicPr>
            <a:picLocks noChangeAspect="1"/>
          </p:cNvPicPr>
          <p:nvPr/>
        </p:nvPicPr>
        <p:blipFill>
          <a:blip r:embed="rId3"/>
          <a:stretch>
            <a:fillRect/>
          </a:stretch>
        </p:blipFill>
        <p:spPr>
          <a:xfrm>
            <a:off x="7422664" y="83345"/>
            <a:ext cx="4210050" cy="1962150"/>
          </a:xfrm>
          <a:prstGeom prst="rect">
            <a:avLst/>
          </a:prstGeom>
        </p:spPr>
      </p:pic>
    </p:spTree>
    <p:extLst>
      <p:ext uri="{BB962C8B-B14F-4D97-AF65-F5344CB8AC3E}">
        <p14:creationId xmlns:p14="http://schemas.microsoft.com/office/powerpoint/2010/main" val="2500886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Architectural Style</a:t>
            </a:r>
            <a:endParaRPr lang="en-US" dirty="0"/>
          </a:p>
        </p:txBody>
      </p:sp>
      <p:sp>
        <p:nvSpPr>
          <p:cNvPr id="3" name="Content Placeholder 2"/>
          <p:cNvSpPr>
            <a:spLocks noGrp="1"/>
          </p:cNvSpPr>
          <p:nvPr>
            <p:ph idx="1"/>
          </p:nvPr>
        </p:nvSpPr>
        <p:spPr/>
        <p:txBody>
          <a:bodyPr>
            <a:normAutofit fontScale="92500" lnSpcReduction="20000"/>
          </a:bodyPr>
          <a:lstStyle/>
          <a:p>
            <a:r>
              <a:rPr lang="en-US" dirty="0"/>
              <a:t>A </a:t>
            </a:r>
            <a:r>
              <a:rPr lang="en-US" b="1" dirty="0"/>
              <a:t>software architecture style </a:t>
            </a:r>
            <a:r>
              <a:rPr lang="en-US" dirty="0"/>
              <a:t>is a solution to a recurring problem that is well understood, in a particular context. </a:t>
            </a:r>
          </a:p>
          <a:p>
            <a:r>
              <a:rPr lang="en-US" dirty="0"/>
              <a:t>Each style consists of a context, a problem, and a solution. </a:t>
            </a:r>
          </a:p>
          <a:p>
            <a:r>
              <a:rPr lang="en-US" dirty="0"/>
              <a:t>The problem may be to overcome some challenge, take advantage of some opportunity, or to satisfy one or more quality attributes. </a:t>
            </a:r>
          </a:p>
          <a:p>
            <a:r>
              <a:rPr lang="en-US" dirty="0"/>
              <a:t>Patterns codify knowledge and experience into a solution that we can reuse.</a:t>
            </a:r>
          </a:p>
          <a:p>
            <a:r>
              <a:rPr lang="en-US" dirty="0"/>
              <a:t>Using style simplifies design and allows us to gain the benefits of using a solution that is proven to solve a particular design problem. </a:t>
            </a:r>
          </a:p>
          <a:p>
            <a:r>
              <a:rPr lang="en-US" dirty="0"/>
              <a:t>When working with others who are familiar with style, referencing one of them provides a shorthand with which to reference a solution, without having to explain all its details. </a:t>
            </a:r>
          </a:p>
          <a:p>
            <a:r>
              <a:rPr lang="en-US" dirty="0"/>
              <a:t>As a result, they are useful during discussions to communicate ideas.</a:t>
            </a:r>
          </a:p>
          <a:p>
            <a:r>
              <a:rPr lang="en-US" dirty="0"/>
              <a:t>Each style has its own characteristics, strengths, and weaknesses.</a:t>
            </a:r>
          </a:p>
        </p:txBody>
      </p:sp>
      <p:sp>
        <p:nvSpPr>
          <p:cNvPr id="4" name="Slide Number Placeholder 3"/>
          <p:cNvSpPr>
            <a:spLocks noGrp="1"/>
          </p:cNvSpPr>
          <p:nvPr>
            <p:ph type="sldNum" sz="quarter" idx="12"/>
          </p:nvPr>
        </p:nvSpPr>
        <p:spPr/>
        <p:txBody>
          <a:bodyPr/>
          <a:lstStyle/>
          <a:p>
            <a:fld id="{9DA1A1C2-73CC-4802-810A-2F9F3E278EFE}" type="slidenum">
              <a:rPr lang="en-US" smtClean="0"/>
              <a:t>6</a:t>
            </a:fld>
            <a:endParaRPr lang="en-US"/>
          </a:p>
        </p:txBody>
      </p:sp>
      <p:pic>
        <p:nvPicPr>
          <p:cNvPr id="6" name="Picture 5">
            <a:extLst>
              <a:ext uri="{FF2B5EF4-FFF2-40B4-BE49-F238E27FC236}">
                <a16:creationId xmlns:a16="http://schemas.microsoft.com/office/drawing/2014/main" id="{D61320A3-7AD4-6527-C2AF-CA10F1E94B48}"/>
              </a:ext>
            </a:extLst>
          </p:cNvPr>
          <p:cNvPicPr>
            <a:picLocks noChangeAspect="1"/>
          </p:cNvPicPr>
          <p:nvPr/>
        </p:nvPicPr>
        <p:blipFill>
          <a:blip r:embed="rId2"/>
          <a:stretch>
            <a:fillRect/>
          </a:stretch>
        </p:blipFill>
        <p:spPr>
          <a:xfrm>
            <a:off x="7110804" y="-11112"/>
            <a:ext cx="5081195" cy="2248094"/>
          </a:xfrm>
          <a:prstGeom prst="rect">
            <a:avLst/>
          </a:prstGeom>
        </p:spPr>
      </p:pic>
    </p:spTree>
    <p:extLst>
      <p:ext uri="{BB962C8B-B14F-4D97-AF65-F5344CB8AC3E}">
        <p14:creationId xmlns:p14="http://schemas.microsoft.com/office/powerpoint/2010/main" val="1807861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en-US"/>
              <a:t>Style Analysis Dimensions</a:t>
            </a:r>
          </a:p>
        </p:txBody>
      </p:sp>
      <p:sp>
        <p:nvSpPr>
          <p:cNvPr id="53251" name="Rectangle 3"/>
          <p:cNvSpPr>
            <a:spLocks noGrp="1" noChangeArrowheads="1"/>
          </p:cNvSpPr>
          <p:nvPr>
            <p:ph idx="1"/>
          </p:nvPr>
        </p:nvSpPr>
        <p:spPr/>
        <p:txBody>
          <a:bodyPr/>
          <a:lstStyle/>
          <a:p>
            <a:pPr eaLnBrk="1" hangingPunct="1"/>
            <a:r>
              <a:rPr lang="en-US" altLang="en-US"/>
              <a:t>What is the design vocabulary?</a:t>
            </a:r>
          </a:p>
          <a:p>
            <a:pPr lvl="1" eaLnBrk="1" hangingPunct="1"/>
            <a:r>
              <a:rPr lang="en-US" altLang="en-US"/>
              <a:t>Component and connector types</a:t>
            </a:r>
          </a:p>
          <a:p>
            <a:pPr eaLnBrk="1" hangingPunct="1"/>
            <a:r>
              <a:rPr lang="en-US" altLang="en-US"/>
              <a:t>What are the allowable structural patterns?</a:t>
            </a:r>
          </a:p>
          <a:p>
            <a:pPr eaLnBrk="1" hangingPunct="1"/>
            <a:r>
              <a:rPr lang="en-US" altLang="en-US"/>
              <a:t>What is the underlying computational model?</a:t>
            </a:r>
          </a:p>
          <a:p>
            <a:pPr eaLnBrk="1" hangingPunct="1"/>
            <a:r>
              <a:rPr lang="en-US" altLang="en-US"/>
              <a:t>What are the essential invariants of the style?</a:t>
            </a:r>
          </a:p>
          <a:p>
            <a:pPr eaLnBrk="1" hangingPunct="1"/>
            <a:r>
              <a:rPr lang="en-US" altLang="en-US"/>
              <a:t>What are common examples of its use?</a:t>
            </a:r>
          </a:p>
          <a:p>
            <a:pPr eaLnBrk="1" hangingPunct="1"/>
            <a:r>
              <a:rPr lang="en-US" altLang="en-US"/>
              <a:t>What are the (dis)advantages of using the style?</a:t>
            </a:r>
          </a:p>
          <a:p>
            <a:pPr eaLnBrk="1" hangingPunct="1"/>
            <a:r>
              <a:rPr lang="en-US" altLang="en-US"/>
              <a:t>What are the style’s specializations?</a:t>
            </a:r>
          </a:p>
        </p:txBody>
      </p:sp>
      <p:sp>
        <p:nvSpPr>
          <p:cNvPr id="5325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DF5D734B-2D2A-4C30-BDD7-2CABECF234D9}" type="slidenum">
              <a:rPr lang="en-US" altLang="en-US" sz="1200">
                <a:latin typeface="Arial Black" panose="020B0A04020102020204" pitchFamily="34" charset="0"/>
              </a:rPr>
              <a:pPr>
                <a:spcBef>
                  <a:spcPct val="0"/>
                </a:spcBef>
                <a:buClrTx/>
                <a:buSzTx/>
                <a:buFontTx/>
                <a:buNone/>
              </a:pPr>
              <a:t>7</a:t>
            </a:fld>
            <a:endParaRPr lang="en-US" altLang="en-US" sz="1200">
              <a:latin typeface="Arial Black" panose="020B0A04020102020204" pitchFamily="34" charset="0"/>
            </a:endParaRPr>
          </a:p>
        </p:txBody>
      </p:sp>
      <p:pic>
        <p:nvPicPr>
          <p:cNvPr id="3" name="Picture 2">
            <a:extLst>
              <a:ext uri="{FF2B5EF4-FFF2-40B4-BE49-F238E27FC236}">
                <a16:creationId xmlns:a16="http://schemas.microsoft.com/office/drawing/2014/main" id="{D4F6819C-282C-ED61-7137-6BF6A9EF0D88}"/>
              </a:ext>
            </a:extLst>
          </p:cNvPr>
          <p:cNvPicPr>
            <a:picLocks noChangeAspect="1"/>
          </p:cNvPicPr>
          <p:nvPr/>
        </p:nvPicPr>
        <p:blipFill>
          <a:blip r:embed="rId3"/>
          <a:stretch>
            <a:fillRect/>
          </a:stretch>
        </p:blipFill>
        <p:spPr>
          <a:xfrm>
            <a:off x="6294680" y="2036612"/>
            <a:ext cx="4400550" cy="2505075"/>
          </a:xfrm>
          <a:prstGeom prst="rect">
            <a:avLst/>
          </a:prstGeom>
        </p:spPr>
      </p:pic>
    </p:spTree>
    <p:extLst>
      <p:ext uri="{BB962C8B-B14F-4D97-AF65-F5344CB8AC3E}">
        <p14:creationId xmlns:p14="http://schemas.microsoft.com/office/powerpoint/2010/main" val="2068189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ltLang="en-US"/>
              <a:t>Some Common Styles</a:t>
            </a:r>
          </a:p>
        </p:txBody>
      </p:sp>
      <p:sp>
        <p:nvSpPr>
          <p:cNvPr id="55299" name="Rectangle 3"/>
          <p:cNvSpPr>
            <a:spLocks noGrp="1" noChangeArrowheads="1"/>
          </p:cNvSpPr>
          <p:nvPr>
            <p:ph sz="half" idx="1"/>
          </p:nvPr>
        </p:nvSpPr>
        <p:spPr>
          <a:xfrm>
            <a:off x="1981200" y="1676400"/>
            <a:ext cx="4033838" cy="4191000"/>
          </a:xfrm>
        </p:spPr>
        <p:txBody>
          <a:bodyPr>
            <a:normAutofit fontScale="77500" lnSpcReduction="20000"/>
          </a:bodyPr>
          <a:lstStyle/>
          <a:p>
            <a:pPr eaLnBrk="1" hangingPunct="1">
              <a:lnSpc>
                <a:spcPct val="90000"/>
              </a:lnSpc>
            </a:pPr>
            <a:r>
              <a:rPr lang="en-US" altLang="en-US" sz="2000" dirty="0"/>
              <a:t>Traditional, language-influenced styles</a:t>
            </a:r>
          </a:p>
          <a:p>
            <a:pPr lvl="1" eaLnBrk="1" hangingPunct="1">
              <a:lnSpc>
                <a:spcPct val="90000"/>
              </a:lnSpc>
            </a:pPr>
            <a:r>
              <a:rPr lang="en-US" altLang="en-US" sz="2200" dirty="0"/>
              <a:t>Main program and subroutines</a:t>
            </a:r>
          </a:p>
          <a:p>
            <a:pPr lvl="1" eaLnBrk="1" hangingPunct="1">
              <a:lnSpc>
                <a:spcPct val="90000"/>
              </a:lnSpc>
            </a:pPr>
            <a:r>
              <a:rPr lang="en-US" altLang="en-US" sz="2200" dirty="0"/>
              <a:t>Object-oriented </a:t>
            </a:r>
          </a:p>
          <a:p>
            <a:pPr eaLnBrk="1" hangingPunct="1">
              <a:lnSpc>
                <a:spcPct val="90000"/>
              </a:lnSpc>
            </a:pPr>
            <a:r>
              <a:rPr lang="en-US" altLang="en-US" sz="2000" dirty="0"/>
              <a:t>Layered</a:t>
            </a:r>
          </a:p>
          <a:p>
            <a:pPr lvl="1" eaLnBrk="1" hangingPunct="1">
              <a:lnSpc>
                <a:spcPct val="90000"/>
              </a:lnSpc>
            </a:pPr>
            <a:r>
              <a:rPr lang="en-US" altLang="en-US" sz="2200" dirty="0"/>
              <a:t>Virtual machines</a:t>
            </a:r>
          </a:p>
          <a:p>
            <a:pPr lvl="1" eaLnBrk="1" hangingPunct="1">
              <a:lnSpc>
                <a:spcPct val="90000"/>
              </a:lnSpc>
            </a:pPr>
            <a:r>
              <a:rPr lang="en-US" altLang="en-US" sz="2200" dirty="0"/>
              <a:t>Client-server </a:t>
            </a:r>
          </a:p>
          <a:p>
            <a:pPr eaLnBrk="1" hangingPunct="1">
              <a:lnSpc>
                <a:spcPct val="90000"/>
              </a:lnSpc>
            </a:pPr>
            <a:r>
              <a:rPr lang="en-US" altLang="en-US" sz="2000" dirty="0"/>
              <a:t>Data-flow styles</a:t>
            </a:r>
          </a:p>
          <a:p>
            <a:pPr lvl="1" eaLnBrk="1" hangingPunct="1">
              <a:lnSpc>
                <a:spcPct val="90000"/>
              </a:lnSpc>
            </a:pPr>
            <a:r>
              <a:rPr lang="en-US" altLang="en-US" sz="2200" dirty="0"/>
              <a:t>Batch sequential</a:t>
            </a:r>
          </a:p>
          <a:p>
            <a:pPr lvl="1" eaLnBrk="1" hangingPunct="1">
              <a:lnSpc>
                <a:spcPct val="90000"/>
              </a:lnSpc>
            </a:pPr>
            <a:r>
              <a:rPr lang="en-US" altLang="en-US" sz="2200" dirty="0"/>
              <a:t>Pipe and filter</a:t>
            </a:r>
          </a:p>
          <a:p>
            <a:pPr eaLnBrk="1" hangingPunct="1">
              <a:lnSpc>
                <a:spcPct val="90000"/>
              </a:lnSpc>
            </a:pPr>
            <a:r>
              <a:rPr lang="en-US" altLang="en-US" sz="2000" dirty="0"/>
              <a:t>Shared memory</a:t>
            </a:r>
          </a:p>
          <a:p>
            <a:pPr lvl="1" eaLnBrk="1" hangingPunct="1">
              <a:lnSpc>
                <a:spcPct val="90000"/>
              </a:lnSpc>
            </a:pPr>
            <a:r>
              <a:rPr lang="en-US" altLang="en-US" sz="2200" dirty="0"/>
              <a:t>Blackboard</a:t>
            </a:r>
          </a:p>
          <a:p>
            <a:pPr lvl="1" eaLnBrk="1" hangingPunct="1">
              <a:lnSpc>
                <a:spcPct val="90000"/>
              </a:lnSpc>
            </a:pPr>
            <a:r>
              <a:rPr lang="en-US" altLang="en-US" sz="2200" dirty="0"/>
              <a:t>Rule based</a:t>
            </a:r>
          </a:p>
        </p:txBody>
      </p:sp>
      <p:sp>
        <p:nvSpPr>
          <p:cNvPr id="55300" name="Rectangle 4"/>
          <p:cNvSpPr>
            <a:spLocks noGrp="1" noChangeArrowheads="1"/>
          </p:cNvSpPr>
          <p:nvPr>
            <p:ph sz="half" idx="2"/>
          </p:nvPr>
        </p:nvSpPr>
        <p:spPr>
          <a:xfrm>
            <a:off x="6176964" y="1676400"/>
            <a:ext cx="4033837" cy="4191000"/>
          </a:xfrm>
        </p:spPr>
        <p:txBody>
          <a:bodyPr>
            <a:normAutofit fontScale="77500" lnSpcReduction="20000"/>
          </a:bodyPr>
          <a:lstStyle/>
          <a:p>
            <a:pPr eaLnBrk="1" hangingPunct="1"/>
            <a:r>
              <a:rPr lang="en-US" altLang="en-US" sz="2000"/>
              <a:t>Interpreter</a:t>
            </a:r>
          </a:p>
          <a:p>
            <a:pPr lvl="1" eaLnBrk="1" hangingPunct="1"/>
            <a:r>
              <a:rPr lang="en-US" altLang="en-US" sz="2200"/>
              <a:t>Interpreter</a:t>
            </a:r>
          </a:p>
          <a:p>
            <a:pPr lvl="1" eaLnBrk="1" hangingPunct="1"/>
            <a:r>
              <a:rPr lang="en-US" altLang="en-US" sz="2200"/>
              <a:t>Mobile code</a:t>
            </a:r>
          </a:p>
          <a:p>
            <a:pPr eaLnBrk="1" hangingPunct="1"/>
            <a:r>
              <a:rPr lang="en-US" altLang="en-US" sz="2000"/>
              <a:t>Implicit invocation</a:t>
            </a:r>
          </a:p>
          <a:p>
            <a:pPr lvl="1" eaLnBrk="1" hangingPunct="1"/>
            <a:r>
              <a:rPr lang="en-US" altLang="en-US" sz="2200"/>
              <a:t>Event-based</a:t>
            </a:r>
          </a:p>
          <a:p>
            <a:pPr lvl="1" eaLnBrk="1" hangingPunct="1"/>
            <a:r>
              <a:rPr lang="en-US" altLang="en-US" sz="2200"/>
              <a:t>Publish-subscribe</a:t>
            </a:r>
          </a:p>
          <a:p>
            <a:pPr eaLnBrk="1" hangingPunct="1"/>
            <a:r>
              <a:rPr lang="en-US" altLang="en-US" sz="2000"/>
              <a:t>Peer-to-peer</a:t>
            </a:r>
          </a:p>
          <a:p>
            <a:pPr eaLnBrk="1" hangingPunct="1"/>
            <a:r>
              <a:rPr lang="en-US" altLang="en-US" sz="2000"/>
              <a:t>“Derived” styles</a:t>
            </a:r>
          </a:p>
          <a:p>
            <a:pPr lvl="1" eaLnBrk="1" hangingPunct="1"/>
            <a:r>
              <a:rPr lang="en-US" altLang="en-US" sz="2200"/>
              <a:t>C2</a:t>
            </a:r>
          </a:p>
          <a:p>
            <a:pPr lvl="1" eaLnBrk="1" hangingPunct="1"/>
            <a:r>
              <a:rPr lang="en-US" altLang="en-US" sz="2200"/>
              <a:t>CORBA</a:t>
            </a:r>
          </a:p>
          <a:p>
            <a:pPr eaLnBrk="1" hangingPunct="1"/>
            <a:endParaRPr lang="en-US" altLang="en-US" sz="2000"/>
          </a:p>
        </p:txBody>
      </p:sp>
      <p:sp>
        <p:nvSpPr>
          <p:cNvPr id="553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B989E268-2055-4EFD-8FF3-938DBB5408C6}" type="slidenum">
              <a:rPr lang="en-US" altLang="en-US" sz="1200">
                <a:latin typeface="Arial Black" panose="020B0A04020102020204" pitchFamily="34" charset="0"/>
              </a:rPr>
              <a:pPr>
                <a:spcBef>
                  <a:spcPct val="0"/>
                </a:spcBef>
                <a:buClrTx/>
                <a:buSzTx/>
                <a:buFontTx/>
                <a:buNone/>
              </a:pPr>
              <a:t>8</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3171798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en-US"/>
              <a:t>Main Program and Subroutines LL</a:t>
            </a:r>
          </a:p>
        </p:txBody>
      </p:sp>
      <p:sp>
        <p:nvSpPr>
          <p:cNvPr id="5734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8C146BDD-0863-4A62-AAC9-5EC572830CC7}" type="slidenum">
              <a:rPr lang="en-US" altLang="en-US" sz="1200">
                <a:latin typeface="Arial Black" panose="020B0A04020102020204" pitchFamily="34" charset="0"/>
              </a:rPr>
              <a:pPr>
                <a:spcBef>
                  <a:spcPct val="0"/>
                </a:spcBef>
                <a:buClrTx/>
                <a:buSzTx/>
                <a:buFontTx/>
                <a:buNone/>
              </a:pPr>
              <a:t>9</a:t>
            </a:fld>
            <a:endParaRPr lang="en-US" altLang="en-US" sz="1200">
              <a:latin typeface="Arial Black" panose="020B0A04020102020204" pitchFamily="34" charset="0"/>
            </a:endParaRPr>
          </a:p>
        </p:txBody>
      </p:sp>
      <p:pic>
        <p:nvPicPr>
          <p:cNvPr id="57348" name="Picture 3" descr="mainProcSubs_U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057401"/>
            <a:ext cx="7715250"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E52E06E9-D86C-BECE-40EE-7039705F8ED8}"/>
              </a:ext>
            </a:extLst>
          </p:cNvPr>
          <p:cNvPicPr>
            <a:picLocks noChangeAspect="1"/>
          </p:cNvPicPr>
          <p:nvPr/>
        </p:nvPicPr>
        <p:blipFill>
          <a:blip r:embed="rId4"/>
          <a:stretch>
            <a:fillRect/>
          </a:stretch>
        </p:blipFill>
        <p:spPr>
          <a:xfrm>
            <a:off x="6588285" y="0"/>
            <a:ext cx="5603716" cy="2936838"/>
          </a:xfrm>
          <a:prstGeom prst="rect">
            <a:avLst/>
          </a:prstGeom>
        </p:spPr>
      </p:pic>
    </p:spTree>
    <p:extLst>
      <p:ext uri="{BB962C8B-B14F-4D97-AF65-F5344CB8AC3E}">
        <p14:creationId xmlns:p14="http://schemas.microsoft.com/office/powerpoint/2010/main" val="625859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a:t>Object-Oriented Style</a:t>
            </a:r>
          </a:p>
        </p:txBody>
      </p:sp>
      <p:sp>
        <p:nvSpPr>
          <p:cNvPr id="5123" name="Rectangle 3"/>
          <p:cNvSpPr>
            <a:spLocks noGrp="1" noChangeArrowheads="1"/>
          </p:cNvSpPr>
          <p:nvPr>
            <p:ph idx="1"/>
          </p:nvPr>
        </p:nvSpPr>
        <p:spPr>
          <a:xfrm>
            <a:off x="1981200" y="1600200"/>
            <a:ext cx="8229600" cy="5257800"/>
          </a:xfrm>
        </p:spPr>
        <p:txBody>
          <a:bodyPr>
            <a:normAutofit fontScale="92500" lnSpcReduction="10000"/>
          </a:bodyPr>
          <a:lstStyle/>
          <a:p>
            <a:pPr eaLnBrk="1" hangingPunct="1">
              <a:lnSpc>
                <a:spcPct val="90000"/>
              </a:lnSpc>
            </a:pPr>
            <a:r>
              <a:rPr lang="en-US" altLang="en-US" sz="2200" dirty="0"/>
              <a:t>Components are objects</a:t>
            </a:r>
          </a:p>
          <a:p>
            <a:pPr lvl="1" eaLnBrk="1" hangingPunct="1">
              <a:lnSpc>
                <a:spcPct val="90000"/>
              </a:lnSpc>
            </a:pPr>
            <a:r>
              <a:rPr lang="en-US" altLang="en-US" sz="2200" dirty="0"/>
              <a:t>Data and associated operations</a:t>
            </a:r>
          </a:p>
          <a:p>
            <a:pPr eaLnBrk="1" hangingPunct="1">
              <a:lnSpc>
                <a:spcPct val="90000"/>
              </a:lnSpc>
            </a:pPr>
            <a:r>
              <a:rPr lang="en-US" altLang="en-US" sz="2200" dirty="0"/>
              <a:t>Connectors are messages and method invocations</a:t>
            </a:r>
          </a:p>
          <a:p>
            <a:pPr eaLnBrk="1" hangingPunct="1">
              <a:lnSpc>
                <a:spcPct val="90000"/>
              </a:lnSpc>
            </a:pPr>
            <a:r>
              <a:rPr lang="en-US" altLang="en-US" sz="2200" dirty="0"/>
              <a:t>Style invariants</a:t>
            </a:r>
          </a:p>
          <a:p>
            <a:pPr lvl="1" eaLnBrk="1" hangingPunct="1">
              <a:lnSpc>
                <a:spcPct val="90000"/>
              </a:lnSpc>
            </a:pPr>
            <a:r>
              <a:rPr lang="en-US" altLang="en-US" sz="2200" dirty="0"/>
              <a:t>Objects are responsible for their internal</a:t>
            </a:r>
            <a:br>
              <a:rPr lang="en-US" altLang="en-US" sz="2200" dirty="0"/>
            </a:br>
            <a:r>
              <a:rPr lang="en-US" altLang="en-US" sz="2200" dirty="0"/>
              <a:t> representation integrity</a:t>
            </a:r>
          </a:p>
          <a:p>
            <a:pPr lvl="1" eaLnBrk="1" hangingPunct="1">
              <a:lnSpc>
                <a:spcPct val="90000"/>
              </a:lnSpc>
            </a:pPr>
            <a:r>
              <a:rPr lang="en-US" altLang="en-US" sz="2200" dirty="0"/>
              <a:t>Internal representation is hidden from other objects</a:t>
            </a:r>
          </a:p>
          <a:p>
            <a:pPr eaLnBrk="1" hangingPunct="1">
              <a:lnSpc>
                <a:spcPct val="90000"/>
              </a:lnSpc>
            </a:pPr>
            <a:r>
              <a:rPr lang="en-US" altLang="en-US" sz="2200" dirty="0"/>
              <a:t>Advantages</a:t>
            </a:r>
          </a:p>
          <a:p>
            <a:pPr lvl="1" eaLnBrk="1" hangingPunct="1">
              <a:lnSpc>
                <a:spcPct val="90000"/>
              </a:lnSpc>
            </a:pPr>
            <a:r>
              <a:rPr lang="en-US" altLang="en-US" sz="2200" dirty="0"/>
              <a:t>“Infinite malleability” of object internals</a:t>
            </a:r>
          </a:p>
          <a:p>
            <a:pPr lvl="1" eaLnBrk="1" hangingPunct="1">
              <a:lnSpc>
                <a:spcPct val="90000"/>
              </a:lnSpc>
            </a:pPr>
            <a:r>
              <a:rPr lang="en-US" altLang="en-US" sz="2200" dirty="0"/>
              <a:t>System decomposition into sets of interacting agents</a:t>
            </a:r>
          </a:p>
          <a:p>
            <a:pPr eaLnBrk="1" hangingPunct="1">
              <a:lnSpc>
                <a:spcPct val="90000"/>
              </a:lnSpc>
            </a:pPr>
            <a:r>
              <a:rPr lang="en-US" altLang="en-US" sz="2200" dirty="0"/>
              <a:t>Disadvantages</a:t>
            </a:r>
          </a:p>
          <a:p>
            <a:pPr lvl="1" eaLnBrk="1" hangingPunct="1">
              <a:lnSpc>
                <a:spcPct val="90000"/>
              </a:lnSpc>
            </a:pPr>
            <a:r>
              <a:rPr lang="en-US" altLang="en-US" sz="2200" dirty="0"/>
              <a:t>Objects must know identities of servers</a:t>
            </a:r>
          </a:p>
          <a:p>
            <a:pPr lvl="1" eaLnBrk="1" hangingPunct="1">
              <a:lnSpc>
                <a:spcPct val="90000"/>
              </a:lnSpc>
            </a:pPr>
            <a:r>
              <a:rPr lang="en-US" altLang="en-US" sz="2200" dirty="0"/>
              <a:t>Side effects in object method invocations</a:t>
            </a:r>
          </a:p>
          <a:p>
            <a:pPr lvl="2" eaLnBrk="1" hangingPunct="1">
              <a:lnSpc>
                <a:spcPct val="90000"/>
              </a:lnSpc>
            </a:pPr>
            <a:r>
              <a:rPr lang="en-US" altLang="en-US" sz="2200" dirty="0"/>
              <a:t>Clean Code Vs Methods Invocation</a:t>
            </a:r>
          </a:p>
        </p:txBody>
      </p:sp>
      <p:sp>
        <p:nvSpPr>
          <p:cNvPr id="512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B4542134-A1B1-408E-822D-B1F891B4DFC3}" type="slidenum">
              <a:rPr lang="en-US" altLang="en-US" sz="1200">
                <a:latin typeface="Arial Black" panose="020B0A04020102020204" pitchFamily="34" charset="0"/>
              </a:rPr>
              <a:pPr>
                <a:spcBef>
                  <a:spcPct val="0"/>
                </a:spcBef>
                <a:buClrTx/>
                <a:buSzTx/>
                <a:buFontTx/>
                <a:buNone/>
              </a:pPr>
              <a:t>10</a:t>
            </a:fld>
            <a:endParaRPr lang="en-US" altLang="en-US" sz="1200">
              <a:latin typeface="Arial Black" panose="020B0A04020102020204" pitchFamily="34" charset="0"/>
            </a:endParaRPr>
          </a:p>
        </p:txBody>
      </p:sp>
      <p:pic>
        <p:nvPicPr>
          <p:cNvPr id="3" name="Picture 2">
            <a:extLst>
              <a:ext uri="{FF2B5EF4-FFF2-40B4-BE49-F238E27FC236}">
                <a16:creationId xmlns:a16="http://schemas.microsoft.com/office/drawing/2014/main" id="{E16FD9F6-C0BE-AF3B-686B-656CF1670F43}"/>
              </a:ext>
            </a:extLst>
          </p:cNvPr>
          <p:cNvPicPr>
            <a:picLocks noChangeAspect="1"/>
          </p:cNvPicPr>
          <p:nvPr/>
        </p:nvPicPr>
        <p:blipFill>
          <a:blip r:embed="rId3"/>
          <a:stretch>
            <a:fillRect/>
          </a:stretch>
        </p:blipFill>
        <p:spPr>
          <a:xfrm>
            <a:off x="8142291" y="0"/>
            <a:ext cx="4137017" cy="3768538"/>
          </a:xfrm>
          <a:prstGeom prst="rect">
            <a:avLst/>
          </a:prstGeom>
        </p:spPr>
      </p:pic>
    </p:spTree>
    <p:extLst>
      <p:ext uri="{BB962C8B-B14F-4D97-AF65-F5344CB8AC3E}">
        <p14:creationId xmlns:p14="http://schemas.microsoft.com/office/powerpoint/2010/main" val="3106896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en-US"/>
              <a:t>Clean Code</a:t>
            </a:r>
          </a:p>
        </p:txBody>
      </p:sp>
      <p:pic>
        <p:nvPicPr>
          <p:cNvPr id="717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477000" y="2910192"/>
            <a:ext cx="3733800" cy="1676400"/>
          </a:xfrm>
          <a:noFill/>
        </p:spPr>
      </p:pic>
      <p:sp>
        <p:nvSpPr>
          <p:cNvPr id="71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0EB0D961-7B95-4270-B56C-CBCC6AE0A097}" type="slidenum">
              <a:rPr lang="en-US" altLang="en-US" sz="1200">
                <a:latin typeface="Arial Black" panose="020B0A04020102020204" pitchFamily="34" charset="0"/>
              </a:rPr>
              <a:pPr>
                <a:spcBef>
                  <a:spcPct val="0"/>
                </a:spcBef>
                <a:buClrTx/>
                <a:buSzTx/>
                <a:buFontTx/>
                <a:buNone/>
              </a:pPr>
              <a:t>11</a:t>
            </a:fld>
            <a:endParaRPr lang="en-US" altLang="en-US" sz="1200">
              <a:latin typeface="Arial Black" panose="020B0A04020102020204" pitchFamily="34" charset="0"/>
            </a:endParaRPr>
          </a:p>
        </p:txBody>
      </p:sp>
      <p:sp>
        <p:nvSpPr>
          <p:cNvPr id="7173" name="Rectangle 5"/>
          <p:cNvSpPr>
            <a:spLocks noChangeArrowheads="1"/>
          </p:cNvSpPr>
          <p:nvPr/>
        </p:nvSpPr>
        <p:spPr bwMode="auto">
          <a:xfrm>
            <a:off x="2209800" y="5105400"/>
            <a:ext cx="7620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i="1" dirty="0">
                <a:latin typeface="Times" panose="02020603050405020304" pitchFamily="18" charset="0"/>
              </a:rPr>
              <a:t>“The first rule of functions is that they should be small. The second rule of functions is that they should be smaller than that.” — Robert C. Martin</a:t>
            </a:r>
            <a:endParaRPr lang="en-US" altLang="en-US" dirty="0">
              <a:latin typeface="Times" panose="02020603050405020304" pitchFamily="18" charset="0"/>
            </a:endParaRPr>
          </a:p>
        </p:txBody>
      </p:sp>
      <p:pic>
        <p:nvPicPr>
          <p:cNvPr id="717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447800"/>
            <a:ext cx="44958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494E2744-33F8-B872-2D82-EB134712168C}"/>
              </a:ext>
            </a:extLst>
          </p:cNvPr>
          <p:cNvPicPr>
            <a:picLocks noChangeAspect="1"/>
          </p:cNvPicPr>
          <p:nvPr/>
        </p:nvPicPr>
        <p:blipFill>
          <a:blip r:embed="rId5"/>
          <a:stretch>
            <a:fillRect/>
          </a:stretch>
        </p:blipFill>
        <p:spPr>
          <a:xfrm>
            <a:off x="6477000" y="379379"/>
            <a:ext cx="5442473" cy="2271409"/>
          </a:xfrm>
          <a:prstGeom prst="rect">
            <a:avLst/>
          </a:prstGeom>
        </p:spPr>
      </p:pic>
    </p:spTree>
    <p:extLst>
      <p:ext uri="{BB962C8B-B14F-4D97-AF65-F5344CB8AC3E}">
        <p14:creationId xmlns:p14="http://schemas.microsoft.com/office/powerpoint/2010/main" val="534100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a:t>Object-Oriented LL</a:t>
            </a:r>
          </a:p>
        </p:txBody>
      </p:sp>
      <p:sp>
        <p:nvSpPr>
          <p:cNvPr id="921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AA4AC260-96A5-4C28-B031-EE20CD88B53A}" type="slidenum">
              <a:rPr lang="en-US" altLang="en-US" sz="1200">
                <a:latin typeface="Arial Black" panose="020B0A04020102020204" pitchFamily="34" charset="0"/>
              </a:rPr>
              <a:pPr>
                <a:spcBef>
                  <a:spcPct val="0"/>
                </a:spcBef>
                <a:buClrTx/>
                <a:buSzTx/>
                <a:buFontTx/>
                <a:buNone/>
              </a:pPr>
              <a:t>12</a:t>
            </a:fld>
            <a:endParaRPr lang="en-US" altLang="en-US" sz="1200">
              <a:latin typeface="Arial Black" panose="020B0A04020102020204" pitchFamily="34" charset="0"/>
            </a:endParaRPr>
          </a:p>
        </p:txBody>
      </p:sp>
      <p:pic>
        <p:nvPicPr>
          <p:cNvPr id="9220" name="Picture 3" descr="objectOriented_U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712914"/>
            <a:ext cx="7742238"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6064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OO/LL in UML</a:t>
            </a:r>
          </a:p>
        </p:txBody>
      </p:sp>
      <p:sp>
        <p:nvSpPr>
          <p:cNvPr id="11267"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0E36CAE8-8FD0-44D2-B358-D39273FDC99D}" type="slidenum">
              <a:rPr lang="en-US" altLang="en-US" sz="1200">
                <a:latin typeface="Arial Black" panose="020B0A04020102020204" pitchFamily="34" charset="0"/>
              </a:rPr>
              <a:pPr>
                <a:spcBef>
                  <a:spcPct val="0"/>
                </a:spcBef>
                <a:buClrTx/>
                <a:buSzTx/>
                <a:buFontTx/>
                <a:buNone/>
              </a:pPr>
              <a:t>13</a:t>
            </a:fld>
            <a:endParaRPr lang="en-US" altLang="en-US" sz="1200">
              <a:latin typeface="Arial Black" panose="020B0A04020102020204" pitchFamily="34" charset="0"/>
            </a:endParaRPr>
          </a:p>
        </p:txBody>
      </p:sp>
      <p:pic>
        <p:nvPicPr>
          <p:cNvPr id="11268" name="Picture 3" descr="objectOriented_um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662114"/>
            <a:ext cx="7004050" cy="443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6068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en-US"/>
              <a:t>Layered Style</a:t>
            </a:r>
            <a:endParaRPr lang="en-US" altLang="en-US" b="0"/>
          </a:p>
        </p:txBody>
      </p:sp>
      <p:sp>
        <p:nvSpPr>
          <p:cNvPr id="12291" name="Rectangle 3"/>
          <p:cNvSpPr>
            <a:spLocks noGrp="1" noChangeArrowheads="1"/>
          </p:cNvSpPr>
          <p:nvPr>
            <p:ph idx="1"/>
          </p:nvPr>
        </p:nvSpPr>
        <p:spPr/>
        <p:txBody>
          <a:bodyPr/>
          <a:lstStyle/>
          <a:p>
            <a:pPr>
              <a:spcBef>
                <a:spcPts val="900"/>
              </a:spcBef>
            </a:pPr>
            <a:r>
              <a:rPr lang="en-US" altLang="en-US" dirty="0">
                <a:highlight>
                  <a:srgbClr val="FFFF00"/>
                </a:highlight>
              </a:rPr>
              <a:t>Hierarchical system organization</a:t>
            </a:r>
          </a:p>
          <a:p>
            <a:pPr lvl="1">
              <a:spcBef>
                <a:spcPts val="600"/>
              </a:spcBef>
            </a:pPr>
            <a:r>
              <a:rPr lang="en-US" altLang="en-US" dirty="0">
                <a:highlight>
                  <a:srgbClr val="FFFF00"/>
                </a:highlight>
              </a:rPr>
              <a:t>“Multi-level client-server”</a:t>
            </a:r>
          </a:p>
          <a:p>
            <a:pPr lvl="1">
              <a:spcBef>
                <a:spcPts val="600"/>
              </a:spcBef>
            </a:pPr>
            <a:r>
              <a:rPr lang="en-US" altLang="en-US" dirty="0">
                <a:highlight>
                  <a:srgbClr val="FFFF00"/>
                </a:highlight>
              </a:rPr>
              <a:t>Each layer exposes an interface (API) to be used by above layers</a:t>
            </a:r>
          </a:p>
          <a:p>
            <a:pPr>
              <a:spcBef>
                <a:spcPts val="900"/>
              </a:spcBef>
            </a:pPr>
            <a:r>
              <a:rPr lang="en-US" altLang="en-US" dirty="0">
                <a:highlight>
                  <a:srgbClr val="FFFF00"/>
                </a:highlight>
              </a:rPr>
              <a:t>Each layer acts as a</a:t>
            </a:r>
          </a:p>
          <a:p>
            <a:pPr lvl="1">
              <a:spcBef>
                <a:spcPts val="600"/>
              </a:spcBef>
            </a:pPr>
            <a:r>
              <a:rPr lang="en-US" altLang="en-US" i="1" dirty="0">
                <a:highlight>
                  <a:srgbClr val="FFFF00"/>
                </a:highlight>
              </a:rPr>
              <a:t>Server:</a:t>
            </a:r>
            <a:r>
              <a:rPr lang="en-US" altLang="en-US" dirty="0">
                <a:highlight>
                  <a:srgbClr val="FFFF00"/>
                </a:highlight>
              </a:rPr>
              <a:t> service provider to layers “above”</a:t>
            </a:r>
          </a:p>
          <a:p>
            <a:pPr lvl="1">
              <a:spcBef>
                <a:spcPts val="600"/>
              </a:spcBef>
            </a:pPr>
            <a:r>
              <a:rPr lang="en-US" altLang="en-US" i="1" dirty="0">
                <a:highlight>
                  <a:srgbClr val="FFFF00"/>
                </a:highlight>
              </a:rPr>
              <a:t>Client:</a:t>
            </a:r>
            <a:r>
              <a:rPr lang="en-US" altLang="en-US" dirty="0">
                <a:highlight>
                  <a:srgbClr val="FFFF00"/>
                </a:highlight>
              </a:rPr>
              <a:t> service consumer of layer(s) “below”</a:t>
            </a:r>
          </a:p>
          <a:p>
            <a:pPr>
              <a:spcBef>
                <a:spcPts val="900"/>
              </a:spcBef>
            </a:pPr>
            <a:r>
              <a:rPr lang="en-US" altLang="en-US" dirty="0">
                <a:highlight>
                  <a:srgbClr val="FFFF00"/>
                </a:highlight>
              </a:rPr>
              <a:t>Connectors are protocols of layer interaction</a:t>
            </a:r>
          </a:p>
          <a:p>
            <a:pPr>
              <a:spcBef>
                <a:spcPts val="900"/>
              </a:spcBef>
            </a:pPr>
            <a:r>
              <a:rPr lang="en-US" altLang="en-US" dirty="0">
                <a:highlight>
                  <a:srgbClr val="FFFF00"/>
                </a:highlight>
              </a:rPr>
              <a:t>Example: operating systems</a:t>
            </a:r>
          </a:p>
          <a:p>
            <a:pPr>
              <a:spcBef>
                <a:spcPts val="900"/>
              </a:spcBef>
            </a:pPr>
            <a:r>
              <a:rPr lang="en-US" altLang="en-US" i="1" dirty="0"/>
              <a:t>Virtual machine</a:t>
            </a:r>
            <a:r>
              <a:rPr lang="en-US" altLang="en-US" dirty="0"/>
              <a:t> style results from fully opaque layers</a:t>
            </a:r>
          </a:p>
        </p:txBody>
      </p:sp>
      <p:sp>
        <p:nvSpPr>
          <p:cNvPr id="1229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D1B7DF8B-54C6-4C0B-B156-2F15A22E1020}" type="slidenum">
              <a:rPr lang="en-US" altLang="en-US" sz="1200">
                <a:latin typeface="Arial Black" panose="020B0A04020102020204" pitchFamily="34" charset="0"/>
              </a:rPr>
              <a:pPr>
                <a:spcBef>
                  <a:spcPct val="0"/>
                </a:spcBef>
                <a:buClrTx/>
                <a:buSzTx/>
                <a:buFontTx/>
                <a:buNone/>
              </a:pPr>
              <a:t>14</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1578075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a:t>Layered Style</a:t>
            </a:r>
          </a:p>
        </p:txBody>
      </p:sp>
      <p:sp>
        <p:nvSpPr>
          <p:cNvPr id="14339" name="Slide Number Placeholder 3"/>
          <p:cNvSpPr>
            <a:spLocks noGrp="1"/>
          </p:cNvSpPr>
          <p:nvPr>
            <p:ph type="sldNum" sz="quarter" idx="11"/>
          </p:nvPr>
        </p:nvSpPr>
        <p:spPr>
          <a:xfrm>
            <a:off x="677334" y="6065837"/>
            <a:ext cx="6297612"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BF8D76C5-116C-4347-91E6-59D00A56C487}" type="slidenum">
              <a:rPr lang="en-US" altLang="en-US" sz="1200">
                <a:latin typeface="Arial Black" panose="020B0A04020102020204" pitchFamily="34" charset="0"/>
              </a:rPr>
              <a:pPr>
                <a:spcBef>
                  <a:spcPct val="0"/>
                </a:spcBef>
                <a:buClrTx/>
                <a:buSzTx/>
                <a:buFontTx/>
                <a:buNone/>
              </a:pPr>
              <a:t>15</a:t>
            </a:fld>
            <a:endParaRPr lang="en-US" altLang="en-US" sz="1200">
              <a:latin typeface="Arial Black" panose="020B0A04020102020204" pitchFamily="34" charset="0"/>
            </a:endParaRPr>
          </a:p>
        </p:txBody>
      </p:sp>
      <p:pic>
        <p:nvPicPr>
          <p:cNvPr id="1434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65326" y="1905001"/>
            <a:ext cx="7015163" cy="3559175"/>
          </a:xfrm>
          <a:noFill/>
        </p:spPr>
      </p:pic>
    </p:spTree>
    <p:extLst>
      <p:ext uri="{BB962C8B-B14F-4D97-AF65-F5344CB8AC3E}">
        <p14:creationId xmlns:p14="http://schemas.microsoft.com/office/powerpoint/2010/main" val="609686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a:t>Layered Style (cont’d)</a:t>
            </a:r>
          </a:p>
        </p:txBody>
      </p:sp>
      <p:sp>
        <p:nvSpPr>
          <p:cNvPr id="15363" name="Rectangle 3"/>
          <p:cNvSpPr>
            <a:spLocks noGrp="1" noChangeArrowheads="1"/>
          </p:cNvSpPr>
          <p:nvPr>
            <p:ph idx="1"/>
          </p:nvPr>
        </p:nvSpPr>
        <p:spPr>
          <a:xfrm>
            <a:off x="1981200" y="1905000"/>
            <a:ext cx="8229600" cy="4419600"/>
          </a:xfrm>
        </p:spPr>
        <p:txBody>
          <a:bodyPr/>
          <a:lstStyle/>
          <a:p>
            <a:pPr eaLnBrk="1" hangingPunct="1">
              <a:lnSpc>
                <a:spcPct val="90000"/>
              </a:lnSpc>
            </a:pPr>
            <a:r>
              <a:rPr lang="en-US" altLang="en-US" dirty="0"/>
              <a:t>Advantages</a:t>
            </a:r>
          </a:p>
          <a:p>
            <a:pPr lvl="1" eaLnBrk="1" hangingPunct="1">
              <a:lnSpc>
                <a:spcPct val="90000"/>
              </a:lnSpc>
            </a:pPr>
            <a:r>
              <a:rPr lang="en-US" altLang="en-US" dirty="0">
                <a:highlight>
                  <a:srgbClr val="FFFF00"/>
                </a:highlight>
              </a:rPr>
              <a:t>Increasing abstraction levels</a:t>
            </a:r>
          </a:p>
          <a:p>
            <a:pPr lvl="1" eaLnBrk="1" hangingPunct="1">
              <a:lnSpc>
                <a:spcPct val="90000"/>
              </a:lnSpc>
            </a:pPr>
            <a:r>
              <a:rPr lang="en-US" altLang="en-US" dirty="0"/>
              <a:t>Evolvability</a:t>
            </a:r>
          </a:p>
          <a:p>
            <a:pPr lvl="1" eaLnBrk="1" hangingPunct="1">
              <a:lnSpc>
                <a:spcPct val="90000"/>
              </a:lnSpc>
            </a:pPr>
            <a:r>
              <a:rPr lang="en-US" altLang="en-US" dirty="0">
                <a:highlight>
                  <a:srgbClr val="FFFF00"/>
                </a:highlight>
              </a:rPr>
              <a:t>Changes in a layer affect at most the adjacent two layers</a:t>
            </a:r>
          </a:p>
          <a:p>
            <a:pPr lvl="2" eaLnBrk="1" hangingPunct="1">
              <a:lnSpc>
                <a:spcPct val="90000"/>
              </a:lnSpc>
            </a:pPr>
            <a:r>
              <a:rPr lang="en-US" altLang="en-US" dirty="0"/>
              <a:t>Reuse</a:t>
            </a:r>
          </a:p>
          <a:p>
            <a:pPr lvl="1" eaLnBrk="1" hangingPunct="1">
              <a:lnSpc>
                <a:spcPct val="90000"/>
              </a:lnSpc>
            </a:pPr>
            <a:r>
              <a:rPr lang="en-US" altLang="en-US" dirty="0"/>
              <a:t>Different implementations of layer are allowed as long as interface is preserved</a:t>
            </a:r>
          </a:p>
          <a:p>
            <a:pPr lvl="1" eaLnBrk="1" hangingPunct="1">
              <a:lnSpc>
                <a:spcPct val="90000"/>
              </a:lnSpc>
            </a:pPr>
            <a:r>
              <a:rPr lang="en-US" altLang="en-US" dirty="0"/>
              <a:t>Standardized layer interfaces for libraries and frameworks</a:t>
            </a:r>
          </a:p>
        </p:txBody>
      </p:sp>
      <p:sp>
        <p:nvSpPr>
          <p:cNvPr id="1536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5520DDC8-CC1B-4A50-86EA-0CFFE64F1472}" type="slidenum">
              <a:rPr lang="en-US" altLang="en-US" sz="1200">
                <a:latin typeface="Arial Black" panose="020B0A04020102020204" pitchFamily="34" charset="0"/>
              </a:rPr>
              <a:pPr>
                <a:spcBef>
                  <a:spcPct val="0"/>
                </a:spcBef>
                <a:buClrTx/>
                <a:buSzTx/>
                <a:buFontTx/>
                <a:buNone/>
              </a:pPr>
              <a:t>16</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3274812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a:t>Layered Style (cont’d)</a:t>
            </a:r>
          </a:p>
        </p:txBody>
      </p:sp>
      <p:sp>
        <p:nvSpPr>
          <p:cNvPr id="17411" name="Rectangle 3"/>
          <p:cNvSpPr>
            <a:spLocks noGrp="1" noChangeArrowheads="1"/>
          </p:cNvSpPr>
          <p:nvPr>
            <p:ph idx="1"/>
          </p:nvPr>
        </p:nvSpPr>
        <p:spPr/>
        <p:txBody>
          <a:bodyPr/>
          <a:lstStyle/>
          <a:p>
            <a:pPr eaLnBrk="1" hangingPunct="1">
              <a:lnSpc>
                <a:spcPct val="90000"/>
              </a:lnSpc>
            </a:pPr>
            <a:r>
              <a:rPr lang="en-US" altLang="en-US" dirty="0"/>
              <a:t>Disadvantages</a:t>
            </a:r>
          </a:p>
          <a:p>
            <a:pPr lvl="1" eaLnBrk="1" hangingPunct="1">
              <a:lnSpc>
                <a:spcPct val="90000"/>
              </a:lnSpc>
            </a:pPr>
            <a:r>
              <a:rPr lang="en-US" altLang="en-US" dirty="0">
                <a:highlight>
                  <a:srgbClr val="FFFF00"/>
                </a:highlight>
              </a:rPr>
              <a:t>Not universally applicable</a:t>
            </a:r>
          </a:p>
          <a:p>
            <a:pPr lvl="1" eaLnBrk="1" hangingPunct="1">
              <a:lnSpc>
                <a:spcPct val="90000"/>
              </a:lnSpc>
            </a:pPr>
            <a:r>
              <a:rPr lang="en-US" altLang="en-US" dirty="0"/>
              <a:t>Performance</a:t>
            </a:r>
          </a:p>
          <a:p>
            <a:pPr eaLnBrk="1" hangingPunct="1">
              <a:lnSpc>
                <a:spcPct val="90000"/>
              </a:lnSpc>
            </a:pPr>
            <a:r>
              <a:rPr lang="en-US" altLang="en-US" dirty="0"/>
              <a:t>Layers may have to be skipped</a:t>
            </a:r>
          </a:p>
          <a:p>
            <a:pPr lvl="1" eaLnBrk="1" hangingPunct="1">
              <a:lnSpc>
                <a:spcPct val="90000"/>
              </a:lnSpc>
            </a:pPr>
            <a:r>
              <a:rPr lang="en-US" altLang="en-US" dirty="0"/>
              <a:t>Determining the correct abstraction level</a:t>
            </a:r>
          </a:p>
        </p:txBody>
      </p:sp>
      <p:sp>
        <p:nvSpPr>
          <p:cNvPr id="1741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9687A033-C07A-4576-BB71-0644167DFA90}" type="slidenum">
              <a:rPr lang="en-US" altLang="en-US" sz="1200">
                <a:latin typeface="Arial Black" panose="020B0A04020102020204" pitchFamily="34" charset="0"/>
              </a:rPr>
              <a:pPr>
                <a:spcBef>
                  <a:spcPct val="0"/>
                </a:spcBef>
                <a:buClrTx/>
                <a:buSzTx/>
                <a:buFontTx/>
                <a:buNone/>
              </a:pPr>
              <a:t>17</a:t>
            </a:fld>
            <a:endParaRPr lang="en-US" altLang="en-US" sz="1200">
              <a:latin typeface="Arial Black" panose="020B0A04020102020204" pitchFamily="34" charset="0"/>
            </a:endParaRPr>
          </a:p>
        </p:txBody>
      </p:sp>
      <p:pic>
        <p:nvPicPr>
          <p:cNvPr id="3" name="Picture 2">
            <a:extLst>
              <a:ext uri="{FF2B5EF4-FFF2-40B4-BE49-F238E27FC236}">
                <a16:creationId xmlns:a16="http://schemas.microsoft.com/office/drawing/2014/main" id="{543454E1-A046-7093-BC7D-2356CF8F5B07}"/>
              </a:ext>
            </a:extLst>
          </p:cNvPr>
          <p:cNvPicPr>
            <a:picLocks noChangeAspect="1"/>
          </p:cNvPicPr>
          <p:nvPr/>
        </p:nvPicPr>
        <p:blipFill>
          <a:blip r:embed="rId3"/>
          <a:stretch>
            <a:fillRect/>
          </a:stretch>
        </p:blipFill>
        <p:spPr>
          <a:xfrm>
            <a:off x="5986407" y="1554032"/>
            <a:ext cx="4457700" cy="3276600"/>
          </a:xfrm>
          <a:prstGeom prst="rect">
            <a:avLst/>
          </a:prstGeom>
        </p:spPr>
      </p:pic>
    </p:spTree>
    <p:extLst>
      <p:ext uri="{BB962C8B-B14F-4D97-AF65-F5344CB8AC3E}">
        <p14:creationId xmlns:p14="http://schemas.microsoft.com/office/powerpoint/2010/main" val="1129954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a:t>Layered Systems/Virtual Machines</a:t>
            </a:r>
          </a:p>
        </p:txBody>
      </p:sp>
      <p:sp>
        <p:nvSpPr>
          <p:cNvPr id="19459"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DB3E632C-8948-4BDA-AEDB-753D8BF9E758}" type="slidenum">
              <a:rPr lang="en-US" altLang="en-US" sz="1200">
                <a:latin typeface="Arial Black" panose="020B0A04020102020204" pitchFamily="34" charset="0"/>
              </a:rPr>
              <a:pPr>
                <a:spcBef>
                  <a:spcPct val="0"/>
                </a:spcBef>
                <a:buClrTx/>
                <a:buSzTx/>
                <a:buFontTx/>
                <a:buNone/>
              </a:pPr>
              <a:t>18</a:t>
            </a:fld>
            <a:endParaRPr lang="en-US" altLang="en-US" sz="1200">
              <a:latin typeface="Arial Black" panose="020B0A04020102020204" pitchFamily="34" charset="0"/>
            </a:endParaRPr>
          </a:p>
        </p:txBody>
      </p:sp>
      <p:pic>
        <p:nvPicPr>
          <p:cNvPr id="19460" name="Picture 3" descr="Fig4-10LayeredSystemsNotion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1689100"/>
            <a:ext cx="5105400"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5545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a:t>Layered LL</a:t>
            </a:r>
          </a:p>
        </p:txBody>
      </p:sp>
      <p:sp>
        <p:nvSpPr>
          <p:cNvPr id="20483"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08F3ADE1-0D58-4E34-A280-145D9EC94BE4}" type="slidenum">
              <a:rPr lang="en-US" altLang="en-US" sz="1200">
                <a:latin typeface="Arial Black" panose="020B0A04020102020204" pitchFamily="34" charset="0"/>
              </a:rPr>
              <a:pPr>
                <a:spcBef>
                  <a:spcPct val="0"/>
                </a:spcBef>
                <a:buClrTx/>
                <a:buSzTx/>
                <a:buFontTx/>
                <a:buNone/>
              </a:pPr>
              <a:t>19</a:t>
            </a:fld>
            <a:endParaRPr lang="en-US" altLang="en-US" sz="1200">
              <a:latin typeface="Arial Black" panose="020B0A04020102020204" pitchFamily="34" charset="0"/>
            </a:endParaRPr>
          </a:p>
        </p:txBody>
      </p:sp>
      <p:pic>
        <p:nvPicPr>
          <p:cNvPr id="20484" name="Picture 3" descr="layeredVM_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990600"/>
            <a:ext cx="2757488"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809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a:t>Client-Server Style</a:t>
            </a:r>
          </a:p>
        </p:txBody>
      </p:sp>
      <p:sp>
        <p:nvSpPr>
          <p:cNvPr id="21507" name="Rectangle 3"/>
          <p:cNvSpPr>
            <a:spLocks noGrp="1" noChangeArrowheads="1"/>
          </p:cNvSpPr>
          <p:nvPr>
            <p:ph idx="1"/>
          </p:nvPr>
        </p:nvSpPr>
        <p:spPr/>
        <p:txBody>
          <a:bodyPr/>
          <a:lstStyle/>
          <a:p>
            <a:pPr eaLnBrk="1" hangingPunct="1"/>
            <a:r>
              <a:rPr lang="en-US" altLang="en-US"/>
              <a:t>Components are clients and servers</a:t>
            </a:r>
          </a:p>
          <a:p>
            <a:pPr eaLnBrk="1" hangingPunct="1"/>
            <a:r>
              <a:rPr lang="en-US" altLang="en-US"/>
              <a:t>Servers do not know number or identities of clients</a:t>
            </a:r>
          </a:p>
          <a:p>
            <a:pPr eaLnBrk="1" hangingPunct="1"/>
            <a:r>
              <a:rPr lang="en-US" altLang="en-US"/>
              <a:t>Clients know server’s identity</a:t>
            </a:r>
          </a:p>
          <a:p>
            <a:pPr eaLnBrk="1" hangingPunct="1"/>
            <a:r>
              <a:rPr lang="en-US" altLang="en-US"/>
              <a:t>Connectors are RPC-based network interaction protocols</a:t>
            </a:r>
          </a:p>
        </p:txBody>
      </p:sp>
      <p:sp>
        <p:nvSpPr>
          <p:cNvPr id="2150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C08F768D-8F09-4268-BC3D-C0913FE890D3}" type="slidenum">
              <a:rPr lang="en-US" altLang="en-US" sz="1200">
                <a:latin typeface="Arial Black" panose="020B0A04020102020204" pitchFamily="34" charset="0"/>
              </a:rPr>
              <a:pPr>
                <a:spcBef>
                  <a:spcPct val="0"/>
                </a:spcBef>
                <a:buClrTx/>
                <a:buSzTx/>
                <a:buFontTx/>
                <a:buNone/>
              </a:pPr>
              <a:t>20</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748052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a:t>Client-Server LL</a:t>
            </a:r>
          </a:p>
        </p:txBody>
      </p:sp>
      <p:sp>
        <p:nvSpPr>
          <p:cNvPr id="23555"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9426F693-7ED3-413F-9BEB-6B236776E585}" type="slidenum">
              <a:rPr lang="en-US" altLang="en-US" sz="1200">
                <a:latin typeface="Arial Black" panose="020B0A04020102020204" pitchFamily="34" charset="0"/>
              </a:rPr>
              <a:pPr>
                <a:spcBef>
                  <a:spcPct val="0"/>
                </a:spcBef>
                <a:buClrTx/>
                <a:buSzTx/>
                <a:buFontTx/>
                <a:buNone/>
              </a:pPr>
              <a:t>21</a:t>
            </a:fld>
            <a:endParaRPr lang="en-US" altLang="en-US" sz="1200">
              <a:latin typeface="Arial Black" panose="020B0A04020102020204" pitchFamily="34" charset="0"/>
            </a:endParaRPr>
          </a:p>
        </p:txBody>
      </p:sp>
      <p:pic>
        <p:nvPicPr>
          <p:cNvPr id="23556" name="Picture 3" descr="clientServer_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8364" y="1993900"/>
            <a:ext cx="5375275" cy="408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5597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Layered Architecture</a:t>
            </a:r>
          </a:p>
        </p:txBody>
      </p:sp>
      <p:sp>
        <p:nvSpPr>
          <p:cNvPr id="3" name="Content Placeholder 2"/>
          <p:cNvSpPr>
            <a:spLocks noGrp="1"/>
          </p:cNvSpPr>
          <p:nvPr>
            <p:ph idx="1"/>
          </p:nvPr>
        </p:nvSpPr>
        <p:spPr>
          <a:xfrm>
            <a:off x="677334" y="2160589"/>
            <a:ext cx="8596668" cy="4122645"/>
          </a:xfrm>
        </p:spPr>
        <p:txBody>
          <a:bodyPr>
            <a:normAutofit fontScale="32500" lnSpcReduction="20000"/>
          </a:bodyPr>
          <a:lstStyle/>
          <a:p>
            <a:r>
              <a:rPr lang="en-US" sz="4800" b="1" dirty="0">
                <a:highlight>
                  <a:srgbClr val="FFFF00"/>
                </a:highlight>
              </a:rPr>
              <a:t>Context: </a:t>
            </a:r>
          </a:p>
          <a:p>
            <a:pPr lvl="1"/>
            <a:r>
              <a:rPr lang="en-US" sz="4400" dirty="0">
                <a:highlight>
                  <a:srgbClr val="FFFF00"/>
                </a:highlight>
              </a:rPr>
              <a:t>All complex systems experience the need to develop and evolve portions of the system independently. </a:t>
            </a:r>
          </a:p>
          <a:p>
            <a:pPr lvl="1"/>
            <a:r>
              <a:rPr lang="en-US" sz="4400" dirty="0"/>
              <a:t>For this reason the developers of the system need a clear and well-documented separation of concerns, so that modules of the system may be independently developed and maintained.</a:t>
            </a:r>
          </a:p>
          <a:p>
            <a:r>
              <a:rPr lang="en-US" sz="4800" b="1" dirty="0">
                <a:highlight>
                  <a:srgbClr val="FFFF00"/>
                </a:highlight>
              </a:rPr>
              <a:t>Problem: </a:t>
            </a:r>
          </a:p>
          <a:p>
            <a:pPr lvl="1"/>
            <a:r>
              <a:rPr lang="en-US" sz="4400" dirty="0"/>
              <a:t>The </a:t>
            </a:r>
            <a:r>
              <a:rPr lang="en-US" sz="4400" dirty="0">
                <a:highlight>
                  <a:srgbClr val="FFFF00"/>
                </a:highlight>
              </a:rPr>
              <a:t>software needs to be segmented in such a way that the modules </a:t>
            </a:r>
            <a:r>
              <a:rPr lang="en-US" sz="4800" dirty="0">
                <a:highlight>
                  <a:srgbClr val="FFFF00"/>
                </a:highlight>
              </a:rPr>
              <a:t>can be developed and evolved separately with little interaction among the parts</a:t>
            </a:r>
            <a:r>
              <a:rPr lang="en-US" sz="4800" dirty="0"/>
              <a:t>, </a:t>
            </a:r>
            <a:r>
              <a:rPr lang="en-US" sz="4800" dirty="0">
                <a:highlight>
                  <a:srgbClr val="FFFF00"/>
                </a:highlight>
              </a:rPr>
              <a:t>supporting portability, modifiability, and reuse.</a:t>
            </a:r>
          </a:p>
          <a:p>
            <a:r>
              <a:rPr lang="en-US" sz="4800" b="1" dirty="0">
                <a:highlight>
                  <a:srgbClr val="FFFF00"/>
                </a:highlight>
              </a:rPr>
              <a:t>Solution: </a:t>
            </a:r>
          </a:p>
          <a:p>
            <a:pPr lvl="1"/>
            <a:r>
              <a:rPr lang="en-US" sz="4400" dirty="0">
                <a:highlight>
                  <a:srgbClr val="FFFF00"/>
                </a:highlight>
              </a:rPr>
              <a:t>the layered pattern divides the software into units called layers. </a:t>
            </a:r>
          </a:p>
          <a:p>
            <a:pPr lvl="1"/>
            <a:r>
              <a:rPr lang="en-US" sz="4400" dirty="0">
                <a:highlight>
                  <a:srgbClr val="FFFF00"/>
                </a:highlight>
              </a:rPr>
              <a:t>Each layer is a grouping of modules that offers a cohesive set of services.</a:t>
            </a:r>
            <a:endParaRPr lang="en-US" sz="4000" dirty="0">
              <a:highlight>
                <a:srgbClr val="FFFF00"/>
              </a:highlight>
            </a:endParaRPr>
          </a:p>
          <a:p>
            <a:r>
              <a:rPr lang="en-US" sz="4800" dirty="0"/>
              <a:t>It is one of the most common techniques. </a:t>
            </a:r>
          </a:p>
          <a:p>
            <a:r>
              <a:rPr lang="en-US" sz="4800" dirty="0"/>
              <a:t>In a </a:t>
            </a:r>
            <a:r>
              <a:rPr lang="en-US" sz="4800" b="1" dirty="0"/>
              <a:t>layered architecture</a:t>
            </a:r>
            <a:r>
              <a:rPr lang="en-US" sz="4800" dirty="0"/>
              <a:t>, the software application is divided into various horizontal layers, with each layer located on top of a lower layer. </a:t>
            </a:r>
          </a:p>
          <a:p>
            <a:endParaRPr lang="en-US" dirty="0"/>
          </a:p>
        </p:txBody>
      </p:sp>
      <p:sp>
        <p:nvSpPr>
          <p:cNvPr id="4" name="Slide Number Placeholder 3"/>
          <p:cNvSpPr>
            <a:spLocks noGrp="1"/>
          </p:cNvSpPr>
          <p:nvPr>
            <p:ph type="sldNum" sz="quarter" idx="12"/>
          </p:nvPr>
        </p:nvSpPr>
        <p:spPr/>
        <p:txBody>
          <a:bodyPr/>
          <a:lstStyle/>
          <a:p>
            <a:fld id="{9DA1A1C2-73CC-4802-810A-2F9F3E278EFE}" type="slidenum">
              <a:rPr lang="en-US" smtClean="0"/>
              <a:t>22</a:t>
            </a:fld>
            <a:endParaRPr lang="en-US"/>
          </a:p>
        </p:txBody>
      </p:sp>
    </p:spTree>
    <p:extLst>
      <p:ext uri="{BB962C8B-B14F-4D97-AF65-F5344CB8AC3E}">
        <p14:creationId xmlns:p14="http://schemas.microsoft.com/office/powerpoint/2010/main" val="1997229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774178" y="1349829"/>
            <a:ext cx="10782960" cy="4212771"/>
          </a:xfrm>
          <a:prstGeom prst="rect">
            <a:avLst/>
          </a:prstGeom>
        </p:spPr>
      </p:pic>
      <p:sp>
        <p:nvSpPr>
          <p:cNvPr id="4" name="Slide Number Placeholder 3"/>
          <p:cNvSpPr>
            <a:spLocks noGrp="1"/>
          </p:cNvSpPr>
          <p:nvPr>
            <p:ph type="sldNum" sz="quarter" idx="12"/>
          </p:nvPr>
        </p:nvSpPr>
        <p:spPr/>
        <p:txBody>
          <a:bodyPr/>
          <a:lstStyle/>
          <a:p>
            <a:fld id="{9DA1A1C2-73CC-4802-810A-2F9F3E278EFE}" type="slidenum">
              <a:rPr lang="en-US" smtClean="0"/>
              <a:t>23</a:t>
            </a:fld>
            <a:endParaRPr lang="en-US"/>
          </a:p>
        </p:txBody>
      </p:sp>
    </p:spTree>
    <p:extLst>
      <p:ext uri="{BB962C8B-B14F-4D97-AF65-F5344CB8AC3E}">
        <p14:creationId xmlns:p14="http://schemas.microsoft.com/office/powerpoint/2010/main" val="417270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Open versus closed layers</a:t>
            </a:r>
          </a:p>
        </p:txBody>
      </p:sp>
      <p:sp>
        <p:nvSpPr>
          <p:cNvPr id="3" name="Content Placeholder 2"/>
          <p:cNvSpPr>
            <a:spLocks noGrp="1"/>
          </p:cNvSpPr>
          <p:nvPr>
            <p:ph idx="1"/>
          </p:nvPr>
        </p:nvSpPr>
        <p:spPr/>
        <p:txBody>
          <a:bodyPr>
            <a:noAutofit/>
          </a:bodyPr>
          <a:lstStyle/>
          <a:p>
            <a:pPr marL="457200" lvl="1" indent="0">
              <a:buNone/>
            </a:pPr>
            <a:r>
              <a:rPr lang="en-US" dirty="0"/>
              <a:t>With a closed layer, requests that are flowing down the stack from the layer above must go through it and cannot bypass it. </a:t>
            </a:r>
          </a:p>
          <a:p>
            <a:r>
              <a:rPr lang="en-US" sz="1600" dirty="0"/>
              <a:t>Example: </a:t>
            </a:r>
          </a:p>
          <a:p>
            <a:pPr lvl="1"/>
            <a:r>
              <a:rPr lang="en-US" dirty="0">
                <a:highlight>
                  <a:srgbClr val="FFFF00"/>
                </a:highlight>
              </a:rPr>
              <a:t>three-layer architecture with presentation, business, and data layers</a:t>
            </a:r>
          </a:p>
          <a:p>
            <a:pPr lvl="1"/>
            <a:r>
              <a:rPr lang="en-US" dirty="0"/>
              <a:t>if the business layer is closed, the presentation layer must send all requests to </a:t>
            </a:r>
            <a:br>
              <a:rPr lang="en-US" dirty="0"/>
            </a:br>
            <a:r>
              <a:rPr lang="en-US" dirty="0"/>
              <a:t>business layer and cannot bypass it to send a request directly to the data layer.</a:t>
            </a:r>
          </a:p>
          <a:p>
            <a:r>
              <a:rPr lang="en-US" sz="1600" dirty="0">
                <a:highlight>
                  <a:srgbClr val="FFFF00"/>
                </a:highlight>
              </a:rPr>
              <a:t>Closed layers provide layers of isolation, which makes code easier to change, write, and understand. </a:t>
            </a:r>
          </a:p>
          <a:p>
            <a:r>
              <a:rPr lang="en-US" sz="1600" dirty="0">
                <a:highlight>
                  <a:srgbClr val="FFFF00"/>
                </a:highlight>
              </a:rPr>
              <a:t>This makes the layers independent of each other, such that changes made to one layer of the application will not affect components in the other layers. </a:t>
            </a:r>
          </a:p>
          <a:p>
            <a:r>
              <a:rPr lang="en-US" sz="1600" dirty="0">
                <a:highlight>
                  <a:srgbClr val="FFFF00"/>
                </a:highlight>
              </a:rPr>
              <a:t>If the layers are open, this increases complexity. </a:t>
            </a:r>
          </a:p>
          <a:p>
            <a:r>
              <a:rPr lang="en-US" sz="1600" dirty="0">
                <a:highlight>
                  <a:srgbClr val="FFFF00"/>
                </a:highlight>
              </a:rPr>
              <a:t>Maintainability is lowered because multiple layers can now call into another layer, increasing the number of dependencies and making changes more difficult.</a:t>
            </a:r>
          </a:p>
        </p:txBody>
      </p:sp>
      <p:sp>
        <p:nvSpPr>
          <p:cNvPr id="4" name="Slide Number Placeholder 3"/>
          <p:cNvSpPr>
            <a:spLocks noGrp="1"/>
          </p:cNvSpPr>
          <p:nvPr>
            <p:ph type="sldNum" sz="quarter" idx="12"/>
          </p:nvPr>
        </p:nvSpPr>
        <p:spPr/>
        <p:txBody>
          <a:bodyPr/>
          <a:lstStyle/>
          <a:p>
            <a:fld id="{9DA1A1C2-73CC-4802-810A-2F9F3E278EFE}" type="slidenum">
              <a:rPr lang="en-US" smtClean="0"/>
              <a:t>24</a:t>
            </a:fld>
            <a:endParaRPr lang="en-US"/>
          </a:p>
        </p:txBody>
      </p:sp>
      <p:pic>
        <p:nvPicPr>
          <p:cNvPr id="6" name="Picture 5">
            <a:extLst>
              <a:ext uri="{FF2B5EF4-FFF2-40B4-BE49-F238E27FC236}">
                <a16:creationId xmlns:a16="http://schemas.microsoft.com/office/drawing/2014/main" id="{9E4ADCC2-416C-2C23-2B26-C4EC267D2171}"/>
              </a:ext>
            </a:extLst>
          </p:cNvPr>
          <p:cNvPicPr>
            <a:picLocks noChangeAspect="1"/>
          </p:cNvPicPr>
          <p:nvPr/>
        </p:nvPicPr>
        <p:blipFill>
          <a:blip r:embed="rId2"/>
          <a:stretch>
            <a:fillRect/>
          </a:stretch>
        </p:blipFill>
        <p:spPr>
          <a:xfrm>
            <a:off x="8905875" y="0"/>
            <a:ext cx="3286125" cy="3076575"/>
          </a:xfrm>
          <a:prstGeom prst="rect">
            <a:avLst/>
          </a:prstGeom>
        </p:spPr>
      </p:pic>
      <p:pic>
        <p:nvPicPr>
          <p:cNvPr id="8" name="Picture 7">
            <a:extLst>
              <a:ext uri="{FF2B5EF4-FFF2-40B4-BE49-F238E27FC236}">
                <a16:creationId xmlns:a16="http://schemas.microsoft.com/office/drawing/2014/main" id="{62F06B25-270A-7339-6B36-2DE9C35F9584}"/>
              </a:ext>
            </a:extLst>
          </p:cNvPr>
          <p:cNvPicPr>
            <a:picLocks noChangeAspect="1"/>
          </p:cNvPicPr>
          <p:nvPr/>
        </p:nvPicPr>
        <p:blipFill>
          <a:blip r:embed="rId3"/>
          <a:stretch>
            <a:fillRect/>
          </a:stretch>
        </p:blipFill>
        <p:spPr>
          <a:xfrm>
            <a:off x="8905875" y="3076575"/>
            <a:ext cx="3286125" cy="3162300"/>
          </a:xfrm>
          <a:prstGeom prst="rect">
            <a:avLst/>
          </a:prstGeom>
        </p:spPr>
      </p:pic>
    </p:spTree>
    <p:extLst>
      <p:ext uri="{BB962C8B-B14F-4D97-AF65-F5344CB8AC3E}">
        <p14:creationId xmlns:p14="http://schemas.microsoft.com/office/powerpoint/2010/main" val="2657987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Open versus closed layers</a:t>
            </a:r>
            <a:endParaRPr lang="en-US" dirty="0"/>
          </a:p>
        </p:txBody>
      </p:sp>
      <p:sp>
        <p:nvSpPr>
          <p:cNvPr id="3" name="Content Placeholder 2"/>
          <p:cNvSpPr>
            <a:spLocks noGrp="1"/>
          </p:cNvSpPr>
          <p:nvPr>
            <p:ph idx="1"/>
          </p:nvPr>
        </p:nvSpPr>
        <p:spPr/>
        <p:txBody>
          <a:bodyPr>
            <a:normAutofit fontScale="32500" lnSpcReduction="20000"/>
          </a:bodyPr>
          <a:lstStyle/>
          <a:p>
            <a:r>
              <a:rPr lang="en-US" sz="4800" dirty="0"/>
              <a:t>Unnecessary traffic can result when each layer must be passed even if one or more of them is just passing requests on to the next layer.</a:t>
            </a:r>
          </a:p>
          <a:p>
            <a:r>
              <a:rPr lang="en-US" sz="4800" dirty="0">
                <a:highlight>
                  <a:srgbClr val="FFFF00"/>
                </a:highlight>
              </a:rPr>
              <a:t>added a shared services layer between the business and data layers.</a:t>
            </a:r>
          </a:p>
          <a:p>
            <a:pPr lvl="1"/>
            <a:r>
              <a:rPr lang="en-US" sz="4400" dirty="0">
                <a:highlight>
                  <a:srgbClr val="FFFF00"/>
                </a:highlight>
              </a:rPr>
              <a:t>may contain reusable components needed by multiple components in the business layer. </a:t>
            </a:r>
          </a:p>
          <a:p>
            <a:pPr lvl="1"/>
            <a:r>
              <a:rPr lang="en-US" sz="4400" dirty="0">
                <a:highlight>
                  <a:srgbClr val="FFFF00"/>
                </a:highlight>
              </a:rPr>
              <a:t>placed it below the business layer so that only the business layer has access to it. </a:t>
            </a:r>
          </a:p>
          <a:p>
            <a:r>
              <a:rPr lang="en-US" sz="4800" dirty="0">
                <a:highlight>
                  <a:srgbClr val="FFFF00"/>
                </a:highlight>
              </a:rPr>
              <a:t>all requests from the business layer to the data layer must go through the shared services layer even though nothing is needed from that layer. </a:t>
            </a:r>
          </a:p>
          <a:p>
            <a:r>
              <a:rPr lang="en-US" sz="4800" dirty="0">
                <a:highlight>
                  <a:srgbClr val="FFFF00"/>
                </a:highlight>
              </a:rPr>
              <a:t>If the shared services layer was made open (aka layer bridging), requests to the data layer can be made directly from the business layer.</a:t>
            </a:r>
          </a:p>
          <a:p>
            <a:r>
              <a:rPr lang="en-US" sz="4800" dirty="0"/>
              <a:t>there are advantages to closed layers and achieving layers of isolation.</a:t>
            </a:r>
          </a:p>
          <a:p>
            <a:r>
              <a:rPr lang="en-US" sz="4800" dirty="0"/>
              <a:t>However, it might be appropriate to open a layer. </a:t>
            </a:r>
          </a:p>
          <a:p>
            <a:r>
              <a:rPr lang="en-US" sz="4800" dirty="0"/>
              <a:t>It is not necessary to make all of the layers open or closed. </a:t>
            </a:r>
          </a:p>
          <a:p>
            <a:r>
              <a:rPr lang="en-US" sz="4800" dirty="0"/>
              <a:t>You may selectively choose which layers, if any, are open.</a:t>
            </a:r>
            <a:endParaRPr lang="en-US" sz="4400" dirty="0"/>
          </a:p>
          <a:p>
            <a:endParaRPr lang="en-US" dirty="0"/>
          </a:p>
        </p:txBody>
      </p:sp>
      <p:sp>
        <p:nvSpPr>
          <p:cNvPr id="4" name="Rectangle 3"/>
          <p:cNvSpPr/>
          <p:nvPr/>
        </p:nvSpPr>
        <p:spPr>
          <a:xfrm>
            <a:off x="8952095" y="1839685"/>
            <a:ext cx="2939143" cy="1045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Presentation </a:t>
            </a:r>
          </a:p>
        </p:txBody>
      </p:sp>
      <p:sp>
        <p:nvSpPr>
          <p:cNvPr id="5" name="Rectangle 4"/>
          <p:cNvSpPr/>
          <p:nvPr/>
        </p:nvSpPr>
        <p:spPr>
          <a:xfrm>
            <a:off x="8960805" y="2884714"/>
            <a:ext cx="2939143" cy="1045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Business </a:t>
            </a:r>
          </a:p>
        </p:txBody>
      </p:sp>
      <p:grpSp>
        <p:nvGrpSpPr>
          <p:cNvPr id="10" name="Group 9"/>
          <p:cNvGrpSpPr/>
          <p:nvPr/>
        </p:nvGrpSpPr>
        <p:grpSpPr>
          <a:xfrm>
            <a:off x="8943385" y="1837660"/>
            <a:ext cx="2947853" cy="4170108"/>
            <a:chOff x="8943385" y="1837660"/>
            <a:chExt cx="2947853" cy="4170108"/>
          </a:xfrm>
        </p:grpSpPr>
        <p:sp>
          <p:nvSpPr>
            <p:cNvPr id="6" name="Rectangle 5"/>
            <p:cNvSpPr/>
            <p:nvPr/>
          </p:nvSpPr>
          <p:spPr>
            <a:xfrm>
              <a:off x="8943385" y="3917710"/>
              <a:ext cx="2939143" cy="104502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C00000"/>
                  </a:solidFill>
                </a:rPr>
                <a:t>Shared-Service </a:t>
              </a:r>
            </a:p>
          </p:txBody>
        </p:sp>
        <p:sp>
          <p:nvSpPr>
            <p:cNvPr id="7" name="Rectangle 6"/>
            <p:cNvSpPr/>
            <p:nvPr/>
          </p:nvSpPr>
          <p:spPr>
            <a:xfrm>
              <a:off x="8952095" y="4962739"/>
              <a:ext cx="2939143" cy="1045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Data </a:t>
              </a:r>
            </a:p>
          </p:txBody>
        </p:sp>
        <p:sp>
          <p:nvSpPr>
            <p:cNvPr id="8" name="Rectangle 7"/>
            <p:cNvSpPr/>
            <p:nvPr/>
          </p:nvSpPr>
          <p:spPr>
            <a:xfrm>
              <a:off x="8943385" y="1837660"/>
              <a:ext cx="2939143" cy="1045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Presentation </a:t>
              </a:r>
            </a:p>
          </p:txBody>
        </p:sp>
        <p:sp>
          <p:nvSpPr>
            <p:cNvPr id="9" name="Rectangle 8"/>
            <p:cNvSpPr/>
            <p:nvPr/>
          </p:nvSpPr>
          <p:spPr>
            <a:xfrm>
              <a:off x="8952095" y="2882689"/>
              <a:ext cx="2939143" cy="1045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Business </a:t>
              </a:r>
            </a:p>
          </p:txBody>
        </p:sp>
      </p:grpSp>
      <p:sp>
        <p:nvSpPr>
          <p:cNvPr id="11" name="Slide Number Placeholder 10"/>
          <p:cNvSpPr>
            <a:spLocks noGrp="1"/>
          </p:cNvSpPr>
          <p:nvPr>
            <p:ph type="sldNum" sz="quarter" idx="12"/>
          </p:nvPr>
        </p:nvSpPr>
        <p:spPr/>
        <p:txBody>
          <a:bodyPr/>
          <a:lstStyle/>
          <a:p>
            <a:fld id="{9DA1A1C2-73CC-4802-810A-2F9F3E278EFE}" type="slidenum">
              <a:rPr lang="en-US" smtClean="0"/>
              <a:t>25</a:t>
            </a:fld>
            <a:endParaRPr lang="en-US"/>
          </a:p>
        </p:txBody>
      </p:sp>
    </p:spTree>
    <p:extLst>
      <p:ext uri="{BB962C8B-B14F-4D97-AF65-F5344CB8AC3E}">
        <p14:creationId xmlns:p14="http://schemas.microsoft.com/office/powerpoint/2010/main" val="3604709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Layered Architecture</a:t>
            </a:r>
          </a:p>
        </p:txBody>
      </p:sp>
      <p:sp>
        <p:nvSpPr>
          <p:cNvPr id="3" name="Content Placeholder 2"/>
          <p:cNvSpPr>
            <a:spLocks noGrp="1"/>
          </p:cNvSpPr>
          <p:nvPr>
            <p:ph idx="1"/>
          </p:nvPr>
        </p:nvSpPr>
        <p:spPr/>
        <p:txBody>
          <a:bodyPr>
            <a:normAutofit fontScale="40000" lnSpcReduction="20000"/>
          </a:bodyPr>
          <a:lstStyle/>
          <a:p>
            <a:r>
              <a:rPr lang="en-US" sz="4400" dirty="0"/>
              <a:t>Layers – Logical separation</a:t>
            </a:r>
          </a:p>
          <a:p>
            <a:r>
              <a:rPr lang="en-US" sz="4400" dirty="0"/>
              <a:t>Tiers – Physical separation</a:t>
            </a:r>
          </a:p>
          <a:p>
            <a:r>
              <a:rPr lang="en-US" sz="4400" dirty="0"/>
              <a:t>When partitioning application logic, layers are a way to organize functionality and components. </a:t>
            </a:r>
          </a:p>
          <a:p>
            <a:pPr lvl="1"/>
            <a:r>
              <a:rPr lang="en-US" sz="4000" dirty="0"/>
              <a:t>For example, in a three-layered architecture, the logic may be separated into </a:t>
            </a:r>
            <a:r>
              <a:rPr lang="en-US" sz="4400" dirty="0"/>
              <a:t>presentation, business, and data layers. </a:t>
            </a:r>
          </a:p>
          <a:p>
            <a:r>
              <a:rPr lang="en-US" sz="4800" dirty="0">
                <a:highlight>
                  <a:srgbClr val="FFFF00"/>
                </a:highlight>
              </a:rPr>
              <a:t>When a software architecture is organized into </a:t>
            </a:r>
            <a:r>
              <a:rPr lang="en-US" sz="4400" dirty="0">
                <a:highlight>
                  <a:srgbClr val="FFFF00"/>
                </a:highlight>
              </a:rPr>
              <a:t>more than one layer, it is known as a </a:t>
            </a:r>
            <a:r>
              <a:rPr lang="en-US" sz="4400" b="1" dirty="0">
                <a:highlight>
                  <a:srgbClr val="FFFF00"/>
                </a:highlight>
              </a:rPr>
              <a:t>multi-layer architecture</a:t>
            </a:r>
            <a:r>
              <a:rPr lang="en-US" sz="4400" dirty="0">
                <a:highlight>
                  <a:srgbClr val="FFFF00"/>
                </a:highlight>
              </a:rPr>
              <a:t>. </a:t>
            </a:r>
          </a:p>
          <a:p>
            <a:r>
              <a:rPr lang="en-US" sz="4400" dirty="0">
                <a:highlight>
                  <a:srgbClr val="FFFF00"/>
                </a:highlight>
              </a:rPr>
              <a:t>Different layers do not necessarily have to be located on different physical machines. </a:t>
            </a:r>
          </a:p>
          <a:p>
            <a:r>
              <a:rPr lang="en-US" sz="4400" dirty="0"/>
              <a:t>It is possible to have multiple layers on the same machine.</a:t>
            </a:r>
          </a:p>
          <a:p>
            <a:r>
              <a:rPr lang="en-US" sz="4800" dirty="0"/>
              <a:t>Tiers concern themselves with the physical location of the functionality and components. </a:t>
            </a:r>
          </a:p>
        </p:txBody>
      </p:sp>
      <p:sp>
        <p:nvSpPr>
          <p:cNvPr id="5" name="Rectangle 4"/>
          <p:cNvSpPr/>
          <p:nvPr/>
        </p:nvSpPr>
        <p:spPr>
          <a:xfrm>
            <a:off x="9109164" y="2160589"/>
            <a:ext cx="2939143" cy="1045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Presentation </a:t>
            </a:r>
          </a:p>
        </p:txBody>
      </p:sp>
      <p:sp>
        <p:nvSpPr>
          <p:cNvPr id="6" name="Rectangle 5"/>
          <p:cNvSpPr/>
          <p:nvPr/>
        </p:nvSpPr>
        <p:spPr>
          <a:xfrm>
            <a:off x="9109164" y="3205618"/>
            <a:ext cx="2939143" cy="1045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Business </a:t>
            </a:r>
          </a:p>
        </p:txBody>
      </p:sp>
      <p:sp>
        <p:nvSpPr>
          <p:cNvPr id="7" name="Rectangle 6"/>
          <p:cNvSpPr/>
          <p:nvPr/>
        </p:nvSpPr>
        <p:spPr>
          <a:xfrm>
            <a:off x="9109164" y="4250647"/>
            <a:ext cx="2939143" cy="1045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Data </a:t>
            </a:r>
          </a:p>
        </p:txBody>
      </p:sp>
      <p:sp>
        <p:nvSpPr>
          <p:cNvPr id="4" name="Slide Number Placeholder 3"/>
          <p:cNvSpPr>
            <a:spLocks noGrp="1"/>
          </p:cNvSpPr>
          <p:nvPr>
            <p:ph type="sldNum" sz="quarter" idx="12"/>
          </p:nvPr>
        </p:nvSpPr>
        <p:spPr/>
        <p:txBody>
          <a:bodyPr/>
          <a:lstStyle/>
          <a:p>
            <a:fld id="{9DA1A1C2-73CC-4802-810A-2F9F3E278EFE}" type="slidenum">
              <a:rPr lang="en-US" smtClean="0"/>
              <a:t>26</a:t>
            </a:fld>
            <a:endParaRPr lang="en-US"/>
          </a:p>
        </p:txBody>
      </p:sp>
      <p:pic>
        <p:nvPicPr>
          <p:cNvPr id="9" name="Picture 8">
            <a:extLst>
              <a:ext uri="{FF2B5EF4-FFF2-40B4-BE49-F238E27FC236}">
                <a16:creationId xmlns:a16="http://schemas.microsoft.com/office/drawing/2014/main" id="{B6A6C3EF-E8D2-79AF-B0CA-43DB1DD0FF1A}"/>
              </a:ext>
            </a:extLst>
          </p:cNvPr>
          <p:cNvPicPr>
            <a:picLocks noChangeAspect="1"/>
          </p:cNvPicPr>
          <p:nvPr/>
        </p:nvPicPr>
        <p:blipFill>
          <a:blip r:embed="rId2"/>
          <a:stretch>
            <a:fillRect/>
          </a:stretch>
        </p:blipFill>
        <p:spPr>
          <a:xfrm>
            <a:off x="7800975" y="89575"/>
            <a:ext cx="4391025" cy="1828800"/>
          </a:xfrm>
          <a:prstGeom prst="rect">
            <a:avLst/>
          </a:prstGeom>
        </p:spPr>
      </p:pic>
    </p:spTree>
    <p:extLst>
      <p:ext uri="{BB962C8B-B14F-4D97-AF65-F5344CB8AC3E}">
        <p14:creationId xmlns:p14="http://schemas.microsoft.com/office/powerpoint/2010/main" val="2971147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Layered Architecture</a:t>
            </a:r>
          </a:p>
        </p:txBody>
      </p:sp>
      <p:sp>
        <p:nvSpPr>
          <p:cNvPr id="3" name="Content Placeholder 2"/>
          <p:cNvSpPr>
            <a:spLocks noGrp="1"/>
          </p:cNvSpPr>
          <p:nvPr>
            <p:ph idx="1"/>
          </p:nvPr>
        </p:nvSpPr>
        <p:spPr/>
        <p:txBody>
          <a:bodyPr/>
          <a:lstStyle/>
          <a:p>
            <a:endParaRPr lang="en-US" dirty="0">
              <a:solidFill>
                <a:schemeClr val="tx1"/>
              </a:solidFill>
            </a:endParaRPr>
          </a:p>
          <a:p>
            <a:r>
              <a:rPr lang="en-US" dirty="0">
                <a:highlight>
                  <a:srgbClr val="FFFF00"/>
                </a:highlight>
              </a:rPr>
              <a:t>A three-tiered architecture with presentation, business, and data tiers implies that those three tiers have been physically deployed to three separate machines and are each running on those separate machines. </a:t>
            </a:r>
          </a:p>
          <a:p>
            <a:endParaRPr lang="en-US" dirty="0">
              <a:solidFill>
                <a:schemeClr val="tx1"/>
              </a:solidFill>
              <a:highlight>
                <a:srgbClr val="FFFF00"/>
              </a:highlight>
            </a:endParaRPr>
          </a:p>
          <a:p>
            <a:r>
              <a:rPr lang="en-US" sz="2000" dirty="0">
                <a:highlight>
                  <a:srgbClr val="FFFF00"/>
                </a:highlight>
              </a:rPr>
              <a:t>When a software architecture is partitioned into multiple tiers, it is known as a </a:t>
            </a:r>
            <a:r>
              <a:rPr lang="en-US" sz="2000" b="1" dirty="0">
                <a:highlight>
                  <a:srgbClr val="FFFF00"/>
                </a:highlight>
              </a:rPr>
              <a:t>multi-tier architecture</a:t>
            </a:r>
            <a:r>
              <a:rPr lang="en-US" sz="2000" dirty="0"/>
              <a:t>.</a:t>
            </a:r>
            <a:endParaRPr lang="en-US" dirty="0"/>
          </a:p>
          <a:p>
            <a:endParaRPr lang="en-US" dirty="0"/>
          </a:p>
        </p:txBody>
      </p:sp>
      <p:pic>
        <p:nvPicPr>
          <p:cNvPr id="4" name="Picture 3"/>
          <p:cNvPicPr>
            <a:picLocks noChangeAspect="1"/>
          </p:cNvPicPr>
          <p:nvPr/>
        </p:nvPicPr>
        <p:blipFill>
          <a:blip r:embed="rId2"/>
          <a:stretch>
            <a:fillRect/>
          </a:stretch>
        </p:blipFill>
        <p:spPr>
          <a:xfrm>
            <a:off x="9274002" y="1930400"/>
            <a:ext cx="2607081" cy="3373363"/>
          </a:xfrm>
          <a:prstGeom prst="rect">
            <a:avLst/>
          </a:prstGeom>
        </p:spPr>
      </p:pic>
      <p:sp>
        <p:nvSpPr>
          <p:cNvPr id="5" name="Slide Number Placeholder 4"/>
          <p:cNvSpPr>
            <a:spLocks noGrp="1"/>
          </p:cNvSpPr>
          <p:nvPr>
            <p:ph type="sldNum" sz="quarter" idx="12"/>
          </p:nvPr>
        </p:nvSpPr>
        <p:spPr/>
        <p:txBody>
          <a:bodyPr/>
          <a:lstStyle/>
          <a:p>
            <a:fld id="{9DA1A1C2-73CC-4802-810A-2F9F3E278EFE}" type="slidenum">
              <a:rPr lang="en-US" smtClean="0"/>
              <a:t>27</a:t>
            </a:fld>
            <a:endParaRPr lang="en-US"/>
          </a:p>
        </p:txBody>
      </p:sp>
    </p:spTree>
    <p:extLst>
      <p:ext uri="{BB962C8B-B14F-4D97-AF65-F5344CB8AC3E}">
        <p14:creationId xmlns:p14="http://schemas.microsoft.com/office/powerpoint/2010/main" val="1688269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40377"/>
          </a:xfrm>
        </p:spPr>
        <p:txBody>
          <a:bodyPr/>
          <a:lstStyle/>
          <a:p>
            <a:r>
              <a:rPr lang="en-US" b="1" dirty="0"/>
              <a:t>Advantages of layered architectures</a:t>
            </a:r>
          </a:p>
        </p:txBody>
      </p:sp>
      <p:sp>
        <p:nvSpPr>
          <p:cNvPr id="3" name="Content Placeholder 2"/>
          <p:cNvSpPr>
            <a:spLocks noGrp="1"/>
          </p:cNvSpPr>
          <p:nvPr>
            <p:ph idx="1"/>
          </p:nvPr>
        </p:nvSpPr>
        <p:spPr>
          <a:xfrm>
            <a:off x="677334" y="1567543"/>
            <a:ext cx="8596668" cy="4473819"/>
          </a:xfrm>
        </p:spPr>
        <p:txBody>
          <a:bodyPr>
            <a:normAutofit fontScale="40000" lnSpcReduction="20000"/>
          </a:bodyPr>
          <a:lstStyle/>
          <a:p>
            <a:endParaRPr lang="en-US" sz="4400" dirty="0">
              <a:solidFill>
                <a:schemeClr val="tx1"/>
              </a:solidFill>
            </a:endParaRPr>
          </a:p>
          <a:p>
            <a:r>
              <a:rPr lang="en-US" sz="4400" dirty="0"/>
              <a:t>This pattern </a:t>
            </a:r>
            <a:r>
              <a:rPr lang="en-US" sz="4400" dirty="0">
                <a:highlight>
                  <a:srgbClr val="FFFF00"/>
                </a:highlight>
              </a:rPr>
              <a:t>reduces complexity by achieving a Separation of Concerns (</a:t>
            </a:r>
            <a:r>
              <a:rPr lang="en-US" sz="4400" dirty="0" err="1">
                <a:highlight>
                  <a:srgbClr val="FFFF00"/>
                </a:highlight>
              </a:rPr>
              <a:t>SoC</a:t>
            </a:r>
            <a:r>
              <a:rPr lang="en-US" sz="4400" dirty="0">
                <a:highlight>
                  <a:srgbClr val="FFFF00"/>
                </a:highlight>
              </a:rPr>
              <a:t>). </a:t>
            </a:r>
          </a:p>
          <a:p>
            <a:pPr lvl="1"/>
            <a:r>
              <a:rPr lang="en-US" sz="4000" dirty="0"/>
              <a:t>Each layer is independent and you can understand it on its own without the other layers. </a:t>
            </a:r>
          </a:p>
          <a:p>
            <a:pPr lvl="1"/>
            <a:r>
              <a:rPr lang="en-US" sz="4000" dirty="0"/>
              <a:t>Complexity can be abstracted away in a layered application, allowing us to deal with more complex problems.</a:t>
            </a:r>
          </a:p>
          <a:p>
            <a:r>
              <a:rPr lang="en-US" sz="4400" dirty="0">
                <a:highlight>
                  <a:srgbClr val="FFFF00"/>
                </a:highlight>
              </a:rPr>
              <a:t>Dependencies between layers can be minimized </a:t>
            </a:r>
            <a:r>
              <a:rPr lang="en-US" sz="4400" dirty="0"/>
              <a:t>in a layered architecture, which further reduces complexity. </a:t>
            </a:r>
          </a:p>
          <a:p>
            <a:pPr lvl="1"/>
            <a:r>
              <a:rPr lang="en-US" sz="4000" dirty="0"/>
              <a:t>For example, the presentation layer does not need to depend directly on the data layer and the business layer does not depend on the presentation layer.</a:t>
            </a:r>
          </a:p>
          <a:p>
            <a:r>
              <a:rPr lang="en-US" sz="4400" dirty="0"/>
              <a:t>Minimizing dependencies also allows you to substitute implementations for a particular layer without affecting the other layers.</a:t>
            </a:r>
          </a:p>
          <a:p>
            <a:endParaRPr lang="en-US" sz="4400" dirty="0"/>
          </a:p>
        </p:txBody>
      </p:sp>
      <p:sp>
        <p:nvSpPr>
          <p:cNvPr id="4" name="Slide Number Placeholder 3"/>
          <p:cNvSpPr>
            <a:spLocks noGrp="1"/>
          </p:cNvSpPr>
          <p:nvPr>
            <p:ph type="sldNum" sz="quarter" idx="12"/>
          </p:nvPr>
        </p:nvSpPr>
        <p:spPr/>
        <p:txBody>
          <a:bodyPr/>
          <a:lstStyle/>
          <a:p>
            <a:fld id="{9DA1A1C2-73CC-4802-810A-2F9F3E278EFE}" type="slidenum">
              <a:rPr lang="en-US" smtClean="0"/>
              <a:t>28</a:t>
            </a:fld>
            <a:endParaRPr lang="en-US"/>
          </a:p>
        </p:txBody>
      </p:sp>
      <p:pic>
        <p:nvPicPr>
          <p:cNvPr id="6" name="Picture 5">
            <a:extLst>
              <a:ext uri="{FF2B5EF4-FFF2-40B4-BE49-F238E27FC236}">
                <a16:creationId xmlns:a16="http://schemas.microsoft.com/office/drawing/2014/main" id="{A9FB0CF4-6DF1-DA9B-F529-3D6413EC5705}"/>
              </a:ext>
            </a:extLst>
          </p:cNvPr>
          <p:cNvPicPr>
            <a:picLocks noChangeAspect="1"/>
          </p:cNvPicPr>
          <p:nvPr/>
        </p:nvPicPr>
        <p:blipFill>
          <a:blip r:embed="rId2"/>
          <a:stretch>
            <a:fillRect/>
          </a:stretch>
        </p:blipFill>
        <p:spPr>
          <a:xfrm>
            <a:off x="8048625" y="4686300"/>
            <a:ext cx="4143375" cy="1562100"/>
          </a:xfrm>
          <a:prstGeom prst="rect">
            <a:avLst/>
          </a:prstGeom>
        </p:spPr>
      </p:pic>
    </p:spTree>
    <p:extLst>
      <p:ext uri="{BB962C8B-B14F-4D97-AF65-F5344CB8AC3E}">
        <p14:creationId xmlns:p14="http://schemas.microsoft.com/office/powerpoint/2010/main" val="409230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layered architectures</a:t>
            </a:r>
            <a:endParaRPr lang="en-US" dirty="0"/>
          </a:p>
        </p:txBody>
      </p:sp>
      <p:sp>
        <p:nvSpPr>
          <p:cNvPr id="3" name="Content Placeholder 2"/>
          <p:cNvSpPr>
            <a:spLocks noGrp="1"/>
          </p:cNvSpPr>
          <p:nvPr>
            <p:ph idx="1"/>
          </p:nvPr>
        </p:nvSpPr>
        <p:spPr/>
        <p:txBody>
          <a:bodyPr>
            <a:normAutofit fontScale="47500" lnSpcReduction="20000"/>
          </a:bodyPr>
          <a:lstStyle/>
          <a:p>
            <a:endParaRPr lang="en-US" sz="4400" dirty="0">
              <a:solidFill>
                <a:schemeClr val="tx1"/>
              </a:solidFill>
            </a:endParaRPr>
          </a:p>
          <a:p>
            <a:r>
              <a:rPr lang="en-US" sz="4400" dirty="0"/>
              <a:t>they can </a:t>
            </a:r>
            <a:r>
              <a:rPr lang="en-US" sz="4400" dirty="0">
                <a:highlight>
                  <a:srgbClr val="FFFF00"/>
                </a:highlight>
              </a:rPr>
              <a:t>make development easier. </a:t>
            </a:r>
          </a:p>
          <a:p>
            <a:pPr lvl="1"/>
            <a:r>
              <a:rPr lang="en-US" sz="4000" dirty="0"/>
              <a:t>The pattern is pervasive and well known to many developers, which makes using it easy for the development team. </a:t>
            </a:r>
          </a:p>
          <a:p>
            <a:pPr lvl="1"/>
            <a:r>
              <a:rPr lang="en-US" sz="4000" dirty="0"/>
              <a:t>Due to the way that the architecture separates the application logic, it matches up well with how many organizations hire their resources and allocate tasks during a project. </a:t>
            </a:r>
          </a:p>
          <a:p>
            <a:pPr lvl="1"/>
            <a:r>
              <a:rPr lang="en-US" sz="4000" dirty="0"/>
              <a:t>Each layer requires a particular skill set and suitable resources can be assigned to work on each layer. </a:t>
            </a:r>
          </a:p>
          <a:p>
            <a:endParaRPr lang="en-US" sz="4400" dirty="0">
              <a:solidFill>
                <a:schemeClr val="tx1"/>
              </a:solidFill>
            </a:endParaRPr>
          </a:p>
          <a:p>
            <a:pPr lvl="2"/>
            <a:r>
              <a:rPr lang="en-US" sz="3600" dirty="0"/>
              <a:t>For example, UI developers for the </a:t>
            </a:r>
            <a:r>
              <a:rPr lang="en-US" sz="4000" dirty="0"/>
              <a:t>presentation layer, and backend developers for the business and data layers.</a:t>
            </a:r>
          </a:p>
          <a:p>
            <a:endParaRPr lang="en-US" dirty="0"/>
          </a:p>
        </p:txBody>
      </p:sp>
      <p:sp>
        <p:nvSpPr>
          <p:cNvPr id="4" name="Slide Number Placeholder 3"/>
          <p:cNvSpPr>
            <a:spLocks noGrp="1"/>
          </p:cNvSpPr>
          <p:nvPr>
            <p:ph type="sldNum" sz="quarter" idx="12"/>
          </p:nvPr>
        </p:nvSpPr>
        <p:spPr/>
        <p:txBody>
          <a:bodyPr/>
          <a:lstStyle/>
          <a:p>
            <a:fld id="{9DA1A1C2-73CC-4802-810A-2F9F3E278EFE}" type="slidenum">
              <a:rPr lang="en-US" smtClean="0"/>
              <a:t>29</a:t>
            </a:fld>
            <a:endParaRPr lang="en-US"/>
          </a:p>
        </p:txBody>
      </p:sp>
    </p:spTree>
    <p:extLst>
      <p:ext uri="{BB962C8B-B14F-4D97-AF65-F5344CB8AC3E}">
        <p14:creationId xmlns:p14="http://schemas.microsoft.com/office/powerpoint/2010/main" val="2539647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53193"/>
          </a:xfrm>
        </p:spPr>
        <p:txBody>
          <a:bodyPr/>
          <a:lstStyle/>
          <a:p>
            <a:r>
              <a:rPr lang="en-US" b="1" dirty="0"/>
              <a:t>Advantages of Layered Architectures</a:t>
            </a:r>
            <a:endParaRPr lang="en-US" dirty="0"/>
          </a:p>
        </p:txBody>
      </p:sp>
      <p:sp>
        <p:nvSpPr>
          <p:cNvPr id="3" name="Content Placeholder 2"/>
          <p:cNvSpPr>
            <a:spLocks noGrp="1"/>
          </p:cNvSpPr>
          <p:nvPr>
            <p:ph idx="1"/>
          </p:nvPr>
        </p:nvSpPr>
        <p:spPr>
          <a:xfrm>
            <a:off x="677334" y="1562793"/>
            <a:ext cx="8596668" cy="4904509"/>
          </a:xfrm>
        </p:spPr>
        <p:txBody>
          <a:bodyPr>
            <a:noAutofit/>
          </a:bodyPr>
          <a:lstStyle/>
          <a:p>
            <a:r>
              <a:rPr lang="en-US" dirty="0"/>
              <a:t>This architecture pattern </a:t>
            </a:r>
            <a:r>
              <a:rPr lang="en-US" dirty="0">
                <a:highlight>
                  <a:srgbClr val="FFFF00"/>
                </a:highlight>
              </a:rPr>
              <a:t>increases the testability quality attribute of software applications.</a:t>
            </a:r>
          </a:p>
          <a:p>
            <a:pPr lvl="1"/>
            <a:r>
              <a:rPr lang="en-US" sz="1800" dirty="0"/>
              <a:t>Partitioning the application into layers and using interfaces for the interaction between layers allows us to isolate a layer for testing and either mock or stub the other layers. </a:t>
            </a:r>
          </a:p>
          <a:p>
            <a:pPr lvl="2"/>
            <a:r>
              <a:rPr lang="en-US" sz="1800" dirty="0"/>
              <a:t>For example, </a:t>
            </a:r>
            <a:r>
              <a:rPr lang="en-US" sz="1800" dirty="0">
                <a:highlight>
                  <a:srgbClr val="FFFF00"/>
                </a:highlight>
              </a:rPr>
              <a:t>you can perform unit testing on classes in your business layer without the presentation and data layers. </a:t>
            </a:r>
          </a:p>
          <a:p>
            <a:pPr lvl="2"/>
            <a:r>
              <a:rPr lang="en-US" sz="1800" dirty="0"/>
              <a:t>The business layer is not dependent on the presentation layer and the data layer can be mocked or stubbed.</a:t>
            </a:r>
          </a:p>
          <a:p>
            <a:r>
              <a:rPr lang="en-US" dirty="0">
                <a:highlight>
                  <a:srgbClr val="FFFF00"/>
                </a:highlight>
              </a:rPr>
              <a:t>Applications using a layered architecture may have higher levels of reusability </a:t>
            </a:r>
            <a:r>
              <a:rPr lang="en-US" dirty="0"/>
              <a:t>if more than one application can reuse the same layer. </a:t>
            </a:r>
          </a:p>
          <a:p>
            <a:pPr lvl="1"/>
            <a:r>
              <a:rPr lang="en-US" sz="1800" dirty="0"/>
              <a:t>For example, if multiple applications target the same business and/or data layers, those layers are reusable.</a:t>
            </a:r>
          </a:p>
        </p:txBody>
      </p:sp>
      <p:sp>
        <p:nvSpPr>
          <p:cNvPr id="4" name="Slide Number Placeholder 3"/>
          <p:cNvSpPr>
            <a:spLocks noGrp="1"/>
          </p:cNvSpPr>
          <p:nvPr>
            <p:ph type="sldNum" sz="quarter" idx="12"/>
          </p:nvPr>
        </p:nvSpPr>
        <p:spPr/>
        <p:txBody>
          <a:bodyPr/>
          <a:lstStyle/>
          <a:p>
            <a:fld id="{9DA1A1C2-73CC-4802-810A-2F9F3E278EFE}" type="slidenum">
              <a:rPr lang="en-US" smtClean="0"/>
              <a:t>30</a:t>
            </a:fld>
            <a:endParaRPr lang="en-US"/>
          </a:p>
        </p:txBody>
      </p:sp>
    </p:spTree>
    <p:extLst>
      <p:ext uri="{BB962C8B-B14F-4D97-AF65-F5344CB8AC3E}">
        <p14:creationId xmlns:p14="http://schemas.microsoft.com/office/powerpoint/2010/main" val="35664817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layered architectures</a:t>
            </a:r>
            <a:endParaRPr lang="en-US" dirty="0"/>
          </a:p>
        </p:txBody>
      </p:sp>
      <p:sp>
        <p:nvSpPr>
          <p:cNvPr id="3" name="Content Placeholder 2"/>
          <p:cNvSpPr>
            <a:spLocks noGrp="1"/>
          </p:cNvSpPr>
          <p:nvPr>
            <p:ph idx="1"/>
          </p:nvPr>
        </p:nvSpPr>
        <p:spPr>
          <a:xfrm>
            <a:off x="677334" y="1712423"/>
            <a:ext cx="8596668" cy="4328940"/>
          </a:xfrm>
        </p:spPr>
        <p:txBody>
          <a:bodyPr>
            <a:normAutofit fontScale="47500" lnSpcReduction="20000"/>
          </a:bodyPr>
          <a:lstStyle/>
          <a:p>
            <a:endParaRPr lang="en-US" sz="4400" dirty="0">
              <a:solidFill>
                <a:schemeClr val="tx1"/>
              </a:solidFill>
            </a:endParaRPr>
          </a:p>
          <a:p>
            <a:r>
              <a:rPr lang="en-US" sz="4400" dirty="0"/>
              <a:t>When an application using a layered architecture is deployed to different tiers, there are additional benefits:</a:t>
            </a:r>
          </a:p>
          <a:p>
            <a:r>
              <a:rPr lang="en-US" sz="4000" dirty="0">
                <a:highlight>
                  <a:srgbClr val="FFFF00"/>
                </a:highlight>
              </a:rPr>
              <a:t>increased scalability </a:t>
            </a:r>
            <a:r>
              <a:rPr lang="en-US" sz="4000" dirty="0"/>
              <a:t>as more hardware can be added to each tier</a:t>
            </a:r>
          </a:p>
          <a:p>
            <a:r>
              <a:rPr lang="en-US" sz="4000" dirty="0"/>
              <a:t>greater levels of availability when multiple machines are used per layer. </a:t>
            </a:r>
          </a:p>
          <a:p>
            <a:pPr lvl="1"/>
            <a:r>
              <a:rPr lang="en-US" sz="3600" dirty="0"/>
              <a:t>Uptime is increased because, if a hardware failure takes place in a layer, other machines can take over. </a:t>
            </a:r>
          </a:p>
          <a:p>
            <a:r>
              <a:rPr lang="en-US" sz="4000" dirty="0"/>
              <a:t>Having separate tiers </a:t>
            </a:r>
            <a:r>
              <a:rPr lang="en-US" sz="4000" dirty="0">
                <a:highlight>
                  <a:srgbClr val="FFFF00"/>
                </a:highlight>
              </a:rPr>
              <a:t>enhances security as firewalls can be placed in between the various layers.</a:t>
            </a:r>
          </a:p>
          <a:p>
            <a:r>
              <a:rPr lang="en-US" sz="4000" dirty="0">
                <a:highlight>
                  <a:srgbClr val="FFFF00"/>
                </a:highlight>
              </a:rPr>
              <a:t>If a layer can be reused for multiple applications, it means that the physical tier can be reused as well.</a:t>
            </a:r>
          </a:p>
        </p:txBody>
      </p:sp>
      <p:sp>
        <p:nvSpPr>
          <p:cNvPr id="4" name="Slide Number Placeholder 3"/>
          <p:cNvSpPr>
            <a:spLocks noGrp="1"/>
          </p:cNvSpPr>
          <p:nvPr>
            <p:ph type="sldNum" sz="quarter" idx="12"/>
          </p:nvPr>
        </p:nvSpPr>
        <p:spPr/>
        <p:txBody>
          <a:bodyPr/>
          <a:lstStyle/>
          <a:p>
            <a:fld id="{9DA1A1C2-73CC-4802-810A-2F9F3E278EFE}" type="slidenum">
              <a:rPr lang="en-US" smtClean="0"/>
              <a:t>31</a:t>
            </a:fld>
            <a:endParaRPr lang="en-US"/>
          </a:p>
        </p:txBody>
      </p:sp>
    </p:spTree>
    <p:extLst>
      <p:ext uri="{BB962C8B-B14F-4D97-AF65-F5344CB8AC3E}">
        <p14:creationId xmlns:p14="http://schemas.microsoft.com/office/powerpoint/2010/main" val="697715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layered architectures</a:t>
            </a:r>
            <a:endParaRPr lang="en-US" dirty="0"/>
          </a:p>
        </p:txBody>
      </p:sp>
      <p:sp>
        <p:nvSpPr>
          <p:cNvPr id="3" name="Content Placeholder 2"/>
          <p:cNvSpPr>
            <a:spLocks noGrp="1"/>
          </p:cNvSpPr>
          <p:nvPr>
            <p:ph idx="1"/>
          </p:nvPr>
        </p:nvSpPr>
        <p:spPr>
          <a:xfrm>
            <a:off x="677334" y="1729047"/>
            <a:ext cx="8596668" cy="4588626"/>
          </a:xfrm>
        </p:spPr>
        <p:txBody>
          <a:bodyPr>
            <a:normAutofit fontScale="47500" lnSpcReduction="20000"/>
          </a:bodyPr>
          <a:lstStyle/>
          <a:p>
            <a:endParaRPr lang="en-US" sz="4400" dirty="0">
              <a:solidFill>
                <a:schemeClr val="tx1"/>
              </a:solidFill>
            </a:endParaRPr>
          </a:p>
          <a:p>
            <a:r>
              <a:rPr lang="en-US" sz="4000" dirty="0">
                <a:highlight>
                  <a:srgbClr val="FFFF00"/>
                </a:highlight>
              </a:rPr>
              <a:t>Although the layers can be designed to be independent, a requirement change may require changes in multiple layers. </a:t>
            </a:r>
          </a:p>
          <a:p>
            <a:r>
              <a:rPr lang="en-US" sz="4000" dirty="0">
                <a:highlight>
                  <a:srgbClr val="FFFF00"/>
                </a:highlight>
              </a:rPr>
              <a:t>This type of coupling lowers the overall agility of the software application.</a:t>
            </a:r>
          </a:p>
          <a:p>
            <a:pPr lvl="1"/>
            <a:r>
              <a:rPr lang="en-US" sz="3600" dirty="0"/>
              <a:t>For example, adding a new field will require changes to multiple layers: the presentation </a:t>
            </a:r>
            <a:r>
              <a:rPr lang="en-US" sz="4000" dirty="0"/>
              <a:t>layer so that it can be displayed, the business layer so that it can be validated/saved/processed, and the data layer because it will need to be added to the database. </a:t>
            </a:r>
          </a:p>
          <a:p>
            <a:r>
              <a:rPr lang="en-US" sz="4000" dirty="0"/>
              <a:t>This can complicate deployment because, even for a change such as this, an application may require multiple parts (or even the entire application) to be deployed.</a:t>
            </a:r>
          </a:p>
          <a:p>
            <a:r>
              <a:rPr lang="en-US" sz="4000" dirty="0"/>
              <a:t>more code will be necessary for layered applications. </a:t>
            </a:r>
          </a:p>
          <a:p>
            <a:pPr lvl="1"/>
            <a:r>
              <a:rPr lang="en-US" sz="3600" dirty="0"/>
              <a:t>This is to provide the interfaces and other logic that are necessary for the </a:t>
            </a:r>
            <a:r>
              <a:rPr lang="en-US" sz="4000" dirty="0"/>
              <a:t>communication between the multiple layers. </a:t>
            </a:r>
          </a:p>
        </p:txBody>
      </p:sp>
      <p:sp>
        <p:nvSpPr>
          <p:cNvPr id="4" name="Slide Number Placeholder 3"/>
          <p:cNvSpPr>
            <a:spLocks noGrp="1"/>
          </p:cNvSpPr>
          <p:nvPr>
            <p:ph type="sldNum" sz="quarter" idx="12"/>
          </p:nvPr>
        </p:nvSpPr>
        <p:spPr/>
        <p:txBody>
          <a:bodyPr/>
          <a:lstStyle/>
          <a:p>
            <a:fld id="{9DA1A1C2-73CC-4802-810A-2F9F3E278EFE}" type="slidenum">
              <a:rPr lang="en-US" smtClean="0"/>
              <a:t>32</a:t>
            </a:fld>
            <a:endParaRPr lang="en-US"/>
          </a:p>
        </p:txBody>
      </p:sp>
    </p:spTree>
    <p:extLst>
      <p:ext uri="{BB962C8B-B14F-4D97-AF65-F5344CB8AC3E}">
        <p14:creationId xmlns:p14="http://schemas.microsoft.com/office/powerpoint/2010/main" val="7745441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70313"/>
          </a:xfrm>
        </p:spPr>
        <p:txBody>
          <a:bodyPr/>
          <a:lstStyle/>
          <a:p>
            <a:r>
              <a:rPr lang="en-US" b="1" dirty="0"/>
              <a:t>Disadvantages of layered architectures</a:t>
            </a:r>
            <a:endParaRPr lang="en-US" dirty="0"/>
          </a:p>
        </p:txBody>
      </p:sp>
      <p:sp>
        <p:nvSpPr>
          <p:cNvPr id="3" name="Content Placeholder 2"/>
          <p:cNvSpPr>
            <a:spLocks noGrp="1"/>
          </p:cNvSpPr>
          <p:nvPr>
            <p:ph idx="1"/>
          </p:nvPr>
        </p:nvSpPr>
        <p:spPr>
          <a:xfrm>
            <a:off x="677334" y="1679170"/>
            <a:ext cx="8596668" cy="4705004"/>
          </a:xfrm>
        </p:spPr>
        <p:txBody>
          <a:bodyPr>
            <a:normAutofit fontScale="47500" lnSpcReduction="20000"/>
          </a:bodyPr>
          <a:lstStyle/>
          <a:p>
            <a:r>
              <a:rPr lang="en-US" sz="4000" dirty="0">
                <a:highlight>
                  <a:srgbClr val="FFFF00"/>
                </a:highlight>
              </a:rPr>
              <a:t>Development teams have to be diligent about placing code in the correct layer so as not to leak logic to a layer that belongs in another layer. </a:t>
            </a:r>
          </a:p>
          <a:p>
            <a:pPr lvl="1"/>
            <a:r>
              <a:rPr lang="en-US" sz="3600" dirty="0"/>
              <a:t>Examples of this include placing business </a:t>
            </a:r>
            <a:r>
              <a:rPr lang="en-US" sz="4000" dirty="0"/>
              <a:t>logic in the presentation layer or putting data-access logic in the business layer.</a:t>
            </a:r>
          </a:p>
          <a:p>
            <a:r>
              <a:rPr lang="en-US" sz="4000" dirty="0">
                <a:highlight>
                  <a:srgbClr val="FFFF00"/>
                </a:highlight>
              </a:rPr>
              <a:t>there can be inefficiencies in having a request go through multiple layers. </a:t>
            </a:r>
          </a:p>
          <a:p>
            <a:r>
              <a:rPr lang="en-US" sz="4000" dirty="0"/>
              <a:t>moving from one layer to another sometimes requires data representations to be transformed. </a:t>
            </a:r>
          </a:p>
          <a:p>
            <a:r>
              <a:rPr lang="en-US" sz="4000" dirty="0"/>
              <a:t>One way to mitigate this disadvantage is to allow some layers to be open but this should only be done if it is appropriate to open a layer.</a:t>
            </a:r>
          </a:p>
          <a:p>
            <a:r>
              <a:rPr lang="en-US" sz="4000" dirty="0"/>
              <a:t>disadvantages to layered architectures when they are deployed to multiple tiers:</a:t>
            </a:r>
          </a:p>
          <a:p>
            <a:pPr lvl="1"/>
            <a:r>
              <a:rPr lang="en-US" sz="4000" dirty="0">
                <a:highlight>
                  <a:srgbClr val="FFFF00"/>
                </a:highlight>
              </a:rPr>
              <a:t>when layers are deployed to separate physical tiers, there is an additional performance cost. </a:t>
            </a:r>
          </a:p>
          <a:p>
            <a:pPr lvl="2"/>
            <a:r>
              <a:rPr lang="en-US" sz="3600" dirty="0"/>
              <a:t>With modern hardware, this </a:t>
            </a:r>
            <a:r>
              <a:rPr lang="en-US" sz="4000" dirty="0"/>
              <a:t>cost may be small but it still won't be faster than an application that runs on a single machine.</a:t>
            </a:r>
          </a:p>
        </p:txBody>
      </p:sp>
      <p:sp>
        <p:nvSpPr>
          <p:cNvPr id="4" name="Slide Number Placeholder 3"/>
          <p:cNvSpPr>
            <a:spLocks noGrp="1"/>
          </p:cNvSpPr>
          <p:nvPr>
            <p:ph type="sldNum" sz="quarter" idx="12"/>
          </p:nvPr>
        </p:nvSpPr>
        <p:spPr/>
        <p:txBody>
          <a:bodyPr/>
          <a:lstStyle/>
          <a:p>
            <a:fld id="{9DA1A1C2-73CC-4802-810A-2F9F3E278EFE}" type="slidenum">
              <a:rPr lang="en-US" smtClean="0"/>
              <a:t>33</a:t>
            </a:fld>
            <a:endParaRPr lang="en-US"/>
          </a:p>
        </p:txBody>
      </p:sp>
    </p:spTree>
    <p:extLst>
      <p:ext uri="{BB962C8B-B14F-4D97-AF65-F5344CB8AC3E}">
        <p14:creationId xmlns:p14="http://schemas.microsoft.com/office/powerpoint/2010/main" val="1199985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layered architectures</a:t>
            </a:r>
            <a:endParaRPr lang="en-US" dirty="0"/>
          </a:p>
        </p:txBody>
      </p:sp>
      <p:sp>
        <p:nvSpPr>
          <p:cNvPr id="3" name="Content Placeholder 2"/>
          <p:cNvSpPr>
            <a:spLocks noGrp="1"/>
          </p:cNvSpPr>
          <p:nvPr>
            <p:ph idx="1"/>
          </p:nvPr>
        </p:nvSpPr>
        <p:spPr/>
        <p:txBody>
          <a:bodyPr>
            <a:normAutofit fontScale="77500" lnSpcReduction="20000"/>
          </a:bodyPr>
          <a:lstStyle/>
          <a:p>
            <a:pPr lvl="1"/>
            <a:r>
              <a:rPr lang="en-US" sz="3600" dirty="0">
                <a:highlight>
                  <a:srgbClr val="FFFF00"/>
                </a:highlight>
              </a:rPr>
              <a:t>There is a greater monetary cost associated with having a multi-tier architecture</a:t>
            </a:r>
            <a:r>
              <a:rPr lang="en-US" sz="3600" dirty="0"/>
              <a:t>.</a:t>
            </a:r>
          </a:p>
          <a:p>
            <a:pPr lvl="2"/>
            <a:r>
              <a:rPr lang="en-US" sz="3200" dirty="0"/>
              <a:t>The more machines are used for the application, the greater the overall cost.</a:t>
            </a:r>
          </a:p>
          <a:p>
            <a:pPr lvl="2"/>
            <a:r>
              <a:rPr lang="en-US" sz="3200" dirty="0"/>
              <a:t>Unless the hosting of the software application is handled by a cloud provider or </a:t>
            </a:r>
            <a:r>
              <a:rPr lang="en-US" sz="3600" dirty="0"/>
              <a:t>has otherwise been outsourced, an internal team will be needed to manage the physical hardware of a multi-tier application.</a:t>
            </a:r>
          </a:p>
        </p:txBody>
      </p:sp>
      <p:sp>
        <p:nvSpPr>
          <p:cNvPr id="4" name="Slide Number Placeholder 3"/>
          <p:cNvSpPr>
            <a:spLocks noGrp="1"/>
          </p:cNvSpPr>
          <p:nvPr>
            <p:ph type="sldNum" sz="quarter" idx="12"/>
          </p:nvPr>
        </p:nvSpPr>
        <p:spPr/>
        <p:txBody>
          <a:bodyPr/>
          <a:lstStyle/>
          <a:p>
            <a:fld id="{9DA1A1C2-73CC-4802-810A-2F9F3E278EFE}" type="slidenum">
              <a:rPr lang="en-US" smtClean="0"/>
              <a:t>34</a:t>
            </a:fld>
            <a:endParaRPr lang="en-US"/>
          </a:p>
        </p:txBody>
      </p:sp>
    </p:spTree>
    <p:extLst>
      <p:ext uri="{BB962C8B-B14F-4D97-AF65-F5344CB8AC3E}">
        <p14:creationId xmlns:p14="http://schemas.microsoft.com/office/powerpoint/2010/main" val="312322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Two-tier Architecture</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client-server architecture</a:t>
            </a:r>
            <a:r>
              <a:rPr lang="en-US" dirty="0"/>
              <a:t>, also known as a two-tier architecture</a:t>
            </a:r>
          </a:p>
          <a:p>
            <a:r>
              <a:rPr lang="en-US" dirty="0"/>
              <a:t>distributed application</a:t>
            </a:r>
          </a:p>
          <a:p>
            <a:r>
              <a:rPr lang="en-US" dirty="0"/>
              <a:t>clients and servers communicate with each other directly. </a:t>
            </a:r>
          </a:p>
          <a:p>
            <a:r>
              <a:rPr lang="en-US" dirty="0"/>
              <a:t>A client requests some resource or calls some service provided by a server and the server responds to the requests of clients. </a:t>
            </a:r>
          </a:p>
          <a:p>
            <a:r>
              <a:rPr lang="en-US" dirty="0">
                <a:highlight>
                  <a:srgbClr val="FFFF00"/>
                </a:highlight>
              </a:rPr>
              <a:t>There can be multiple clients connected to a single server</a:t>
            </a:r>
          </a:p>
          <a:p>
            <a:r>
              <a:rPr lang="en-US" dirty="0">
                <a:highlight>
                  <a:srgbClr val="FFFF00"/>
                </a:highlight>
              </a:rPr>
              <a:t>The </a:t>
            </a:r>
            <a:r>
              <a:rPr lang="en-US" b="1" dirty="0">
                <a:highlight>
                  <a:srgbClr val="FFFF00"/>
                </a:highlight>
              </a:rPr>
              <a:t>Client </a:t>
            </a:r>
            <a:r>
              <a:rPr lang="en-US" dirty="0">
                <a:highlight>
                  <a:srgbClr val="FFFF00"/>
                </a:highlight>
              </a:rPr>
              <a:t>part of the application contains the user interface code and the </a:t>
            </a:r>
            <a:r>
              <a:rPr lang="en-US" b="1" dirty="0">
                <a:highlight>
                  <a:srgbClr val="FFFF00"/>
                </a:highlight>
              </a:rPr>
              <a:t>Server </a:t>
            </a:r>
            <a:r>
              <a:rPr lang="en-US" dirty="0">
                <a:highlight>
                  <a:srgbClr val="FFFF00"/>
                </a:highlight>
              </a:rPr>
              <a:t>contains the database</a:t>
            </a:r>
          </a:p>
          <a:p>
            <a:r>
              <a:rPr lang="en-US" dirty="0">
                <a:highlight>
                  <a:srgbClr val="FFFF00"/>
                </a:highlight>
              </a:rPr>
              <a:t>The majority of application logic in a client-server architecture is located on the server, but some of it could also be located in the client. </a:t>
            </a:r>
          </a:p>
          <a:p>
            <a:r>
              <a:rPr lang="en-US" dirty="0"/>
              <a:t>The application logic located on the server might exist in software components, in the database, or both.</a:t>
            </a:r>
          </a:p>
        </p:txBody>
      </p:sp>
      <p:pic>
        <p:nvPicPr>
          <p:cNvPr id="4" name="Picture 3"/>
          <p:cNvPicPr>
            <a:picLocks noChangeAspect="1"/>
          </p:cNvPicPr>
          <p:nvPr/>
        </p:nvPicPr>
        <p:blipFill>
          <a:blip r:embed="rId2"/>
          <a:stretch>
            <a:fillRect/>
          </a:stretch>
        </p:blipFill>
        <p:spPr>
          <a:xfrm>
            <a:off x="9274002" y="1987942"/>
            <a:ext cx="2552209" cy="2767136"/>
          </a:xfrm>
          <a:prstGeom prst="rect">
            <a:avLst/>
          </a:prstGeom>
        </p:spPr>
      </p:pic>
      <p:sp>
        <p:nvSpPr>
          <p:cNvPr id="5" name="Slide Number Placeholder 4"/>
          <p:cNvSpPr>
            <a:spLocks noGrp="1"/>
          </p:cNvSpPr>
          <p:nvPr>
            <p:ph type="sldNum" sz="quarter" idx="12"/>
          </p:nvPr>
        </p:nvSpPr>
        <p:spPr/>
        <p:txBody>
          <a:bodyPr/>
          <a:lstStyle/>
          <a:p>
            <a:fld id="{9DA1A1C2-73CC-4802-810A-2F9F3E278EFE}" type="slidenum">
              <a:rPr lang="en-US" smtClean="0"/>
              <a:t>35</a:t>
            </a:fld>
            <a:endParaRPr lang="en-US"/>
          </a:p>
        </p:txBody>
      </p:sp>
    </p:spTree>
    <p:extLst>
      <p:ext uri="{BB962C8B-B14F-4D97-AF65-F5344CB8AC3E}">
        <p14:creationId xmlns:p14="http://schemas.microsoft.com/office/powerpoint/2010/main" val="9907164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75063"/>
          </a:xfrm>
        </p:spPr>
        <p:txBody>
          <a:bodyPr/>
          <a:lstStyle/>
          <a:p>
            <a:r>
              <a:rPr lang="en-US" b="1" dirty="0"/>
              <a:t>Two-tier Architecture</a:t>
            </a:r>
            <a:endParaRPr lang="en-US" dirty="0"/>
          </a:p>
        </p:txBody>
      </p:sp>
      <p:sp>
        <p:nvSpPr>
          <p:cNvPr id="3" name="Content Placeholder 2"/>
          <p:cNvSpPr>
            <a:spLocks noGrp="1"/>
          </p:cNvSpPr>
          <p:nvPr>
            <p:ph idx="1"/>
          </p:nvPr>
        </p:nvSpPr>
        <p:spPr>
          <a:xfrm>
            <a:off x="677334" y="1502229"/>
            <a:ext cx="8596668" cy="4539133"/>
          </a:xfrm>
        </p:spPr>
        <p:txBody>
          <a:bodyPr>
            <a:noAutofit/>
          </a:bodyPr>
          <a:lstStyle/>
          <a:p>
            <a:r>
              <a:rPr lang="en-US" sz="1600" dirty="0">
                <a:highlight>
                  <a:srgbClr val="FFFF00"/>
                </a:highlight>
              </a:rPr>
              <a:t>When the client contains a significant portion of the logic and is handling a large share of the workload, it is known as a thick, or Fat client. </a:t>
            </a:r>
          </a:p>
          <a:p>
            <a:r>
              <a:rPr lang="en-US" sz="1600" dirty="0">
                <a:highlight>
                  <a:srgbClr val="FFFF00"/>
                </a:highlight>
              </a:rPr>
              <a:t>When the server is doing that instead, the client is known as a Thin client.</a:t>
            </a:r>
          </a:p>
          <a:p>
            <a:r>
              <a:rPr lang="en-US" sz="1600" dirty="0"/>
              <a:t>In some client-server applications, the business logic is spread out between the client and the server. </a:t>
            </a:r>
          </a:p>
          <a:p>
            <a:r>
              <a:rPr lang="en-US" sz="1600" dirty="0"/>
              <a:t>If consistency isn't applied, it can make it difficult to always know where a particular piece of logic is located.</a:t>
            </a:r>
          </a:p>
          <a:p>
            <a:r>
              <a:rPr lang="en-US" sz="1600" dirty="0"/>
              <a:t>If a team isn't diligent, business logic might be duplicated on the client and the server. </a:t>
            </a:r>
          </a:p>
          <a:p>
            <a:r>
              <a:rPr lang="en-US" sz="1600" dirty="0"/>
              <a:t>There may be instances in which the same piece of logic is needed on both the client and the server. </a:t>
            </a:r>
          </a:p>
          <a:p>
            <a:r>
              <a:rPr lang="en-US" sz="1600" dirty="0"/>
              <a:t>For example, there may be business logic needed by the user interface to validate a piece of data prior to submitting the data to the server. The server may need this same business logic because it also needs to perform this validation. </a:t>
            </a:r>
          </a:p>
          <a:p>
            <a:r>
              <a:rPr lang="en-US" sz="1600" dirty="0"/>
              <a:t>While centralizing this logic may require additional communication between the client and the server, the alternative (duplication) lowers maintainability. </a:t>
            </a:r>
          </a:p>
          <a:p>
            <a:pPr lvl="1"/>
            <a:r>
              <a:rPr lang="en-US" dirty="0"/>
              <a:t>If the business logic were to change, it would have to be modified in multiple places.</a:t>
            </a:r>
          </a:p>
          <a:p>
            <a:endParaRPr lang="en-US" sz="1600" dirty="0"/>
          </a:p>
        </p:txBody>
      </p:sp>
      <p:sp>
        <p:nvSpPr>
          <p:cNvPr id="4" name="Slide Number Placeholder 3"/>
          <p:cNvSpPr>
            <a:spLocks noGrp="1"/>
          </p:cNvSpPr>
          <p:nvPr>
            <p:ph type="sldNum" sz="quarter" idx="12"/>
          </p:nvPr>
        </p:nvSpPr>
        <p:spPr/>
        <p:txBody>
          <a:bodyPr/>
          <a:lstStyle/>
          <a:p>
            <a:fld id="{9DA1A1C2-73CC-4802-810A-2F9F3E278EFE}" type="slidenum">
              <a:rPr lang="en-US" smtClean="0"/>
              <a:t>36</a:t>
            </a:fld>
            <a:endParaRPr lang="en-US"/>
          </a:p>
        </p:txBody>
      </p:sp>
    </p:spTree>
    <p:extLst>
      <p:ext uri="{BB962C8B-B14F-4D97-AF65-F5344CB8AC3E}">
        <p14:creationId xmlns:p14="http://schemas.microsoft.com/office/powerpoint/2010/main" val="2767460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N-tier Architecture</a:t>
            </a:r>
          </a:p>
        </p:txBody>
      </p:sp>
      <p:sp>
        <p:nvSpPr>
          <p:cNvPr id="3" name="Content Placeholder 2"/>
          <p:cNvSpPr>
            <a:spLocks noGrp="1"/>
          </p:cNvSpPr>
          <p:nvPr>
            <p:ph idx="1"/>
          </p:nvPr>
        </p:nvSpPr>
        <p:spPr>
          <a:xfrm>
            <a:off x="677334" y="1930399"/>
            <a:ext cx="8596668" cy="4110963"/>
          </a:xfrm>
        </p:spPr>
        <p:txBody>
          <a:bodyPr>
            <a:normAutofit/>
          </a:bodyPr>
          <a:lstStyle/>
          <a:p>
            <a:r>
              <a:rPr lang="en-US" dirty="0">
                <a:highlight>
                  <a:srgbClr val="FFFF00"/>
                </a:highlight>
              </a:rPr>
              <a:t>also known as a </a:t>
            </a:r>
            <a:r>
              <a:rPr lang="en-US" b="1" dirty="0">
                <a:highlight>
                  <a:srgbClr val="FFFF00"/>
                </a:highlight>
              </a:rPr>
              <a:t>multitier architecture</a:t>
            </a:r>
            <a:endParaRPr lang="en-US" dirty="0">
              <a:highlight>
                <a:srgbClr val="FFFF00"/>
              </a:highlight>
            </a:endParaRPr>
          </a:p>
          <a:p>
            <a:r>
              <a:rPr lang="en-US" dirty="0">
                <a:highlight>
                  <a:srgbClr val="FFFF00"/>
                </a:highlight>
              </a:rPr>
              <a:t>there are multiple tiers in the architecture. </a:t>
            </a:r>
          </a:p>
          <a:p>
            <a:r>
              <a:rPr lang="en-US" dirty="0">
                <a:highlight>
                  <a:srgbClr val="FFFF00"/>
                </a:highlight>
              </a:rPr>
              <a:t>One of the most widely-used variations of this type of layered architecture is the three-tier architecture. </a:t>
            </a:r>
          </a:p>
          <a:p>
            <a:r>
              <a:rPr lang="en-US" dirty="0">
                <a:highlight>
                  <a:srgbClr val="FFFF00"/>
                </a:highlight>
              </a:rPr>
              <a:t>The three-tier architecture separates logic into presentation, business, and data layers.</a:t>
            </a:r>
          </a:p>
          <a:p>
            <a:pPr marL="0" lvl="0" indent="0">
              <a:buNone/>
            </a:pPr>
            <a:endParaRPr lang="en-US" sz="2000" b="1" dirty="0">
              <a:solidFill>
                <a:prstClr val="black"/>
              </a:solidFill>
            </a:endParaRPr>
          </a:p>
          <a:p>
            <a:endParaRPr lang="en-US" dirty="0"/>
          </a:p>
        </p:txBody>
      </p:sp>
      <p:pic>
        <p:nvPicPr>
          <p:cNvPr id="4" name="Picture 3"/>
          <p:cNvPicPr>
            <a:picLocks noChangeAspect="1"/>
          </p:cNvPicPr>
          <p:nvPr/>
        </p:nvPicPr>
        <p:blipFill>
          <a:blip r:embed="rId2"/>
          <a:stretch>
            <a:fillRect/>
          </a:stretch>
        </p:blipFill>
        <p:spPr>
          <a:xfrm>
            <a:off x="9367307" y="1396485"/>
            <a:ext cx="2606979" cy="3413005"/>
          </a:xfrm>
          <a:prstGeom prst="rect">
            <a:avLst/>
          </a:prstGeom>
        </p:spPr>
      </p:pic>
      <p:sp>
        <p:nvSpPr>
          <p:cNvPr id="5" name="Slide Number Placeholder 4"/>
          <p:cNvSpPr>
            <a:spLocks noGrp="1"/>
          </p:cNvSpPr>
          <p:nvPr>
            <p:ph type="sldNum" sz="quarter" idx="12"/>
          </p:nvPr>
        </p:nvSpPr>
        <p:spPr/>
        <p:txBody>
          <a:bodyPr/>
          <a:lstStyle/>
          <a:p>
            <a:fld id="{9DA1A1C2-73CC-4802-810A-2F9F3E278EFE}" type="slidenum">
              <a:rPr lang="en-US" smtClean="0"/>
              <a:t>37</a:t>
            </a:fld>
            <a:endParaRPr lang="en-US"/>
          </a:p>
        </p:txBody>
      </p:sp>
    </p:spTree>
    <p:extLst>
      <p:ext uri="{BB962C8B-B14F-4D97-AF65-F5344CB8AC3E}">
        <p14:creationId xmlns:p14="http://schemas.microsoft.com/office/powerpoint/2010/main" val="3994050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Presentation tier</a:t>
            </a:r>
          </a:p>
        </p:txBody>
      </p:sp>
      <p:sp>
        <p:nvSpPr>
          <p:cNvPr id="3" name="Content Placeholder 2"/>
          <p:cNvSpPr>
            <a:spLocks noGrp="1"/>
          </p:cNvSpPr>
          <p:nvPr>
            <p:ph idx="1"/>
          </p:nvPr>
        </p:nvSpPr>
        <p:spPr/>
        <p:txBody>
          <a:bodyPr>
            <a:normAutofit lnSpcReduction="10000"/>
          </a:bodyPr>
          <a:lstStyle/>
          <a:p>
            <a:endParaRPr lang="en-US" dirty="0">
              <a:solidFill>
                <a:schemeClr val="tx1"/>
              </a:solidFill>
            </a:endParaRPr>
          </a:p>
          <a:p>
            <a:pPr lvl="0"/>
            <a:r>
              <a:rPr lang="en-US" dirty="0">
                <a:solidFill>
                  <a:prstClr val="black"/>
                </a:solidFill>
              </a:rPr>
              <a:t>The </a:t>
            </a:r>
            <a:r>
              <a:rPr lang="en-US" b="1" dirty="0">
                <a:solidFill>
                  <a:prstClr val="black"/>
                </a:solidFill>
              </a:rPr>
              <a:t>presentation tier </a:t>
            </a:r>
            <a:r>
              <a:rPr lang="en-US" dirty="0">
                <a:solidFill>
                  <a:prstClr val="black"/>
                </a:solidFill>
              </a:rPr>
              <a:t>provides functionality for the application's UI. </a:t>
            </a:r>
          </a:p>
          <a:p>
            <a:pPr lvl="0"/>
            <a:r>
              <a:rPr lang="en-US" dirty="0">
                <a:solidFill>
                  <a:prstClr val="black"/>
                </a:solidFill>
              </a:rPr>
              <a:t>It should provide an appealing visual design as it is the part of the application that users interact with and see.</a:t>
            </a:r>
          </a:p>
          <a:p>
            <a:pPr lvl="0"/>
            <a:r>
              <a:rPr lang="en-US" dirty="0">
                <a:solidFill>
                  <a:prstClr val="black"/>
                </a:solidFill>
              </a:rPr>
              <a:t>Data is presented to the user and input is received from users in this tier. </a:t>
            </a:r>
          </a:p>
          <a:p>
            <a:r>
              <a:rPr lang="en-US" dirty="0"/>
              <a:t>Aspects of the usability quality attribute should be the concern of the presentation tier.</a:t>
            </a:r>
          </a:p>
          <a:p>
            <a:r>
              <a:rPr lang="en-US" dirty="0">
                <a:highlight>
                  <a:srgbClr val="FFFF00"/>
                </a:highlight>
              </a:rPr>
              <a:t>Software architects should strive to design </a:t>
            </a:r>
            <a:r>
              <a:rPr lang="en-US" i="1" dirty="0">
                <a:highlight>
                  <a:srgbClr val="FFFF00"/>
                </a:highlight>
              </a:rPr>
              <a:t>thin clients </a:t>
            </a:r>
            <a:r>
              <a:rPr lang="en-US" dirty="0">
                <a:highlight>
                  <a:srgbClr val="FFFF00"/>
                </a:highlight>
              </a:rPr>
              <a:t>that minimize the amount of logic that exists in the presentation tier. </a:t>
            </a:r>
            <a:endParaRPr lang="en-US" b="1" dirty="0">
              <a:solidFill>
                <a:prstClr val="black"/>
              </a:solidFill>
              <a:highlight>
                <a:srgbClr val="FFFF00"/>
              </a:highlight>
            </a:endParaRPr>
          </a:p>
          <a:p>
            <a:r>
              <a:rPr lang="en-US" dirty="0"/>
              <a:t>The logic in the presentation tier should focus on user interface concerns. </a:t>
            </a:r>
          </a:p>
          <a:p>
            <a:r>
              <a:rPr lang="en-US" dirty="0">
                <a:highlight>
                  <a:srgbClr val="FFFF00"/>
                </a:highlight>
              </a:rPr>
              <a:t>A presentation tier devoid of business logic will be easier to test.</a:t>
            </a:r>
          </a:p>
        </p:txBody>
      </p:sp>
      <p:pic>
        <p:nvPicPr>
          <p:cNvPr id="4" name="Picture 3"/>
          <p:cNvPicPr>
            <a:picLocks noChangeAspect="1"/>
          </p:cNvPicPr>
          <p:nvPr/>
        </p:nvPicPr>
        <p:blipFill>
          <a:blip r:embed="rId2"/>
          <a:stretch>
            <a:fillRect/>
          </a:stretch>
        </p:blipFill>
        <p:spPr>
          <a:xfrm>
            <a:off x="9367307" y="1396485"/>
            <a:ext cx="2606979" cy="3413005"/>
          </a:xfrm>
          <a:prstGeom prst="rect">
            <a:avLst/>
          </a:prstGeom>
        </p:spPr>
      </p:pic>
      <p:sp>
        <p:nvSpPr>
          <p:cNvPr id="5" name="Slide Number Placeholder 4"/>
          <p:cNvSpPr>
            <a:spLocks noGrp="1"/>
          </p:cNvSpPr>
          <p:nvPr>
            <p:ph type="sldNum" sz="quarter" idx="12"/>
          </p:nvPr>
        </p:nvSpPr>
        <p:spPr/>
        <p:txBody>
          <a:bodyPr/>
          <a:lstStyle/>
          <a:p>
            <a:fld id="{9DA1A1C2-73CC-4802-810A-2F9F3E278EFE}" type="slidenum">
              <a:rPr lang="en-US" smtClean="0"/>
              <a:t>38</a:t>
            </a:fld>
            <a:endParaRPr lang="en-US"/>
          </a:p>
        </p:txBody>
      </p:sp>
    </p:spTree>
    <p:extLst>
      <p:ext uri="{BB962C8B-B14F-4D97-AF65-F5344CB8AC3E}">
        <p14:creationId xmlns:p14="http://schemas.microsoft.com/office/powerpoint/2010/main" val="7400038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Business tier</a:t>
            </a:r>
            <a:endParaRPr lang="en-US" dirty="0"/>
          </a:p>
        </p:txBody>
      </p:sp>
      <p:sp>
        <p:nvSpPr>
          <p:cNvPr id="3" name="Content Placeholder 2"/>
          <p:cNvSpPr>
            <a:spLocks noGrp="1"/>
          </p:cNvSpPr>
          <p:nvPr>
            <p:ph idx="1"/>
          </p:nvPr>
        </p:nvSpPr>
        <p:spPr/>
        <p:txBody>
          <a:bodyPr>
            <a:normAutofit/>
          </a:bodyPr>
          <a:lstStyle/>
          <a:p>
            <a:endParaRPr lang="en-US" dirty="0">
              <a:solidFill>
                <a:schemeClr val="tx1"/>
              </a:solidFill>
            </a:endParaRPr>
          </a:p>
          <a:p>
            <a:r>
              <a:rPr lang="en-US" dirty="0">
                <a:highlight>
                  <a:srgbClr val="FFFF00"/>
                </a:highlight>
              </a:rPr>
              <a:t>The </a:t>
            </a:r>
            <a:r>
              <a:rPr lang="en-US" b="1" dirty="0">
                <a:highlight>
                  <a:srgbClr val="FFFF00"/>
                </a:highlight>
              </a:rPr>
              <a:t>business tier</a:t>
            </a:r>
            <a:r>
              <a:rPr lang="en-US" dirty="0">
                <a:highlight>
                  <a:srgbClr val="FFFF00"/>
                </a:highlight>
              </a:rPr>
              <a:t>, which is sometimes referred to as the application tier, provides the implementation for the business logic of the application, including such things as business rules, validations, and calculation logic. </a:t>
            </a:r>
          </a:p>
          <a:p>
            <a:r>
              <a:rPr lang="en-US" dirty="0"/>
              <a:t>Business entities for the application's domain are placed in this tier.</a:t>
            </a:r>
          </a:p>
          <a:p>
            <a:r>
              <a:rPr lang="en-US" dirty="0"/>
              <a:t>The business tier coordinates the application and executes logic. </a:t>
            </a:r>
          </a:p>
          <a:p>
            <a:r>
              <a:rPr lang="en-US" dirty="0"/>
              <a:t>It can perform detailed processes and makes logical decisions. </a:t>
            </a:r>
          </a:p>
          <a:p>
            <a:r>
              <a:rPr lang="en-US" dirty="0"/>
              <a:t>The business tier is the center of the application and serves as an intermediary between the presentation and data tiers. </a:t>
            </a:r>
          </a:p>
          <a:p>
            <a:r>
              <a:rPr lang="en-US" dirty="0">
                <a:highlight>
                  <a:srgbClr val="FFFF00"/>
                </a:highlight>
              </a:rPr>
              <a:t>It provides the presentation tier with services, commands, and data that it can use, and it interacts with the data tier to retrieve and manipulate data.</a:t>
            </a:r>
          </a:p>
        </p:txBody>
      </p:sp>
      <p:pic>
        <p:nvPicPr>
          <p:cNvPr id="4" name="Picture 3"/>
          <p:cNvPicPr>
            <a:picLocks noChangeAspect="1"/>
          </p:cNvPicPr>
          <p:nvPr/>
        </p:nvPicPr>
        <p:blipFill>
          <a:blip r:embed="rId2"/>
          <a:stretch>
            <a:fillRect/>
          </a:stretch>
        </p:blipFill>
        <p:spPr>
          <a:xfrm>
            <a:off x="9367307" y="1396485"/>
            <a:ext cx="2606979" cy="3413005"/>
          </a:xfrm>
          <a:prstGeom prst="rect">
            <a:avLst/>
          </a:prstGeom>
        </p:spPr>
      </p:pic>
      <p:sp>
        <p:nvSpPr>
          <p:cNvPr id="5" name="Slide Number Placeholder 4"/>
          <p:cNvSpPr>
            <a:spLocks noGrp="1"/>
          </p:cNvSpPr>
          <p:nvPr>
            <p:ph type="sldNum" sz="quarter" idx="12"/>
          </p:nvPr>
        </p:nvSpPr>
        <p:spPr/>
        <p:txBody>
          <a:bodyPr/>
          <a:lstStyle/>
          <a:p>
            <a:fld id="{9DA1A1C2-73CC-4802-810A-2F9F3E278EFE}" type="slidenum">
              <a:rPr lang="en-US" smtClean="0"/>
              <a:t>39</a:t>
            </a:fld>
            <a:endParaRPr lang="en-US"/>
          </a:p>
        </p:txBody>
      </p:sp>
    </p:spTree>
    <p:extLst>
      <p:ext uri="{BB962C8B-B14F-4D97-AF65-F5344CB8AC3E}">
        <p14:creationId xmlns:p14="http://schemas.microsoft.com/office/powerpoint/2010/main" val="33597607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tier</a:t>
            </a:r>
            <a:endParaRPr lang="en-US" dirty="0"/>
          </a:p>
        </p:txBody>
      </p:sp>
      <p:sp>
        <p:nvSpPr>
          <p:cNvPr id="3" name="Content Placeholder 2"/>
          <p:cNvSpPr>
            <a:spLocks noGrp="1"/>
          </p:cNvSpPr>
          <p:nvPr>
            <p:ph idx="1"/>
          </p:nvPr>
        </p:nvSpPr>
        <p:spPr/>
        <p:txBody>
          <a:bodyPr>
            <a:normAutofit/>
          </a:bodyPr>
          <a:lstStyle/>
          <a:p>
            <a:r>
              <a:rPr lang="en-US" sz="2000" dirty="0">
                <a:highlight>
                  <a:srgbClr val="FFFF00"/>
                </a:highlight>
              </a:rPr>
              <a:t>The </a:t>
            </a:r>
            <a:r>
              <a:rPr lang="en-US" sz="2000" b="1" dirty="0">
                <a:highlight>
                  <a:srgbClr val="FFFF00"/>
                </a:highlight>
              </a:rPr>
              <a:t>data tier </a:t>
            </a:r>
            <a:r>
              <a:rPr lang="en-US" sz="2000" dirty="0">
                <a:highlight>
                  <a:srgbClr val="FFFF00"/>
                </a:highlight>
              </a:rPr>
              <a:t>provides functionality to access and manage data. </a:t>
            </a:r>
          </a:p>
          <a:p>
            <a:r>
              <a:rPr lang="en-US" sz="2000" dirty="0">
                <a:highlight>
                  <a:srgbClr val="FFFF00"/>
                </a:highlight>
              </a:rPr>
              <a:t>The data tier contains a data store for persistent storage, such as an RDBMS.</a:t>
            </a:r>
          </a:p>
          <a:p>
            <a:r>
              <a:rPr lang="en-US" sz="2000" dirty="0"/>
              <a:t>It provides services and data for the business tier.</a:t>
            </a:r>
          </a:p>
          <a:p>
            <a:r>
              <a:rPr lang="en-US" dirty="0">
                <a:highlight>
                  <a:srgbClr val="FFFF00"/>
                </a:highlight>
              </a:rPr>
              <a:t>The rise of the web coincided with a shift from two-tier (client-server) architectures to three-tier architectures. </a:t>
            </a:r>
          </a:p>
          <a:p>
            <a:r>
              <a:rPr lang="en-US" dirty="0">
                <a:highlight>
                  <a:srgbClr val="FFFF00"/>
                </a:highlight>
              </a:rPr>
              <a:t>With web applications and the use of web browsers, rich client applications containing business logic were not ideal.</a:t>
            </a:r>
          </a:p>
          <a:p>
            <a:endParaRPr lang="en-US" dirty="0"/>
          </a:p>
        </p:txBody>
      </p:sp>
      <p:pic>
        <p:nvPicPr>
          <p:cNvPr id="4" name="Picture 3"/>
          <p:cNvPicPr>
            <a:picLocks noChangeAspect="1"/>
          </p:cNvPicPr>
          <p:nvPr/>
        </p:nvPicPr>
        <p:blipFill>
          <a:blip r:embed="rId2"/>
          <a:stretch>
            <a:fillRect/>
          </a:stretch>
        </p:blipFill>
        <p:spPr>
          <a:xfrm>
            <a:off x="9367307" y="1396485"/>
            <a:ext cx="2606979" cy="3413005"/>
          </a:xfrm>
          <a:prstGeom prst="rect">
            <a:avLst/>
          </a:prstGeom>
        </p:spPr>
      </p:pic>
      <p:sp>
        <p:nvSpPr>
          <p:cNvPr id="5" name="Slide Number Placeholder 4"/>
          <p:cNvSpPr>
            <a:spLocks noGrp="1"/>
          </p:cNvSpPr>
          <p:nvPr>
            <p:ph type="sldNum" sz="quarter" idx="12"/>
          </p:nvPr>
        </p:nvSpPr>
        <p:spPr/>
        <p:txBody>
          <a:bodyPr/>
          <a:lstStyle/>
          <a:p>
            <a:fld id="{9DA1A1C2-73CC-4802-810A-2F9F3E278EFE}" type="slidenum">
              <a:rPr lang="en-US" smtClean="0"/>
              <a:t>40</a:t>
            </a:fld>
            <a:endParaRPr lang="en-US"/>
          </a:p>
        </p:txBody>
      </p:sp>
    </p:spTree>
    <p:extLst>
      <p:ext uri="{BB962C8B-B14F-4D97-AF65-F5344CB8AC3E}">
        <p14:creationId xmlns:p14="http://schemas.microsoft.com/office/powerpoint/2010/main" val="11478318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a:t>Data-Flow Styles</a:t>
            </a:r>
          </a:p>
        </p:txBody>
      </p:sp>
      <p:sp>
        <p:nvSpPr>
          <p:cNvPr id="24579" name="Rectangle 3"/>
          <p:cNvSpPr>
            <a:spLocks noGrp="1" noChangeArrowheads="1"/>
          </p:cNvSpPr>
          <p:nvPr>
            <p:ph idx="1"/>
          </p:nvPr>
        </p:nvSpPr>
        <p:spPr/>
        <p:txBody>
          <a:bodyPr/>
          <a:lstStyle/>
          <a:p>
            <a:pPr eaLnBrk="1" hangingPunct="1">
              <a:buFont typeface="Wingdings" panose="05000000000000000000" pitchFamily="2" charset="2"/>
              <a:buNone/>
            </a:pPr>
            <a:r>
              <a:rPr lang="en-US" altLang="en-US"/>
              <a:t>Batch Sequential</a:t>
            </a:r>
          </a:p>
          <a:p>
            <a:pPr lvl="1" eaLnBrk="1" hangingPunct="1"/>
            <a:r>
              <a:rPr lang="en-US" altLang="en-US"/>
              <a:t>Separate programs are executed in order; data is passed as an aggregate from one program to the next.</a:t>
            </a:r>
          </a:p>
          <a:p>
            <a:pPr lvl="1" eaLnBrk="1" hangingPunct="1"/>
            <a:r>
              <a:rPr lang="en-US" altLang="en-US"/>
              <a:t>Connectors: “The human hand” carrying tapes between the programs, a.k.a. “sneaker-net ”</a:t>
            </a:r>
          </a:p>
          <a:p>
            <a:pPr lvl="1" eaLnBrk="1" hangingPunct="1"/>
            <a:r>
              <a:rPr lang="en-US" altLang="en-US"/>
              <a:t>Data Elements: Explicit, aggregate elements passed from one component to the next upon completion of the producing program’s execution.</a:t>
            </a:r>
          </a:p>
          <a:p>
            <a:pPr eaLnBrk="1" hangingPunct="1"/>
            <a:r>
              <a:rPr lang="en-US" altLang="en-US"/>
              <a:t>Typical uses: Transaction processing in financial systems. “The Granddaddy of Styles”</a:t>
            </a:r>
          </a:p>
        </p:txBody>
      </p:sp>
      <p:sp>
        <p:nvSpPr>
          <p:cNvPr id="2458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20E800A7-D240-4BBD-AA81-31876E5B5B6D}" type="slidenum">
              <a:rPr lang="en-US" altLang="en-US" sz="1200">
                <a:latin typeface="Arial Black" panose="020B0A04020102020204" pitchFamily="34" charset="0"/>
              </a:rPr>
              <a:pPr>
                <a:spcBef>
                  <a:spcPct val="0"/>
                </a:spcBef>
                <a:buClrTx/>
                <a:buSzTx/>
                <a:buFontTx/>
                <a:buNone/>
              </a:pPr>
              <a:t>41</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19453870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981200" y="914400"/>
            <a:ext cx="8229600" cy="914400"/>
          </a:xfrm>
        </p:spPr>
        <p:txBody>
          <a:bodyPr>
            <a:normAutofit fontScale="90000"/>
          </a:bodyPr>
          <a:lstStyle/>
          <a:p>
            <a:pPr eaLnBrk="1" hangingPunct="1"/>
            <a:r>
              <a:rPr lang="en-US" altLang="en-US"/>
              <a:t>Batch-Sequential: A Financial Application</a:t>
            </a:r>
          </a:p>
        </p:txBody>
      </p:sp>
      <p:sp>
        <p:nvSpPr>
          <p:cNvPr id="25603"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E662FF7F-B914-494A-B2F9-615F61C4439A}" type="slidenum">
              <a:rPr lang="en-US" altLang="en-US" sz="1200">
                <a:latin typeface="Arial Black" panose="020B0A04020102020204" pitchFamily="34" charset="0"/>
              </a:rPr>
              <a:pPr>
                <a:spcBef>
                  <a:spcPct val="0"/>
                </a:spcBef>
                <a:buClrTx/>
                <a:buSzTx/>
                <a:buFontTx/>
                <a:buNone/>
              </a:pPr>
              <a:t>42</a:t>
            </a:fld>
            <a:endParaRPr lang="en-US" altLang="en-US" sz="1200">
              <a:latin typeface="Arial Black" panose="020B0A04020102020204" pitchFamily="34" charset="0"/>
            </a:endParaRPr>
          </a:p>
        </p:txBody>
      </p:sp>
      <p:pic>
        <p:nvPicPr>
          <p:cNvPr id="25604" name="Picture 3" descr="Fig4-13BatchSequential(Financia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1" y="2286000"/>
            <a:ext cx="8778875" cy="310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585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a:t>Batch-Sequential LL</a:t>
            </a:r>
          </a:p>
        </p:txBody>
      </p:sp>
      <p:sp>
        <p:nvSpPr>
          <p:cNvPr id="2662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E681BAC5-99AE-41AA-B0FE-6881E923D97F}" type="slidenum">
              <a:rPr lang="en-US" altLang="en-US" sz="1200">
                <a:latin typeface="Arial Black" panose="020B0A04020102020204" pitchFamily="34" charset="0"/>
              </a:rPr>
              <a:pPr>
                <a:spcBef>
                  <a:spcPct val="0"/>
                </a:spcBef>
                <a:buClrTx/>
                <a:buSzTx/>
                <a:buFontTx/>
                <a:buNone/>
              </a:pPr>
              <a:t>43</a:t>
            </a:fld>
            <a:endParaRPr lang="en-US" altLang="en-US" sz="1200">
              <a:latin typeface="Arial Black" panose="020B0A04020102020204" pitchFamily="34" charset="0"/>
            </a:endParaRPr>
          </a:p>
        </p:txBody>
      </p:sp>
      <p:pic>
        <p:nvPicPr>
          <p:cNvPr id="26628" name="Picture 3" descr="Fig4-14LLBatchSequent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49500"/>
            <a:ext cx="9144000" cy="203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 Box 4"/>
          <p:cNvSpPr txBox="1">
            <a:spLocks noChangeArrowheads="1"/>
          </p:cNvSpPr>
          <p:nvPr/>
        </p:nvSpPr>
        <p:spPr bwMode="auto">
          <a:xfrm>
            <a:off x="4343401" y="5486401"/>
            <a:ext cx="6054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a:latin typeface="Arial" panose="020B0604020202020204" pitchFamily="34" charset="0"/>
              </a:rPr>
              <a:t>Not a recipe for a successful lunar mission!</a:t>
            </a:r>
          </a:p>
        </p:txBody>
      </p:sp>
    </p:spTree>
    <p:extLst>
      <p:ext uri="{BB962C8B-B14F-4D97-AF65-F5344CB8AC3E}">
        <p14:creationId xmlns:p14="http://schemas.microsoft.com/office/powerpoint/2010/main" val="10557343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dirty="0"/>
              <a:t>Pipe and Filter Style</a:t>
            </a:r>
          </a:p>
        </p:txBody>
      </p:sp>
      <p:sp>
        <p:nvSpPr>
          <p:cNvPr id="27651" name="Rectangle 3"/>
          <p:cNvSpPr>
            <a:spLocks noGrp="1" noChangeArrowheads="1"/>
          </p:cNvSpPr>
          <p:nvPr>
            <p:ph idx="1"/>
          </p:nvPr>
        </p:nvSpPr>
        <p:spPr>
          <a:xfrm>
            <a:off x="677334" y="1729047"/>
            <a:ext cx="8596668" cy="4312315"/>
          </a:xfrm>
        </p:spPr>
        <p:txBody>
          <a:bodyPr>
            <a:normAutofit/>
          </a:bodyPr>
          <a:lstStyle/>
          <a:p>
            <a:pPr eaLnBrk="1" hangingPunct="1"/>
            <a:r>
              <a:rPr lang="en-US" altLang="en-US" dirty="0"/>
              <a:t>Components are filters</a:t>
            </a:r>
          </a:p>
          <a:p>
            <a:pPr lvl="1" eaLnBrk="1" hangingPunct="1"/>
            <a:r>
              <a:rPr lang="en-US" altLang="en-US" sz="1800" dirty="0"/>
              <a:t>Transform input data streams into output data streams</a:t>
            </a:r>
          </a:p>
          <a:p>
            <a:pPr lvl="1" eaLnBrk="1" hangingPunct="1"/>
            <a:r>
              <a:rPr lang="en-US" altLang="en-US" sz="1800" dirty="0"/>
              <a:t>Possibly incremental production of output</a:t>
            </a:r>
          </a:p>
          <a:p>
            <a:pPr eaLnBrk="1" hangingPunct="1"/>
            <a:r>
              <a:rPr lang="en-US" altLang="en-US" dirty="0"/>
              <a:t>Connectors are pipes</a:t>
            </a:r>
          </a:p>
          <a:p>
            <a:pPr lvl="1" eaLnBrk="1" hangingPunct="1"/>
            <a:r>
              <a:rPr lang="en-US" altLang="en-US" sz="1800" dirty="0"/>
              <a:t>Ducts for data streams</a:t>
            </a:r>
          </a:p>
          <a:p>
            <a:pPr eaLnBrk="1" hangingPunct="1"/>
            <a:r>
              <a:rPr lang="en-US" altLang="en-US" dirty="0"/>
              <a:t>Style invariants</a:t>
            </a:r>
          </a:p>
          <a:p>
            <a:pPr lvl="1" eaLnBrk="1" hangingPunct="1"/>
            <a:r>
              <a:rPr lang="en-US" altLang="en-US" sz="1800" dirty="0"/>
              <a:t>Filters are independent (no shared state) </a:t>
            </a:r>
          </a:p>
          <a:p>
            <a:pPr lvl="1" eaLnBrk="1" hangingPunct="1"/>
            <a:r>
              <a:rPr lang="en-US" altLang="en-US" sz="1800" dirty="0"/>
              <a:t>Filter has no knowledge of up- or down-stream filters</a:t>
            </a:r>
          </a:p>
          <a:p>
            <a:pPr eaLnBrk="1" hangingPunct="1"/>
            <a:r>
              <a:rPr lang="en-US" altLang="en-US" dirty="0"/>
              <a:t>Examples</a:t>
            </a:r>
          </a:p>
          <a:p>
            <a:pPr lvl="1" eaLnBrk="1" hangingPunct="1"/>
            <a:r>
              <a:rPr lang="en-US" altLang="en-US" sz="1800" dirty="0"/>
              <a:t>	Distributed systems		parallel programming</a:t>
            </a:r>
          </a:p>
        </p:txBody>
      </p:sp>
      <p:sp>
        <p:nvSpPr>
          <p:cNvPr id="2765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10FAB5DE-9378-4017-89A9-0B25FEAF3DAF}" type="slidenum">
              <a:rPr lang="en-US" altLang="en-US" sz="1200">
                <a:latin typeface="Arial Black" panose="020B0A04020102020204" pitchFamily="34" charset="0"/>
              </a:rPr>
              <a:pPr>
                <a:spcBef>
                  <a:spcPct val="0"/>
                </a:spcBef>
                <a:buClrTx/>
                <a:buSzTx/>
                <a:buFontTx/>
                <a:buNone/>
              </a:pPr>
              <a:t>44</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35475061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113" y="1629295"/>
            <a:ext cx="10874830" cy="4547668"/>
          </a:xfrm>
        </p:spPr>
        <p:txBody>
          <a:bodyPr>
            <a:noAutofit/>
          </a:bodyPr>
          <a:lstStyle/>
          <a:p>
            <a:r>
              <a:rPr lang="en-US" sz="2800" b="1" dirty="0"/>
              <a:t>Context: </a:t>
            </a:r>
            <a:r>
              <a:rPr lang="en-US" sz="2800" dirty="0"/>
              <a:t>Many systems are required to transform streams of discrete data items, from input to output. </a:t>
            </a:r>
          </a:p>
          <a:p>
            <a:r>
              <a:rPr lang="en-US" sz="2800" dirty="0"/>
              <a:t>Many types of transformations occur repeatedly in practice, and so it is desirable to create these as independent, reusable parts.</a:t>
            </a:r>
          </a:p>
        </p:txBody>
      </p:sp>
      <p:sp>
        <p:nvSpPr>
          <p:cNvPr id="4" name="Rectangle 2"/>
          <p:cNvSpPr>
            <a:spLocks noGrp="1" noChangeArrowheads="1"/>
          </p:cNvSpPr>
          <p:nvPr>
            <p:ph type="title"/>
          </p:nvPr>
        </p:nvSpPr>
        <p:spPr>
          <a:xfrm>
            <a:off x="677334" y="609600"/>
            <a:ext cx="8596668" cy="1320800"/>
          </a:xfrm>
        </p:spPr>
        <p:txBody>
          <a:bodyPr/>
          <a:lstStyle/>
          <a:p>
            <a:pPr eaLnBrk="1" hangingPunct="1"/>
            <a:r>
              <a:rPr lang="en-US" altLang="en-US" dirty="0"/>
              <a:t>Pipe and Filter Style</a:t>
            </a:r>
          </a:p>
        </p:txBody>
      </p:sp>
      <p:sp>
        <p:nvSpPr>
          <p:cNvPr id="2" name="Slide Number Placeholder 1"/>
          <p:cNvSpPr>
            <a:spLocks noGrp="1"/>
          </p:cNvSpPr>
          <p:nvPr>
            <p:ph type="sldNum" sz="quarter" idx="12"/>
          </p:nvPr>
        </p:nvSpPr>
        <p:spPr/>
        <p:txBody>
          <a:bodyPr/>
          <a:lstStyle/>
          <a:p>
            <a:fld id="{9DA1A1C2-73CC-4802-810A-2F9F3E278EFE}" type="slidenum">
              <a:rPr lang="en-US" smtClean="0"/>
              <a:t>45</a:t>
            </a:fld>
            <a:endParaRPr lang="en-US"/>
          </a:p>
        </p:txBody>
      </p:sp>
    </p:spTree>
    <p:extLst>
      <p:ext uri="{BB962C8B-B14F-4D97-AF65-F5344CB8AC3E}">
        <p14:creationId xmlns:p14="http://schemas.microsoft.com/office/powerpoint/2010/main" val="26402342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113" y="1945177"/>
            <a:ext cx="10874830" cy="4231785"/>
          </a:xfrm>
        </p:spPr>
        <p:txBody>
          <a:bodyPr>
            <a:noAutofit/>
          </a:bodyPr>
          <a:lstStyle/>
          <a:p>
            <a:r>
              <a:rPr lang="en-US" sz="2800" b="1" dirty="0"/>
              <a:t>Problem: </a:t>
            </a:r>
            <a:r>
              <a:rPr lang="en-US" sz="2800" dirty="0"/>
              <a:t>Such systems need to be divided into reusable, loosely coupled components with simple, generic interaction mechanisms. </a:t>
            </a:r>
          </a:p>
          <a:p>
            <a:r>
              <a:rPr lang="en-US" sz="2800" dirty="0"/>
              <a:t>In this way they can be flexibly combined with each other. </a:t>
            </a:r>
          </a:p>
          <a:p>
            <a:r>
              <a:rPr lang="en-US" sz="2800" dirty="0"/>
              <a:t>The components, being generic and loosely coupled, are easily reused. </a:t>
            </a:r>
          </a:p>
          <a:p>
            <a:r>
              <a:rPr lang="en-US" sz="2800" dirty="0"/>
              <a:t>The components, being independent, can execute in parallel.</a:t>
            </a:r>
          </a:p>
        </p:txBody>
      </p:sp>
      <p:sp>
        <p:nvSpPr>
          <p:cNvPr id="4" name="Rectangle 2"/>
          <p:cNvSpPr>
            <a:spLocks noGrp="1" noChangeArrowheads="1"/>
          </p:cNvSpPr>
          <p:nvPr>
            <p:ph type="title"/>
          </p:nvPr>
        </p:nvSpPr>
        <p:spPr>
          <a:xfrm>
            <a:off x="677334" y="609600"/>
            <a:ext cx="8596668" cy="1320800"/>
          </a:xfrm>
        </p:spPr>
        <p:txBody>
          <a:bodyPr/>
          <a:lstStyle/>
          <a:p>
            <a:pPr eaLnBrk="1" hangingPunct="1"/>
            <a:r>
              <a:rPr lang="en-US" altLang="en-US" dirty="0"/>
              <a:t>Pipe and Filter Style</a:t>
            </a:r>
          </a:p>
        </p:txBody>
      </p:sp>
      <p:sp>
        <p:nvSpPr>
          <p:cNvPr id="2" name="Slide Number Placeholder 1"/>
          <p:cNvSpPr>
            <a:spLocks noGrp="1"/>
          </p:cNvSpPr>
          <p:nvPr>
            <p:ph type="sldNum" sz="quarter" idx="12"/>
          </p:nvPr>
        </p:nvSpPr>
        <p:spPr/>
        <p:txBody>
          <a:bodyPr/>
          <a:lstStyle/>
          <a:p>
            <a:fld id="{9DA1A1C2-73CC-4802-810A-2F9F3E278EFE}" type="slidenum">
              <a:rPr lang="en-US" smtClean="0"/>
              <a:t>46</a:t>
            </a:fld>
            <a:endParaRPr lang="en-US"/>
          </a:p>
        </p:txBody>
      </p:sp>
    </p:spTree>
    <p:extLst>
      <p:ext uri="{BB962C8B-B14F-4D97-AF65-F5344CB8AC3E}">
        <p14:creationId xmlns:p14="http://schemas.microsoft.com/office/powerpoint/2010/main" val="13047738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113" y="2261061"/>
            <a:ext cx="10874830" cy="3915901"/>
          </a:xfrm>
        </p:spPr>
        <p:txBody>
          <a:bodyPr>
            <a:noAutofit/>
          </a:bodyPr>
          <a:lstStyle/>
          <a:p>
            <a:r>
              <a:rPr lang="en-US" sz="2800" b="1" dirty="0"/>
              <a:t>Solution: </a:t>
            </a:r>
            <a:r>
              <a:rPr lang="en-US" sz="2800" dirty="0"/>
              <a:t>The pattern of interaction in the pipe-and-filter pattern is characterized by successive transformations of streams of data. </a:t>
            </a:r>
          </a:p>
          <a:p>
            <a:r>
              <a:rPr lang="en-US" sz="2800" dirty="0"/>
              <a:t>Data arrives at a filter’s input port(s), is transformed, and then is passed via its output port(s) through a pipe to the next filter. </a:t>
            </a:r>
          </a:p>
          <a:p>
            <a:r>
              <a:rPr lang="en-US" sz="2800" dirty="0"/>
              <a:t>A single filter can consume data from, or produce data to, one or more ports.</a:t>
            </a:r>
          </a:p>
        </p:txBody>
      </p:sp>
      <p:sp>
        <p:nvSpPr>
          <p:cNvPr id="4" name="Rectangle 2"/>
          <p:cNvSpPr>
            <a:spLocks noGrp="1" noChangeArrowheads="1"/>
          </p:cNvSpPr>
          <p:nvPr>
            <p:ph type="title"/>
          </p:nvPr>
        </p:nvSpPr>
        <p:spPr>
          <a:xfrm>
            <a:off x="677334" y="609600"/>
            <a:ext cx="8596668" cy="1320800"/>
          </a:xfrm>
        </p:spPr>
        <p:txBody>
          <a:bodyPr/>
          <a:lstStyle/>
          <a:p>
            <a:pPr eaLnBrk="1" hangingPunct="1"/>
            <a:r>
              <a:rPr lang="en-US" altLang="en-US" dirty="0"/>
              <a:t>Pipe and Filter Style</a:t>
            </a:r>
          </a:p>
        </p:txBody>
      </p:sp>
      <p:sp>
        <p:nvSpPr>
          <p:cNvPr id="2" name="Slide Number Placeholder 1"/>
          <p:cNvSpPr>
            <a:spLocks noGrp="1"/>
          </p:cNvSpPr>
          <p:nvPr>
            <p:ph type="sldNum" sz="quarter" idx="12"/>
          </p:nvPr>
        </p:nvSpPr>
        <p:spPr/>
        <p:txBody>
          <a:bodyPr/>
          <a:lstStyle/>
          <a:p>
            <a:fld id="{9DA1A1C2-73CC-4802-810A-2F9F3E278EFE}" type="slidenum">
              <a:rPr lang="en-US" smtClean="0"/>
              <a:t>47</a:t>
            </a:fld>
            <a:endParaRPr lang="en-US"/>
          </a:p>
        </p:txBody>
      </p:sp>
    </p:spTree>
    <p:extLst>
      <p:ext uri="{BB962C8B-B14F-4D97-AF65-F5344CB8AC3E}">
        <p14:creationId xmlns:p14="http://schemas.microsoft.com/office/powerpoint/2010/main" val="2199862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942" y="2193591"/>
            <a:ext cx="11651617" cy="216369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9DA1A1C2-73CC-4802-810A-2F9F3E278EFE}" type="slidenum">
              <a:rPr lang="en-US" smtClean="0"/>
              <a:t>48</a:t>
            </a:fld>
            <a:endParaRPr lang="en-US"/>
          </a:p>
        </p:txBody>
      </p:sp>
    </p:spTree>
    <p:extLst>
      <p:ext uri="{BB962C8B-B14F-4D97-AF65-F5344CB8AC3E}">
        <p14:creationId xmlns:p14="http://schemas.microsoft.com/office/powerpoint/2010/main" val="24655214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Strength and Weakness</a:t>
            </a:r>
          </a:p>
        </p:txBody>
      </p:sp>
      <p:sp>
        <p:nvSpPr>
          <p:cNvPr id="3" name="Content Placeholder 2"/>
          <p:cNvSpPr>
            <a:spLocks noGrp="1"/>
          </p:cNvSpPr>
          <p:nvPr>
            <p:ph idx="1"/>
          </p:nvPr>
        </p:nvSpPr>
        <p:spPr/>
        <p:txBody>
          <a:bodyPr/>
          <a:lstStyle/>
          <a:p>
            <a:r>
              <a:rPr lang="en-US" dirty="0"/>
              <a:t>Typically not a good choice for an interactive system, as it disallows cycles (which are important for user feedback). </a:t>
            </a:r>
          </a:p>
          <a:p>
            <a:r>
              <a:rPr lang="en-US" dirty="0"/>
              <a:t>Having large numbers of independent filters can add substantial amounts of computational overhead, because each filter runs as its own thread or process. </a:t>
            </a:r>
          </a:p>
          <a:p>
            <a:r>
              <a:rPr lang="en-US" dirty="0"/>
              <a:t>May not be appropriate for long-running computations, without the addition of some form of checkpoint/restore functionality, as the failure of any filter (or pipe) can cause the entire pipeline to fail. </a:t>
            </a:r>
          </a:p>
          <a:p>
            <a:r>
              <a:rPr lang="en-US" dirty="0"/>
              <a:t>Pipes buffer data during communication. Because of this property, filters can execute asynchronously and concurrently. </a:t>
            </a:r>
          </a:p>
          <a:p>
            <a:endParaRPr lang="en-US" dirty="0"/>
          </a:p>
          <a:p>
            <a:endParaRPr lang="en-US" dirty="0"/>
          </a:p>
        </p:txBody>
      </p:sp>
      <p:sp>
        <p:nvSpPr>
          <p:cNvPr id="4" name="Slide Number Placeholder 3"/>
          <p:cNvSpPr>
            <a:spLocks noGrp="1"/>
          </p:cNvSpPr>
          <p:nvPr>
            <p:ph type="sldNum" sz="quarter" idx="12"/>
          </p:nvPr>
        </p:nvSpPr>
        <p:spPr/>
        <p:txBody>
          <a:bodyPr/>
          <a:lstStyle/>
          <a:p>
            <a:fld id="{9DA1A1C2-73CC-4802-810A-2F9F3E278EFE}" type="slidenum">
              <a:rPr lang="en-US" smtClean="0"/>
              <a:t>49</a:t>
            </a:fld>
            <a:endParaRPr lang="en-US"/>
          </a:p>
        </p:txBody>
      </p:sp>
    </p:spTree>
    <p:extLst>
      <p:ext uri="{BB962C8B-B14F-4D97-AF65-F5344CB8AC3E}">
        <p14:creationId xmlns:p14="http://schemas.microsoft.com/office/powerpoint/2010/main" val="7389508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3913" y="1825625"/>
            <a:ext cx="11538857" cy="4351338"/>
          </a:xfrm>
        </p:spPr>
        <p:txBody>
          <a:bodyPr>
            <a:noAutofit/>
          </a:bodyPr>
          <a:lstStyle/>
          <a:p>
            <a:r>
              <a:rPr lang="en-US" sz="2800" dirty="0"/>
              <a:t>A filter typically does not know the identity of its upstream or downstream filters. For this reason, pipeline pipe-and-filter systems have the property that the overall computation can be treated as the functional composition of the computations of the filters, making it easier for the architect to reason about end-to-end behavior.</a:t>
            </a:r>
          </a:p>
        </p:txBody>
      </p:sp>
      <p:sp>
        <p:nvSpPr>
          <p:cNvPr id="4" name="Title 1"/>
          <p:cNvSpPr>
            <a:spLocks noGrp="1"/>
          </p:cNvSpPr>
          <p:nvPr>
            <p:ph type="title"/>
          </p:nvPr>
        </p:nvSpPr>
        <p:spPr/>
        <p:txBody>
          <a:bodyPr/>
          <a:lstStyle/>
          <a:p>
            <a:r>
              <a:rPr lang="en-US" dirty="0"/>
              <a:t>Strength and Weakness</a:t>
            </a:r>
          </a:p>
        </p:txBody>
      </p:sp>
      <p:sp>
        <p:nvSpPr>
          <p:cNvPr id="2" name="Slide Number Placeholder 1"/>
          <p:cNvSpPr>
            <a:spLocks noGrp="1"/>
          </p:cNvSpPr>
          <p:nvPr>
            <p:ph type="sldNum" sz="quarter" idx="12"/>
          </p:nvPr>
        </p:nvSpPr>
        <p:spPr/>
        <p:txBody>
          <a:bodyPr/>
          <a:lstStyle/>
          <a:p>
            <a:fld id="{9DA1A1C2-73CC-4802-810A-2F9F3E278EFE}" type="slidenum">
              <a:rPr lang="en-US" smtClean="0"/>
              <a:t>50</a:t>
            </a:fld>
            <a:endParaRPr lang="en-US"/>
          </a:p>
        </p:txBody>
      </p:sp>
    </p:spTree>
    <p:extLst>
      <p:ext uri="{BB962C8B-B14F-4D97-AF65-F5344CB8AC3E}">
        <p14:creationId xmlns:p14="http://schemas.microsoft.com/office/powerpoint/2010/main" val="129408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Strength and Weakness</a:t>
            </a:r>
          </a:p>
        </p:txBody>
      </p:sp>
      <p:sp>
        <p:nvSpPr>
          <p:cNvPr id="3" name="Content Placeholder 2"/>
          <p:cNvSpPr>
            <a:spLocks noGrp="1"/>
          </p:cNvSpPr>
          <p:nvPr>
            <p:ph idx="1"/>
          </p:nvPr>
        </p:nvSpPr>
        <p:spPr/>
        <p:txBody>
          <a:bodyPr>
            <a:noAutofit/>
          </a:bodyPr>
          <a:lstStyle/>
          <a:p>
            <a:r>
              <a:rPr lang="en-US" sz="2800" dirty="0"/>
              <a:t>Data transformation systems are typically structured as pipes and filters, with each filter responsible for one part of the overall transformation of the input data. </a:t>
            </a:r>
          </a:p>
          <a:p>
            <a:r>
              <a:rPr lang="en-US" sz="2800" dirty="0"/>
              <a:t>The independent processing at each step supports reuse, parallelization, and simplified reasoning about overall behavior. </a:t>
            </a:r>
          </a:p>
        </p:txBody>
      </p:sp>
      <p:sp>
        <p:nvSpPr>
          <p:cNvPr id="4" name="Slide Number Placeholder 3"/>
          <p:cNvSpPr>
            <a:spLocks noGrp="1"/>
          </p:cNvSpPr>
          <p:nvPr>
            <p:ph type="sldNum" sz="quarter" idx="12"/>
          </p:nvPr>
        </p:nvSpPr>
        <p:spPr/>
        <p:txBody>
          <a:bodyPr/>
          <a:lstStyle/>
          <a:p>
            <a:fld id="{9DA1A1C2-73CC-4802-810A-2F9F3E278EFE}" type="slidenum">
              <a:rPr lang="en-US" smtClean="0"/>
              <a:t>51</a:t>
            </a:fld>
            <a:endParaRPr lang="en-US"/>
          </a:p>
        </p:txBody>
      </p:sp>
    </p:spTree>
    <p:extLst>
      <p:ext uri="{BB962C8B-B14F-4D97-AF65-F5344CB8AC3E}">
        <p14:creationId xmlns:p14="http://schemas.microsoft.com/office/powerpoint/2010/main" val="11320449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Image result for pipes and filters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830" y="1013279"/>
            <a:ext cx="10173310" cy="376555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9DA1A1C2-73CC-4802-810A-2F9F3E278EFE}" type="slidenum">
              <a:rPr lang="en-US" smtClean="0"/>
              <a:t>52</a:t>
            </a:fld>
            <a:endParaRPr lang="en-US"/>
          </a:p>
        </p:txBody>
      </p:sp>
    </p:spTree>
    <p:extLst>
      <p:ext uri="{BB962C8B-B14F-4D97-AF65-F5344CB8AC3E}">
        <p14:creationId xmlns:p14="http://schemas.microsoft.com/office/powerpoint/2010/main" val="39293291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Pipe-and-Filter Architecture</a:t>
            </a:r>
          </a:p>
        </p:txBody>
      </p:sp>
      <p:sp>
        <p:nvSpPr>
          <p:cNvPr id="3" name="Content Placeholder 2"/>
          <p:cNvSpPr>
            <a:spLocks noGrp="1"/>
          </p:cNvSpPr>
          <p:nvPr>
            <p:ph idx="1"/>
          </p:nvPr>
        </p:nvSpPr>
        <p:spPr>
          <a:xfrm>
            <a:off x="337457" y="1825625"/>
            <a:ext cx="11571514" cy="4351338"/>
          </a:xfrm>
        </p:spPr>
        <p:txBody>
          <a:bodyPr>
            <a:noAutofit/>
          </a:bodyPr>
          <a:lstStyle/>
          <a:p>
            <a:r>
              <a:rPr lang="en-US" sz="2800" dirty="0"/>
              <a:t>Systems built using UNIX pipes</a:t>
            </a:r>
          </a:p>
          <a:p>
            <a:r>
              <a:rPr lang="en-US" sz="2800" dirty="0"/>
              <a:t>The request processing architecture of the Apache web server</a:t>
            </a:r>
          </a:p>
          <a:p>
            <a:r>
              <a:rPr lang="en-US" sz="2800" dirty="0"/>
              <a:t>Yahoo! Pipes for processing RSS feeds</a:t>
            </a:r>
          </a:p>
          <a:p>
            <a:r>
              <a:rPr lang="en-US" sz="2800" dirty="0"/>
              <a:t>Many workflow engines</a:t>
            </a:r>
          </a:p>
          <a:p>
            <a:r>
              <a:rPr lang="en-US" sz="2800" dirty="0"/>
              <a:t>Many scientific computation systems that have to process and analyze large streams of captured data.</a:t>
            </a:r>
          </a:p>
        </p:txBody>
      </p:sp>
      <p:sp>
        <p:nvSpPr>
          <p:cNvPr id="4" name="Slide Number Placeholder 3"/>
          <p:cNvSpPr>
            <a:spLocks noGrp="1"/>
          </p:cNvSpPr>
          <p:nvPr>
            <p:ph type="sldNum" sz="quarter" idx="12"/>
          </p:nvPr>
        </p:nvSpPr>
        <p:spPr/>
        <p:txBody>
          <a:bodyPr/>
          <a:lstStyle/>
          <a:p>
            <a:fld id="{9DA1A1C2-73CC-4802-810A-2F9F3E278EFE}" type="slidenum">
              <a:rPr lang="en-US" smtClean="0"/>
              <a:t>53</a:t>
            </a:fld>
            <a:endParaRPr lang="en-US"/>
          </a:p>
        </p:txBody>
      </p:sp>
    </p:spTree>
    <p:extLst>
      <p:ext uri="{BB962C8B-B14F-4D97-AF65-F5344CB8AC3E}">
        <p14:creationId xmlns:p14="http://schemas.microsoft.com/office/powerpoint/2010/main" val="32000919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a:xfrm>
            <a:off x="677334" y="609600"/>
            <a:ext cx="8596668" cy="786938"/>
          </a:xfrm>
        </p:spPr>
        <p:txBody>
          <a:bodyPr/>
          <a:lstStyle/>
          <a:p>
            <a:pPr eaLnBrk="1" hangingPunct="1"/>
            <a:r>
              <a:rPr lang="en-US" altLang="en-US" dirty="0"/>
              <a:t>Pipe and Filter (cont’d)</a:t>
            </a:r>
          </a:p>
        </p:txBody>
      </p:sp>
      <p:sp>
        <p:nvSpPr>
          <p:cNvPr id="29699" name="Rectangle 5"/>
          <p:cNvSpPr>
            <a:spLocks noGrp="1" noChangeArrowheads="1"/>
          </p:cNvSpPr>
          <p:nvPr>
            <p:ph idx="1"/>
          </p:nvPr>
        </p:nvSpPr>
        <p:spPr>
          <a:xfrm>
            <a:off x="860867" y="1579418"/>
            <a:ext cx="9530041" cy="4922982"/>
          </a:xfrm>
        </p:spPr>
        <p:txBody>
          <a:bodyPr>
            <a:noAutofit/>
          </a:bodyPr>
          <a:lstStyle/>
          <a:p>
            <a:pPr eaLnBrk="1" hangingPunct="1"/>
            <a:r>
              <a:rPr lang="en-US" altLang="en-US" sz="2400" dirty="0"/>
              <a:t>Variations</a:t>
            </a:r>
          </a:p>
          <a:p>
            <a:pPr lvl="1" eaLnBrk="1" hangingPunct="1"/>
            <a:r>
              <a:rPr lang="en-US" altLang="en-US" sz="2400" dirty="0"/>
              <a:t>Pipelines — linear sequences of filters</a:t>
            </a:r>
          </a:p>
          <a:p>
            <a:pPr lvl="1" eaLnBrk="1" hangingPunct="1"/>
            <a:r>
              <a:rPr lang="en-US" altLang="en-US" sz="2400" dirty="0"/>
              <a:t>Bounded pipes — limited amount of data on a pipe</a:t>
            </a:r>
          </a:p>
          <a:p>
            <a:pPr lvl="1" eaLnBrk="1" hangingPunct="1"/>
            <a:r>
              <a:rPr lang="en-US" altLang="en-US" sz="2400" dirty="0"/>
              <a:t>Typed pipes — data strongly typed</a:t>
            </a:r>
          </a:p>
          <a:p>
            <a:pPr eaLnBrk="1" hangingPunct="1"/>
            <a:r>
              <a:rPr lang="en-US" altLang="en-US" sz="2400" dirty="0"/>
              <a:t>Advantages</a:t>
            </a:r>
          </a:p>
          <a:p>
            <a:pPr lvl="1" eaLnBrk="1" hangingPunct="1"/>
            <a:r>
              <a:rPr lang="en-US" altLang="en-US" sz="2400" dirty="0"/>
              <a:t>System behavior is a succession of component behaviors</a:t>
            </a:r>
          </a:p>
          <a:p>
            <a:pPr lvl="1" eaLnBrk="1" hangingPunct="1"/>
            <a:r>
              <a:rPr lang="en-US" altLang="en-US" sz="2400" dirty="0"/>
              <a:t>Filter addition, replacement, and reuse</a:t>
            </a:r>
          </a:p>
          <a:p>
            <a:pPr lvl="2" eaLnBrk="1" hangingPunct="1"/>
            <a:r>
              <a:rPr lang="en-US" altLang="en-US" sz="2400" dirty="0"/>
              <a:t>Possible to hook any two filters together </a:t>
            </a:r>
          </a:p>
          <a:p>
            <a:pPr lvl="1" eaLnBrk="1" hangingPunct="1"/>
            <a:r>
              <a:rPr lang="en-US" altLang="en-US" sz="2400" dirty="0"/>
              <a:t>Certain analyses</a:t>
            </a:r>
          </a:p>
          <a:p>
            <a:pPr lvl="2" eaLnBrk="1" hangingPunct="1"/>
            <a:r>
              <a:rPr lang="en-US" altLang="en-US" sz="2400" dirty="0"/>
              <a:t>Throughput, latency, deadlock</a:t>
            </a:r>
          </a:p>
          <a:p>
            <a:pPr lvl="2" eaLnBrk="1" hangingPunct="1"/>
            <a:r>
              <a:rPr lang="en-US" altLang="en-US" sz="2400" dirty="0"/>
              <a:t>Concurrent execution</a:t>
            </a:r>
          </a:p>
        </p:txBody>
      </p:sp>
      <p:sp>
        <p:nvSpPr>
          <p:cNvPr id="2970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AE1E0805-EDDD-408F-B979-C50ACE18676A}" type="slidenum">
              <a:rPr lang="en-US" altLang="en-US" sz="1200">
                <a:latin typeface="Arial Black" panose="020B0A04020102020204" pitchFamily="34" charset="0"/>
              </a:rPr>
              <a:pPr>
                <a:spcBef>
                  <a:spcPct val="0"/>
                </a:spcBef>
                <a:buClrTx/>
                <a:buSzTx/>
                <a:buFontTx/>
                <a:buNone/>
              </a:pPr>
              <a:t>54</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26122496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title"/>
          </p:nvPr>
        </p:nvSpPr>
        <p:spPr/>
        <p:txBody>
          <a:bodyPr/>
          <a:lstStyle/>
          <a:p>
            <a:pPr eaLnBrk="1" hangingPunct="1"/>
            <a:r>
              <a:rPr lang="en-US" altLang="en-US"/>
              <a:t>Pipe and Filter (cont’d)</a:t>
            </a:r>
          </a:p>
        </p:txBody>
      </p:sp>
      <p:sp>
        <p:nvSpPr>
          <p:cNvPr id="31747" name="Rectangle 5"/>
          <p:cNvSpPr>
            <a:spLocks noGrp="1" noChangeArrowheads="1"/>
          </p:cNvSpPr>
          <p:nvPr>
            <p:ph idx="1"/>
          </p:nvPr>
        </p:nvSpPr>
        <p:spPr/>
        <p:txBody>
          <a:bodyPr>
            <a:normAutofit/>
          </a:bodyPr>
          <a:lstStyle/>
          <a:p>
            <a:pPr eaLnBrk="1" hangingPunct="1"/>
            <a:r>
              <a:rPr lang="en-US" altLang="en-US" sz="2800" dirty="0"/>
              <a:t>Disadvantages</a:t>
            </a:r>
          </a:p>
          <a:p>
            <a:pPr lvl="1" eaLnBrk="1" hangingPunct="1"/>
            <a:r>
              <a:rPr lang="en-US" altLang="en-US" sz="2800" dirty="0"/>
              <a:t>Batch organization of processing</a:t>
            </a:r>
          </a:p>
          <a:p>
            <a:pPr lvl="1" eaLnBrk="1" hangingPunct="1"/>
            <a:r>
              <a:rPr lang="en-US" altLang="en-US" sz="2800" dirty="0"/>
              <a:t>Interactive applications</a:t>
            </a:r>
          </a:p>
          <a:p>
            <a:pPr lvl="1" eaLnBrk="1" hangingPunct="1"/>
            <a:r>
              <a:rPr lang="en-US" altLang="en-US" sz="2800" dirty="0"/>
              <a:t>Lowest common denominator on data transmission</a:t>
            </a:r>
          </a:p>
        </p:txBody>
      </p:sp>
      <p:sp>
        <p:nvSpPr>
          <p:cNvPr id="3174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35E93C97-9E13-4595-8177-E31C2E90E5E5}" type="slidenum">
              <a:rPr lang="en-US" altLang="en-US" sz="1200">
                <a:latin typeface="Arial Black" panose="020B0A04020102020204" pitchFamily="34" charset="0"/>
              </a:rPr>
              <a:pPr>
                <a:spcBef>
                  <a:spcPct val="0"/>
                </a:spcBef>
                <a:buClrTx/>
                <a:buSzTx/>
                <a:buFontTx/>
                <a:buNone/>
              </a:pPr>
              <a:t>55</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13950698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en-US"/>
              <a:t>Pipe and Filter LL</a:t>
            </a:r>
          </a:p>
        </p:txBody>
      </p:sp>
      <p:sp>
        <p:nvSpPr>
          <p:cNvPr id="33795"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D31DAD09-5731-4130-B8AD-1E74C7003E91}" type="slidenum">
              <a:rPr lang="en-US" altLang="en-US" sz="1200">
                <a:latin typeface="Arial Black" panose="020B0A04020102020204" pitchFamily="34" charset="0"/>
              </a:rPr>
              <a:pPr>
                <a:spcBef>
                  <a:spcPct val="0"/>
                </a:spcBef>
                <a:buClrTx/>
                <a:buSzTx/>
                <a:buFontTx/>
                <a:buNone/>
              </a:pPr>
              <a:t>56</a:t>
            </a:fld>
            <a:endParaRPr lang="en-US" altLang="en-US" sz="1200">
              <a:latin typeface="Arial Black" panose="020B0A04020102020204" pitchFamily="34" charset="0"/>
            </a:endParaRPr>
          </a:p>
        </p:txBody>
      </p:sp>
      <p:pic>
        <p:nvPicPr>
          <p:cNvPr id="33796" name="Picture 3" descr="pipeFilter_U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5864" y="2855914"/>
            <a:ext cx="7278687" cy="114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99860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title"/>
          </p:nvPr>
        </p:nvSpPr>
        <p:spPr/>
        <p:txBody>
          <a:bodyPr/>
          <a:lstStyle/>
          <a:p>
            <a:pPr eaLnBrk="1" hangingPunct="1"/>
            <a:r>
              <a:rPr lang="en-US" altLang="en-US"/>
              <a:t>Blackboard Style</a:t>
            </a:r>
          </a:p>
        </p:txBody>
      </p:sp>
      <p:sp>
        <p:nvSpPr>
          <p:cNvPr id="35843" name="Rectangle 5"/>
          <p:cNvSpPr>
            <a:spLocks noGrp="1" noChangeArrowheads="1"/>
          </p:cNvSpPr>
          <p:nvPr>
            <p:ph idx="1"/>
          </p:nvPr>
        </p:nvSpPr>
        <p:spPr/>
        <p:txBody>
          <a:bodyPr>
            <a:normAutofit/>
          </a:bodyPr>
          <a:lstStyle/>
          <a:p>
            <a:pPr eaLnBrk="1" hangingPunct="1"/>
            <a:r>
              <a:rPr lang="en-US" altLang="en-US" sz="2800" dirty="0"/>
              <a:t>Two kinds of components</a:t>
            </a:r>
          </a:p>
          <a:p>
            <a:pPr lvl="1" eaLnBrk="1" hangingPunct="1"/>
            <a:r>
              <a:rPr lang="en-US" altLang="en-US" sz="2800" dirty="0"/>
              <a:t>Central data structure — blackboard</a:t>
            </a:r>
          </a:p>
          <a:p>
            <a:pPr lvl="1" eaLnBrk="1" hangingPunct="1"/>
            <a:r>
              <a:rPr lang="en-US" altLang="en-US" sz="2800" dirty="0"/>
              <a:t>Components operating on the blackboard</a:t>
            </a:r>
          </a:p>
          <a:p>
            <a:pPr eaLnBrk="1" hangingPunct="1"/>
            <a:r>
              <a:rPr lang="en-US" altLang="en-US" sz="2800" dirty="0"/>
              <a:t>System control is entirely driven by the blackboard state</a:t>
            </a:r>
          </a:p>
          <a:p>
            <a:pPr eaLnBrk="1" hangingPunct="1"/>
            <a:r>
              <a:rPr lang="en-US" altLang="en-US" sz="2800" dirty="0"/>
              <a:t>Examples</a:t>
            </a:r>
          </a:p>
          <a:p>
            <a:pPr lvl="1" eaLnBrk="1" hangingPunct="1"/>
            <a:r>
              <a:rPr lang="en-US" altLang="en-US" sz="2800" dirty="0"/>
              <a:t>Typically used for AI systems</a:t>
            </a:r>
          </a:p>
        </p:txBody>
      </p:sp>
      <p:sp>
        <p:nvSpPr>
          <p:cNvPr id="3584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C9C7632B-5DFC-466E-AD83-AE7C1489C39A}" type="slidenum">
              <a:rPr lang="en-US" altLang="en-US" sz="1200">
                <a:latin typeface="Arial Black" panose="020B0A04020102020204" pitchFamily="34" charset="0"/>
              </a:rPr>
              <a:pPr>
                <a:spcBef>
                  <a:spcPct val="0"/>
                </a:spcBef>
                <a:buClrTx/>
                <a:buSzTx/>
                <a:buFontTx/>
                <a:buNone/>
              </a:pPr>
              <a:t>57</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18193436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CE9A00C2-ADC3-4DB3-818F-F9208DFA3639}" type="slidenum">
              <a:rPr lang="en-US" altLang="en-US" sz="1200">
                <a:latin typeface="Arial Black" panose="020B0A04020102020204" pitchFamily="34" charset="0"/>
              </a:rPr>
              <a:pPr>
                <a:spcBef>
                  <a:spcPct val="0"/>
                </a:spcBef>
                <a:buClrTx/>
                <a:buSzTx/>
                <a:buFontTx/>
                <a:buNone/>
              </a:pPr>
              <a:t>58</a:t>
            </a:fld>
            <a:endParaRPr lang="en-US" altLang="en-US" sz="1200">
              <a:latin typeface="Arial Black" panose="020B0A04020102020204" pitchFamily="34" charset="0"/>
            </a:endParaRPr>
          </a:p>
        </p:txBody>
      </p:sp>
      <p:pic>
        <p:nvPicPr>
          <p:cNvPr id="37891" name="Picture 3" descr="blackboard_U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1" y="838200"/>
            <a:ext cx="5915025"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886200"/>
            <a:ext cx="8229600" cy="264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39870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ltLang="en-US"/>
              <a:t>Blackboard Style</a:t>
            </a:r>
          </a:p>
        </p:txBody>
      </p:sp>
      <p:sp>
        <p:nvSpPr>
          <p:cNvPr id="39939"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00E09F7A-4CE1-49C5-A919-7384616AABAA}" type="slidenum">
              <a:rPr lang="en-US" altLang="en-US" sz="1200">
                <a:latin typeface="Arial Black" panose="020B0A04020102020204" pitchFamily="34" charset="0"/>
              </a:rPr>
              <a:pPr>
                <a:spcBef>
                  <a:spcPct val="0"/>
                </a:spcBef>
                <a:buClrTx/>
                <a:buSzTx/>
                <a:buFontTx/>
                <a:buNone/>
              </a:pPr>
              <a:t>59</a:t>
            </a:fld>
            <a:endParaRPr lang="en-US" altLang="en-US" sz="1200">
              <a:latin typeface="Arial Black" panose="020B0A04020102020204" pitchFamily="34" charset="0"/>
            </a:endParaRPr>
          </a:p>
        </p:txBody>
      </p:sp>
      <p:pic>
        <p:nvPicPr>
          <p:cNvPr id="3994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971801"/>
            <a:ext cx="45720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6"/>
          <p:cNvSpPr>
            <a:spLocks noChangeArrowheads="1"/>
          </p:cNvSpPr>
          <p:nvPr/>
        </p:nvSpPr>
        <p:spPr bwMode="auto">
          <a:xfrm>
            <a:off x="2057400" y="1524001"/>
            <a:ext cx="84582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lgn="just">
              <a:spcBef>
                <a:spcPct val="0"/>
              </a:spcBef>
              <a:buClrTx/>
              <a:buSzTx/>
              <a:buFont typeface="Wingdings" panose="05000000000000000000" pitchFamily="2" charset="2"/>
              <a:buChar char="q"/>
            </a:pPr>
            <a:r>
              <a:rPr lang="en-US" altLang="en-US" sz="2000">
                <a:latin typeface="Times" panose="02020603050405020304" pitchFamily="18" charset="0"/>
              </a:rPr>
              <a:t>   The "captain", the overall supervisor.</a:t>
            </a:r>
          </a:p>
          <a:p>
            <a:pPr algn="just">
              <a:spcBef>
                <a:spcPct val="0"/>
              </a:spcBef>
              <a:buClrTx/>
              <a:buSzTx/>
              <a:buFont typeface="Wingdings" panose="05000000000000000000" pitchFamily="2" charset="2"/>
              <a:buChar char="q"/>
            </a:pPr>
            <a:r>
              <a:rPr lang="en-US" altLang="en-US" sz="2000">
                <a:latin typeface="Times" panose="02020603050405020304" pitchFamily="18" charset="0"/>
              </a:rPr>
              <a:t>   The "map navigator", the high level path planner.</a:t>
            </a:r>
          </a:p>
          <a:p>
            <a:pPr algn="just">
              <a:spcBef>
                <a:spcPct val="0"/>
              </a:spcBef>
              <a:buClrTx/>
              <a:buSzTx/>
              <a:buFont typeface="Wingdings" panose="05000000000000000000" pitchFamily="2" charset="2"/>
              <a:buChar char="q"/>
            </a:pPr>
            <a:r>
              <a:rPr lang="en-US" altLang="en-US" sz="2000">
                <a:latin typeface="Times" panose="02020603050405020304" pitchFamily="18" charset="0"/>
              </a:rPr>
              <a:t>   The "lookout", a module that monitors the environment for landmarks.</a:t>
            </a:r>
          </a:p>
          <a:p>
            <a:pPr algn="just">
              <a:spcBef>
                <a:spcPct val="0"/>
              </a:spcBef>
              <a:buClrTx/>
              <a:buSzTx/>
              <a:buFont typeface="Wingdings" panose="05000000000000000000" pitchFamily="2" charset="2"/>
              <a:buChar char="q"/>
            </a:pPr>
            <a:r>
              <a:rPr lang="en-US" altLang="en-US" sz="2000">
                <a:latin typeface="Times" panose="02020603050405020304" pitchFamily="18" charset="0"/>
              </a:rPr>
              <a:t>    The "pilot", the low level path planner and motor controller.</a:t>
            </a:r>
          </a:p>
          <a:p>
            <a:pPr>
              <a:spcBef>
                <a:spcPct val="0"/>
              </a:spcBef>
              <a:buClrTx/>
              <a:buSzTx/>
              <a:buFontTx/>
              <a:buNone/>
            </a:pPr>
            <a:br>
              <a:rPr lang="en-US" altLang="en-US">
                <a:latin typeface="Times" panose="02020603050405020304" pitchFamily="18" charset="0"/>
              </a:rPr>
            </a:br>
            <a:endParaRPr lang="en-US" altLang="en-US">
              <a:latin typeface="Times" panose="02020603050405020304" pitchFamily="18" charset="0"/>
            </a:endParaRPr>
          </a:p>
        </p:txBody>
      </p:sp>
      <p:sp>
        <p:nvSpPr>
          <p:cNvPr id="39942" name="TextBox 7"/>
          <p:cNvSpPr txBox="1">
            <a:spLocks noChangeArrowheads="1"/>
          </p:cNvSpPr>
          <p:nvPr/>
        </p:nvSpPr>
        <p:spPr bwMode="auto">
          <a:xfrm>
            <a:off x="4495800" y="6096001"/>
            <a:ext cx="3276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a:latin typeface="Times" panose="02020603050405020304" pitchFamily="18" charset="0"/>
              </a:rPr>
              <a:t>Mobile Robot</a:t>
            </a:r>
          </a:p>
        </p:txBody>
      </p:sp>
    </p:spTree>
    <p:extLst>
      <p:ext uri="{BB962C8B-B14F-4D97-AF65-F5344CB8AC3E}">
        <p14:creationId xmlns:p14="http://schemas.microsoft.com/office/powerpoint/2010/main" val="26943920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en-US"/>
              <a:t>Rule-Based Style</a:t>
            </a:r>
          </a:p>
        </p:txBody>
      </p:sp>
      <p:sp>
        <p:nvSpPr>
          <p:cNvPr id="40963" name="Rectangle 3"/>
          <p:cNvSpPr>
            <a:spLocks noGrp="1" noChangeArrowheads="1"/>
          </p:cNvSpPr>
          <p:nvPr>
            <p:ph idx="1"/>
          </p:nvPr>
        </p:nvSpPr>
        <p:spPr>
          <a:xfrm>
            <a:off x="1981200" y="1371600"/>
            <a:ext cx="8077200" cy="4191000"/>
          </a:xfrm>
        </p:spPr>
        <p:txBody>
          <a:bodyPr/>
          <a:lstStyle/>
          <a:p>
            <a:pPr algn="just" eaLnBrk="1" hangingPunct="1">
              <a:buFont typeface="Wingdings" panose="05000000000000000000" pitchFamily="2" charset="2"/>
              <a:buNone/>
            </a:pPr>
            <a:r>
              <a:rPr lang="en-US" altLang="en-US"/>
              <a:t>	</a:t>
            </a:r>
          </a:p>
          <a:p>
            <a:pPr algn="just" eaLnBrk="1" hangingPunct="1">
              <a:buFont typeface="Wingdings" panose="05000000000000000000" pitchFamily="2" charset="2"/>
              <a:buNone/>
            </a:pPr>
            <a:r>
              <a:rPr lang="en-US" altLang="en-US"/>
              <a:t>   Inference engine parses user input and determines whether it is a fact/rule or a query. If it is a fact/rule, it adds this entry to the knowledge base. Otherwise, it queries the knowledge base for applicable rules and attempts to resolve the query.</a:t>
            </a:r>
          </a:p>
          <a:p>
            <a:pPr algn="just" eaLnBrk="1" hangingPunct="1">
              <a:buFont typeface="Wingdings" panose="05000000000000000000" pitchFamily="2" charset="2"/>
              <a:buNone/>
            </a:pPr>
            <a:endParaRPr lang="en-US" altLang="en-US"/>
          </a:p>
          <a:p>
            <a:pPr algn="just" eaLnBrk="1" hangingPunct="1">
              <a:buFont typeface="Wingdings" panose="05000000000000000000" pitchFamily="2" charset="2"/>
              <a:buNone/>
            </a:pPr>
            <a:endParaRPr lang="en-US" altLang="en-US"/>
          </a:p>
        </p:txBody>
      </p:sp>
      <p:sp>
        <p:nvSpPr>
          <p:cNvPr id="4096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BED3B6FE-5F32-4812-ABDE-773391206F8D}" type="slidenum">
              <a:rPr lang="en-US" altLang="en-US" sz="1200">
                <a:latin typeface="Arial Black" panose="020B0A04020102020204" pitchFamily="34" charset="0"/>
              </a:rPr>
              <a:pPr>
                <a:spcBef>
                  <a:spcPct val="0"/>
                </a:spcBef>
                <a:buClrTx/>
                <a:buSzTx/>
                <a:buFontTx/>
                <a:buNone/>
              </a:pPr>
              <a:t>60</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35373270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FD44787A-6017-496C-A3A8-745086CDE59E}" type="slidenum">
              <a:rPr lang="en-US" altLang="en-US" sz="1200">
                <a:latin typeface="Arial Black" panose="020B0A04020102020204" pitchFamily="34" charset="0"/>
              </a:rPr>
              <a:pPr>
                <a:spcBef>
                  <a:spcPct val="0"/>
                </a:spcBef>
                <a:buClrTx/>
                <a:buSzTx/>
                <a:buFontTx/>
                <a:buNone/>
              </a:pPr>
              <a:t>61</a:t>
            </a:fld>
            <a:endParaRPr lang="en-US" altLang="en-US" sz="1200">
              <a:latin typeface="Arial Black" panose="020B0A04020102020204" pitchFamily="34" charset="0"/>
            </a:endParaRPr>
          </a:p>
        </p:txBody>
      </p:sp>
      <p:sp>
        <p:nvSpPr>
          <p:cNvPr id="5" name="Rectangle 2"/>
          <p:cNvSpPr txBox="1">
            <a:spLocks noChangeArrowheads="1"/>
          </p:cNvSpPr>
          <p:nvPr/>
        </p:nvSpPr>
        <p:spPr bwMode="auto">
          <a:xfrm>
            <a:off x="2133600" y="762000"/>
            <a:ext cx="8229600" cy="914400"/>
          </a:xfrm>
          <a:prstGeom prst="rect">
            <a:avLst/>
          </a:prstGeom>
          <a:noFill/>
          <a:ln w="9525">
            <a:noFill/>
            <a:miter lim="800000"/>
            <a:headEnd/>
            <a:tailEnd/>
          </a:ln>
        </p:spPr>
        <p:txBody>
          <a:bodyPr anchor="ctr"/>
          <a:lstStyle/>
          <a:p>
            <a:pPr eaLnBrk="1" hangingPunct="1">
              <a:defRPr/>
            </a:pPr>
            <a:r>
              <a:rPr lang="en-US" altLang="en-US" sz="3200" b="1" kern="0" dirty="0">
                <a:latin typeface="+mj-lt"/>
                <a:ea typeface="+mj-ea"/>
                <a:cs typeface="+mj-cs"/>
              </a:rPr>
              <a:t>Rule-Based Style</a:t>
            </a:r>
          </a:p>
        </p:txBody>
      </p:sp>
      <p:pic>
        <p:nvPicPr>
          <p:cNvPr id="4301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600200"/>
            <a:ext cx="8382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124200"/>
            <a:ext cx="8305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9744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en-US"/>
              <a:t>Rule-Based Style (cont’d)</a:t>
            </a:r>
          </a:p>
        </p:txBody>
      </p:sp>
      <p:sp>
        <p:nvSpPr>
          <p:cNvPr id="44035" name="Rectangle 3"/>
          <p:cNvSpPr>
            <a:spLocks noGrp="1" noChangeArrowheads="1"/>
          </p:cNvSpPr>
          <p:nvPr>
            <p:ph idx="1"/>
          </p:nvPr>
        </p:nvSpPr>
        <p:spPr>
          <a:xfrm>
            <a:off x="2057400" y="1600200"/>
            <a:ext cx="8229600" cy="4191000"/>
          </a:xfrm>
        </p:spPr>
        <p:txBody>
          <a:bodyPr/>
          <a:lstStyle/>
          <a:p>
            <a:pPr eaLnBrk="1" hangingPunct="1"/>
            <a:r>
              <a:rPr lang="en-US" altLang="en-US"/>
              <a:t>Components: User interface, inference engine, knowledge base</a:t>
            </a:r>
          </a:p>
          <a:p>
            <a:pPr eaLnBrk="1" hangingPunct="1"/>
            <a:r>
              <a:rPr lang="en-US" altLang="en-US"/>
              <a:t>Connectors: Components are tightly interconnected, with direct procedure calls and/or shared memory.</a:t>
            </a:r>
          </a:p>
          <a:p>
            <a:pPr eaLnBrk="1" hangingPunct="1"/>
            <a:r>
              <a:rPr lang="en-US" altLang="en-US"/>
              <a:t>Data Elements: Facts/rules and queries</a:t>
            </a:r>
          </a:p>
          <a:p>
            <a:pPr eaLnBrk="1" hangingPunct="1"/>
            <a:r>
              <a:rPr lang="en-US" altLang="en-US"/>
              <a:t>Behavior of the application can be very easily modified through addition or deletion of rules from the knowledge base. E.g., Car price prediction</a:t>
            </a:r>
          </a:p>
          <a:p>
            <a:pPr eaLnBrk="1" hangingPunct="1"/>
            <a:r>
              <a:rPr lang="en-US" altLang="en-US"/>
              <a:t>Caution: When a large number of rules are involved understanding the interactions between multiple rules affected by the same facts can become </a:t>
            </a:r>
            <a:r>
              <a:rPr lang="en-US" altLang="en-US" i="1"/>
              <a:t>very</a:t>
            </a:r>
            <a:r>
              <a:rPr lang="en-US" altLang="en-US"/>
              <a:t> difficult. </a:t>
            </a:r>
          </a:p>
          <a:p>
            <a:pPr lvl="1" eaLnBrk="1" hangingPunct="1"/>
            <a:r>
              <a:rPr lang="en-US" altLang="en-US"/>
              <a:t>This is where ML and DL comes into business.</a:t>
            </a:r>
          </a:p>
        </p:txBody>
      </p:sp>
      <p:sp>
        <p:nvSpPr>
          <p:cNvPr id="4403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621A52B9-07E2-4B96-BA8B-CAE2286AB5AF}" type="slidenum">
              <a:rPr lang="en-US" altLang="en-US" sz="1200">
                <a:latin typeface="Arial Black" panose="020B0A04020102020204" pitchFamily="34" charset="0"/>
              </a:rPr>
              <a:pPr>
                <a:spcBef>
                  <a:spcPct val="0"/>
                </a:spcBef>
                <a:buClrTx/>
                <a:buSzTx/>
                <a:buFontTx/>
                <a:buNone/>
              </a:pPr>
              <a:t>62</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24028887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en-US"/>
              <a:t>Rule Based LL</a:t>
            </a:r>
          </a:p>
        </p:txBody>
      </p:sp>
      <p:sp>
        <p:nvSpPr>
          <p:cNvPr id="45059"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473C6ADE-F846-4041-B43B-2D2901125215}" type="slidenum">
              <a:rPr lang="en-US" altLang="en-US" sz="1200">
                <a:latin typeface="Arial Black" panose="020B0A04020102020204" pitchFamily="34" charset="0"/>
              </a:rPr>
              <a:pPr>
                <a:spcBef>
                  <a:spcPct val="0"/>
                </a:spcBef>
                <a:buClrTx/>
                <a:buSzTx/>
                <a:buFontTx/>
                <a:buNone/>
              </a:pPr>
              <a:t>63</a:t>
            </a:fld>
            <a:endParaRPr lang="en-US" altLang="en-US" sz="1200">
              <a:latin typeface="Arial Black" panose="020B0A04020102020204" pitchFamily="34" charset="0"/>
            </a:endParaRPr>
          </a:p>
        </p:txBody>
      </p:sp>
      <p:pic>
        <p:nvPicPr>
          <p:cNvPr id="45060" name="Picture 3" descr="ruleBased_ExpertSystem_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066800"/>
            <a:ext cx="4724400" cy="462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2" name="TextBox 7"/>
          <p:cNvSpPr txBox="1">
            <a:spLocks noChangeArrowheads="1"/>
          </p:cNvSpPr>
          <p:nvPr/>
        </p:nvSpPr>
        <p:spPr bwMode="auto">
          <a:xfrm>
            <a:off x="2514600" y="2133601"/>
            <a:ext cx="2286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a:latin typeface="Times" panose="02020603050405020304" pitchFamily="18" charset="0"/>
              </a:rPr>
              <a:t>Goal = Query</a:t>
            </a:r>
          </a:p>
        </p:txBody>
      </p:sp>
    </p:spTree>
    <p:extLst>
      <p:ext uri="{BB962C8B-B14F-4D97-AF65-F5344CB8AC3E}">
        <p14:creationId xmlns:p14="http://schemas.microsoft.com/office/powerpoint/2010/main" val="1246049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en-US"/>
              <a:t>Interpreter Style</a:t>
            </a:r>
          </a:p>
        </p:txBody>
      </p:sp>
      <p:sp>
        <p:nvSpPr>
          <p:cNvPr id="47107" name="Rectangle 3"/>
          <p:cNvSpPr>
            <a:spLocks noGrp="1" noChangeArrowheads="1"/>
          </p:cNvSpPr>
          <p:nvPr>
            <p:ph idx="1"/>
          </p:nvPr>
        </p:nvSpPr>
        <p:spPr>
          <a:xfrm>
            <a:off x="797859" y="1499524"/>
            <a:ext cx="8937812" cy="4724400"/>
          </a:xfrm>
        </p:spPr>
        <p:txBody>
          <a:bodyPr/>
          <a:lstStyle/>
          <a:p>
            <a:pPr algn="just" eaLnBrk="1" hangingPunct="1"/>
            <a:r>
              <a:rPr lang="en-US" altLang="en-US" sz="2200" dirty="0"/>
              <a:t>Interpreter parses and executes input commands, updating the state maintained by the interpreter</a:t>
            </a:r>
          </a:p>
          <a:p>
            <a:pPr algn="just" eaLnBrk="1" hangingPunct="1"/>
            <a:r>
              <a:rPr lang="en-US" altLang="en-US" sz="2200" dirty="0"/>
              <a:t>Components: Command interpreter, program/interpreter state, user interface.</a:t>
            </a:r>
          </a:p>
          <a:p>
            <a:pPr algn="just" eaLnBrk="1" hangingPunct="1"/>
            <a:r>
              <a:rPr lang="en-US" altLang="en-US" sz="2200" dirty="0"/>
              <a:t>Connectors: Typically very closely bound with direct procedure calls and shared state.</a:t>
            </a:r>
          </a:p>
          <a:p>
            <a:pPr algn="just" eaLnBrk="1" hangingPunct="1"/>
            <a:r>
              <a:rPr lang="en-US" altLang="en-US" sz="2200" dirty="0"/>
              <a:t>Highly dynamic behavior possible, where the set of commands is dynamically modified.  System architecture may remain constant while new capabilities are created based upon existing primitives.</a:t>
            </a:r>
          </a:p>
          <a:p>
            <a:pPr algn="just" eaLnBrk="1" hangingPunct="1"/>
            <a:r>
              <a:rPr lang="en-US" altLang="en-US" sz="2200" dirty="0"/>
              <a:t>Superb for end-user programmability; supports dynamically changing set of capabilities</a:t>
            </a:r>
          </a:p>
          <a:p>
            <a:pPr eaLnBrk="1" hangingPunct="1"/>
            <a:endParaRPr lang="en-US" altLang="en-US" sz="2200" dirty="0"/>
          </a:p>
        </p:txBody>
      </p:sp>
      <p:sp>
        <p:nvSpPr>
          <p:cNvPr id="4710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BBFADFE1-375C-4547-8363-46B1D499D775}" type="slidenum">
              <a:rPr lang="en-US" altLang="en-US" sz="1200">
                <a:latin typeface="Arial Black" panose="020B0A04020102020204" pitchFamily="34" charset="0"/>
              </a:rPr>
              <a:pPr>
                <a:spcBef>
                  <a:spcPct val="0"/>
                </a:spcBef>
                <a:buClrTx/>
                <a:buSzTx/>
                <a:buFontTx/>
                <a:buNone/>
              </a:pPr>
              <a:t>64</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5778817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en-US"/>
              <a:t>Interpreter LL</a:t>
            </a:r>
          </a:p>
        </p:txBody>
      </p:sp>
      <p:sp>
        <p:nvSpPr>
          <p:cNvPr id="49155"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90FBE795-B45B-4B8C-9CB1-3B52A7C90EAC}" type="slidenum">
              <a:rPr lang="en-US" altLang="en-US" sz="1200">
                <a:latin typeface="Arial Black" panose="020B0A04020102020204" pitchFamily="34" charset="0"/>
              </a:rPr>
              <a:pPr>
                <a:spcBef>
                  <a:spcPct val="0"/>
                </a:spcBef>
                <a:buClrTx/>
                <a:buSzTx/>
                <a:buFontTx/>
                <a:buNone/>
              </a:pPr>
              <a:t>65</a:t>
            </a:fld>
            <a:endParaRPr lang="en-US" altLang="en-US" sz="1200">
              <a:latin typeface="Arial Black" panose="020B0A04020102020204" pitchFamily="34" charset="0"/>
            </a:endParaRPr>
          </a:p>
        </p:txBody>
      </p:sp>
      <p:pic>
        <p:nvPicPr>
          <p:cNvPr id="49156" name="Picture 3" descr="interpreter_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493714"/>
            <a:ext cx="4953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Text Box 4"/>
          <p:cNvSpPr txBox="1">
            <a:spLocks noChangeArrowheads="1"/>
          </p:cNvSpPr>
          <p:nvPr/>
        </p:nvSpPr>
        <p:spPr bwMode="auto">
          <a:xfrm>
            <a:off x="1752601" y="6629400"/>
            <a:ext cx="82661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800" i="1">
                <a:latin typeface="Helvetica" panose="020B0604020202020204" pitchFamily="34" charset="0"/>
              </a:rPr>
              <a:t>Software Architecture: Foundations, Theory, and Practice</a:t>
            </a:r>
            <a:r>
              <a:rPr lang="en-US" altLang="en-US" sz="800">
                <a:latin typeface="Helvetica" panose="020B0604020202020204" pitchFamily="34" charset="0"/>
              </a:rPr>
              <a:t>; Richard N. Taylor, Nenad Medvidovic, and Eric M. Dashofy; </a:t>
            </a:r>
            <a:r>
              <a:rPr lang="en-US" altLang="en-US" sz="800">
                <a:latin typeface="Arial" panose="020B0604020202020204" pitchFamily="34" charset="0"/>
              </a:rPr>
              <a:t>© 2008 John Wiley &amp; Sons, Inc. Reprinted with permission.</a:t>
            </a:r>
            <a:r>
              <a:rPr lang="en-US" altLang="en-US" sz="900">
                <a:latin typeface="Helvetica" panose="020B0604020202020204" pitchFamily="34" charset="0"/>
              </a:rPr>
              <a:t> </a:t>
            </a:r>
          </a:p>
        </p:txBody>
      </p:sp>
      <p:sp>
        <p:nvSpPr>
          <p:cNvPr id="49158" name="Rectangle 5"/>
          <p:cNvSpPr>
            <a:spLocks noChangeArrowheads="1"/>
          </p:cNvSpPr>
          <p:nvPr/>
        </p:nvSpPr>
        <p:spPr bwMode="auto">
          <a:xfrm>
            <a:off x="2286000" y="4876801"/>
            <a:ext cx="6172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600" dirty="0">
                <a:latin typeface="Times" panose="02020603050405020304" pitchFamily="18" charset="0"/>
              </a:rPr>
              <a:t>=IF(Something is True, then do something, otherwise do something else</a:t>
            </a:r>
            <a:r>
              <a:rPr lang="en-US" altLang="en-US" dirty="0">
                <a:latin typeface="Times" panose="02020603050405020304" pitchFamily="18" charset="0"/>
              </a:rPr>
              <a:t>)</a:t>
            </a:r>
          </a:p>
        </p:txBody>
      </p:sp>
      <p:sp>
        <p:nvSpPr>
          <p:cNvPr id="49159" name="Rectangle 6"/>
          <p:cNvSpPr>
            <a:spLocks noChangeArrowheads="1"/>
          </p:cNvSpPr>
          <p:nvPr/>
        </p:nvSpPr>
        <p:spPr bwMode="auto">
          <a:xfrm>
            <a:off x="2438400" y="5226051"/>
            <a:ext cx="76200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lgn="just">
              <a:spcBef>
                <a:spcPct val="0"/>
              </a:spcBef>
              <a:buClrTx/>
              <a:buSzTx/>
              <a:buFontTx/>
              <a:buNone/>
            </a:pPr>
            <a:r>
              <a:rPr lang="en-US" altLang="en-US" sz="2000" dirty="0">
                <a:latin typeface="Times" panose="02020603050405020304" pitchFamily="18" charset="0"/>
              </a:rPr>
              <a:t>=IF(B2&gt;97,"A+",IF(B2&gt;93,"A",IF(B2&gt;89,"A-",IF(B2&gt;87,"B+",IF(B2&gt;83,"B",IF(B2&gt;79,"B-", IF(B2&gt;77,"C+",IF(B2&gt;73,"C",IF(B2&gt;69,"C-",IF(B2&gt;57,"D+",IF(B2&gt;53,"D",IF(B2&gt;49,"D-","F"))))))))))))</a:t>
            </a:r>
          </a:p>
        </p:txBody>
      </p:sp>
    </p:spTree>
    <p:extLst>
      <p:ext uri="{BB962C8B-B14F-4D97-AF65-F5344CB8AC3E}">
        <p14:creationId xmlns:p14="http://schemas.microsoft.com/office/powerpoint/2010/main" val="26886421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Interpreter Style</a:t>
            </a:r>
          </a:p>
        </p:txBody>
      </p:sp>
      <p:sp>
        <p:nvSpPr>
          <p:cNvPr id="3" name="Content Placeholder 2"/>
          <p:cNvSpPr>
            <a:spLocks noGrp="1"/>
          </p:cNvSpPr>
          <p:nvPr>
            <p:ph idx="1"/>
          </p:nvPr>
        </p:nvSpPr>
        <p:spPr>
          <a:xfrm>
            <a:off x="677334" y="1474789"/>
            <a:ext cx="8596668" cy="3880773"/>
          </a:xfrm>
        </p:spPr>
        <p:txBody>
          <a:bodyPr>
            <a:normAutofit/>
          </a:bodyPr>
          <a:lstStyle/>
          <a:p>
            <a:r>
              <a:rPr lang="en-US" dirty="0"/>
              <a:t>Interpreter architecture is used in systems that execute instructions dynamically at runtime.</a:t>
            </a:r>
          </a:p>
          <a:p>
            <a:r>
              <a:rPr lang="en-US" dirty="0"/>
              <a:t>Instead of compiling the entire program beforehand, the system:</a:t>
            </a:r>
          </a:p>
          <a:p>
            <a:r>
              <a:rPr lang="en-US" dirty="0"/>
              <a:t>Reads → Parses → Executes instructions one by one</a:t>
            </a:r>
          </a:p>
          <a:p>
            <a:r>
              <a:rPr lang="en-US" dirty="0"/>
              <a:t>This allows immediate execution and flexibility in handling dynamic inputs.</a:t>
            </a:r>
          </a:p>
          <a:p>
            <a:r>
              <a:rPr lang="en-US" dirty="0"/>
              <a:t>How It Works</a:t>
            </a:r>
          </a:p>
          <a:p>
            <a:r>
              <a:rPr lang="en-US" dirty="0"/>
              <a:t>Read: Take input (code, command, or expression)</a:t>
            </a:r>
          </a:p>
          <a:p>
            <a:r>
              <a:rPr lang="en-US" dirty="0"/>
              <a:t>Parse: Check syntax and understand structure</a:t>
            </a:r>
          </a:p>
          <a:p>
            <a:r>
              <a:rPr lang="en-US" dirty="0"/>
              <a:t>Execute: Perform the required operation</a:t>
            </a:r>
          </a:p>
        </p:txBody>
      </p:sp>
      <p:sp>
        <p:nvSpPr>
          <p:cNvPr id="4" name="Slide Number Placeholder 3"/>
          <p:cNvSpPr>
            <a:spLocks noGrp="1"/>
          </p:cNvSpPr>
          <p:nvPr>
            <p:ph type="sldNum" sz="quarter" idx="12"/>
          </p:nvPr>
        </p:nvSpPr>
        <p:spPr/>
        <p:txBody>
          <a:bodyPr/>
          <a:lstStyle/>
          <a:p>
            <a:fld id="{9DA1A1C2-73CC-4802-810A-2F9F3E278EFE}" type="slidenum">
              <a:rPr lang="en-US" smtClean="0"/>
              <a:t>66</a:t>
            </a:fld>
            <a:endParaRPr lang="en-US"/>
          </a:p>
        </p:txBody>
      </p:sp>
    </p:spTree>
    <p:extLst>
      <p:ext uri="{BB962C8B-B14F-4D97-AF65-F5344CB8AC3E}">
        <p14:creationId xmlns:p14="http://schemas.microsoft.com/office/powerpoint/2010/main" val="41568628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Interpreter Style</a:t>
            </a:r>
          </a:p>
        </p:txBody>
      </p:sp>
      <p:sp>
        <p:nvSpPr>
          <p:cNvPr id="3" name="Content Placeholder 2"/>
          <p:cNvSpPr>
            <a:spLocks noGrp="1"/>
          </p:cNvSpPr>
          <p:nvPr>
            <p:ph idx="1"/>
          </p:nvPr>
        </p:nvSpPr>
        <p:spPr>
          <a:xfrm>
            <a:off x="677333" y="1501684"/>
            <a:ext cx="9085231" cy="3880773"/>
          </a:xfrm>
        </p:spPr>
        <p:txBody>
          <a:bodyPr>
            <a:normAutofit/>
          </a:bodyPr>
          <a:lstStyle/>
          <a:p>
            <a:r>
              <a:rPr lang="en-US" dirty="0"/>
              <a:t>The interpreter executes code one statement at a time instead of translating the whole program at once.</a:t>
            </a:r>
          </a:p>
          <a:p>
            <a:r>
              <a:rPr lang="en-US" dirty="0"/>
              <a:t>The program does not need to be converted into machine code beforehand. This reduces setup time and allows quick testing.</a:t>
            </a:r>
          </a:p>
          <a:p>
            <a:r>
              <a:rPr lang="en-US" dirty="0"/>
              <a:t>New instructions can be added, modified, and executed during runtime.</a:t>
            </a:r>
          </a:p>
          <a:p>
            <a:r>
              <a:rPr lang="en-US" dirty="0"/>
              <a:t>Each instruction is:</a:t>
            </a:r>
          </a:p>
          <a:p>
            <a:r>
              <a:rPr lang="en-US" dirty="0"/>
              <a:t>Read → Parsed → Executed repeatedly</a:t>
            </a:r>
          </a:p>
          <a:p>
            <a:r>
              <a:rPr lang="en-US" dirty="0"/>
              <a:t>This adds overhead compared to compiled programs, which are already translated into machine code.</a:t>
            </a:r>
          </a:p>
        </p:txBody>
      </p:sp>
      <p:sp>
        <p:nvSpPr>
          <p:cNvPr id="4" name="Slide Number Placeholder 3"/>
          <p:cNvSpPr>
            <a:spLocks noGrp="1"/>
          </p:cNvSpPr>
          <p:nvPr>
            <p:ph type="sldNum" sz="quarter" idx="12"/>
          </p:nvPr>
        </p:nvSpPr>
        <p:spPr/>
        <p:txBody>
          <a:bodyPr/>
          <a:lstStyle/>
          <a:p>
            <a:fld id="{9DA1A1C2-73CC-4802-810A-2F9F3E278EFE}" type="slidenum">
              <a:rPr lang="en-US" smtClean="0"/>
              <a:t>67</a:t>
            </a:fld>
            <a:endParaRPr lang="en-US"/>
          </a:p>
        </p:txBody>
      </p:sp>
    </p:spTree>
    <p:extLst>
      <p:ext uri="{BB962C8B-B14F-4D97-AF65-F5344CB8AC3E}">
        <p14:creationId xmlns:p14="http://schemas.microsoft.com/office/powerpoint/2010/main" val="28801931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Interpreter Style</a:t>
            </a:r>
          </a:p>
        </p:txBody>
      </p:sp>
      <p:sp>
        <p:nvSpPr>
          <p:cNvPr id="3" name="Content Placeholder 2"/>
          <p:cNvSpPr>
            <a:spLocks noGrp="1"/>
          </p:cNvSpPr>
          <p:nvPr>
            <p:ph idx="1"/>
          </p:nvPr>
        </p:nvSpPr>
        <p:spPr>
          <a:xfrm>
            <a:off x="677334" y="1461342"/>
            <a:ext cx="8596668" cy="3880773"/>
          </a:xfrm>
        </p:spPr>
        <p:txBody>
          <a:bodyPr>
            <a:normAutofit lnSpcReduction="10000"/>
          </a:bodyPr>
          <a:lstStyle/>
          <a:p>
            <a:r>
              <a:rPr lang="en-US" dirty="0"/>
              <a:t>Advantages</a:t>
            </a:r>
          </a:p>
          <a:p>
            <a:r>
              <a:rPr lang="en-US" dirty="0"/>
              <a:t>Easy to Use and Rapid Development</a:t>
            </a:r>
          </a:p>
          <a:p>
            <a:r>
              <a:rPr lang="en-US" dirty="0"/>
              <a:t>Immediate Feedback (Debugging Friendly)</a:t>
            </a:r>
          </a:p>
          <a:p>
            <a:r>
              <a:rPr lang="en-US" dirty="0"/>
              <a:t>Code can be modified and executed at runtime</a:t>
            </a:r>
          </a:p>
          <a:p>
            <a:r>
              <a:rPr lang="en-US" dirty="0"/>
              <a:t>Same code can run on different systems (as long as interpreter exists)</a:t>
            </a:r>
          </a:p>
          <a:p>
            <a:r>
              <a:rPr lang="en-US" dirty="0"/>
              <a:t>Disadvantages</a:t>
            </a:r>
          </a:p>
          <a:p>
            <a:r>
              <a:rPr lang="en-US" dirty="0"/>
              <a:t>Each line is interpreted at runtime</a:t>
            </a:r>
          </a:p>
          <a:p>
            <a:r>
              <a:rPr lang="en-US" dirty="0"/>
              <a:t>Program cannot run without the interpreter installed</a:t>
            </a:r>
          </a:p>
          <a:p>
            <a:r>
              <a:rPr lang="en-US" dirty="0"/>
              <a:t>Performance overhead becomes significant in large applications</a:t>
            </a:r>
          </a:p>
          <a:p>
            <a:r>
              <a:rPr lang="en-US" dirty="0"/>
              <a:t>Errors are only detected during execution (not before)</a:t>
            </a:r>
          </a:p>
        </p:txBody>
      </p:sp>
      <p:sp>
        <p:nvSpPr>
          <p:cNvPr id="4" name="Slide Number Placeholder 3"/>
          <p:cNvSpPr>
            <a:spLocks noGrp="1"/>
          </p:cNvSpPr>
          <p:nvPr>
            <p:ph type="sldNum" sz="quarter" idx="12"/>
          </p:nvPr>
        </p:nvSpPr>
        <p:spPr/>
        <p:txBody>
          <a:bodyPr/>
          <a:lstStyle/>
          <a:p>
            <a:fld id="{9DA1A1C2-73CC-4802-810A-2F9F3E278EFE}" type="slidenum">
              <a:rPr lang="en-US" smtClean="0"/>
              <a:t>68</a:t>
            </a:fld>
            <a:endParaRPr lang="en-US"/>
          </a:p>
        </p:txBody>
      </p:sp>
    </p:spTree>
    <p:extLst>
      <p:ext uri="{BB962C8B-B14F-4D97-AF65-F5344CB8AC3E}">
        <p14:creationId xmlns:p14="http://schemas.microsoft.com/office/powerpoint/2010/main" val="18604174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Implicit Invocation Publish-Subscribe Style</a:t>
            </a:r>
            <a:endParaRPr lang="en-US" dirty="0"/>
          </a:p>
        </p:txBody>
      </p:sp>
      <p:sp>
        <p:nvSpPr>
          <p:cNvPr id="3" name="Content Placeholder 2"/>
          <p:cNvSpPr>
            <a:spLocks noGrp="1"/>
          </p:cNvSpPr>
          <p:nvPr>
            <p:ph idx="1"/>
          </p:nvPr>
        </p:nvSpPr>
        <p:spPr/>
        <p:txBody>
          <a:bodyPr/>
          <a:lstStyle/>
          <a:p>
            <a:r>
              <a:rPr lang="en-US" dirty="0"/>
              <a:t>Publish–Subscribe (Pub/Sub) is an architectural style where:</a:t>
            </a:r>
          </a:p>
          <a:p>
            <a:r>
              <a:rPr lang="en-US" dirty="0"/>
              <a:t>Publishers send messages (events/data)</a:t>
            </a:r>
          </a:p>
          <a:p>
            <a:r>
              <a:rPr lang="en-US" dirty="0"/>
              <a:t>Subscribers receive messages they are interested in</a:t>
            </a:r>
          </a:p>
          <a:p>
            <a:r>
              <a:rPr lang="en-US" dirty="0"/>
              <a:t>Publishers and subscribers do not know each other directly</a:t>
            </a:r>
          </a:p>
          <a:p>
            <a:r>
              <a:rPr lang="en-US" dirty="0"/>
              <a:t>How It Works</a:t>
            </a:r>
          </a:p>
          <a:p>
            <a:r>
              <a:rPr lang="en-US" dirty="0"/>
              <a:t>Publisher sends a message to a topic/channel</a:t>
            </a:r>
          </a:p>
          <a:p>
            <a:r>
              <a:rPr lang="en-US" dirty="0"/>
              <a:t>System manages the message</a:t>
            </a:r>
          </a:p>
          <a:p>
            <a:r>
              <a:rPr lang="en-US" dirty="0"/>
              <a:t>Subscribers who subscribed to that topic receive updates</a:t>
            </a:r>
          </a:p>
        </p:txBody>
      </p:sp>
      <p:sp>
        <p:nvSpPr>
          <p:cNvPr id="4" name="Slide Number Placeholder 3"/>
          <p:cNvSpPr>
            <a:spLocks noGrp="1"/>
          </p:cNvSpPr>
          <p:nvPr>
            <p:ph type="sldNum" sz="quarter" idx="12"/>
          </p:nvPr>
        </p:nvSpPr>
        <p:spPr/>
        <p:txBody>
          <a:bodyPr/>
          <a:lstStyle/>
          <a:p>
            <a:fld id="{9DA1A1C2-73CC-4802-810A-2F9F3E278EFE}" type="slidenum">
              <a:rPr lang="en-US" smtClean="0"/>
              <a:t>69</a:t>
            </a:fld>
            <a:endParaRPr lang="en-US"/>
          </a:p>
        </p:txBody>
      </p:sp>
    </p:spTree>
    <p:extLst>
      <p:ext uri="{BB962C8B-B14F-4D97-AF65-F5344CB8AC3E}">
        <p14:creationId xmlns:p14="http://schemas.microsoft.com/office/powerpoint/2010/main" val="41666719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Publish-Subscribe Style</a:t>
            </a:r>
            <a:endParaRPr lang="en-US" dirty="0"/>
          </a:p>
        </p:txBody>
      </p:sp>
      <p:sp>
        <p:nvSpPr>
          <p:cNvPr id="3" name="Content Placeholder 2"/>
          <p:cNvSpPr>
            <a:spLocks noGrp="1"/>
          </p:cNvSpPr>
          <p:nvPr>
            <p:ph idx="1"/>
          </p:nvPr>
        </p:nvSpPr>
        <p:spPr/>
        <p:txBody>
          <a:bodyPr/>
          <a:lstStyle/>
          <a:p>
            <a:r>
              <a:rPr lang="en-US" dirty="0"/>
              <a:t>Key Feature: Loose Coupling</a:t>
            </a:r>
          </a:p>
          <a:p>
            <a:r>
              <a:rPr lang="en-US" dirty="0"/>
              <a:t>Publishers don’t know who receives the message</a:t>
            </a:r>
          </a:p>
          <a:p>
            <a:r>
              <a:rPr lang="en-US" dirty="0"/>
              <a:t>Subscribers don’t know who sent it</a:t>
            </a:r>
          </a:p>
          <a:p>
            <a:r>
              <a:rPr lang="en-US" dirty="0"/>
              <a:t>This makes the system:</a:t>
            </a:r>
          </a:p>
          <a:p>
            <a:r>
              <a:rPr lang="en-US" dirty="0"/>
              <a:t>Flexible</a:t>
            </a:r>
          </a:p>
          <a:p>
            <a:r>
              <a:rPr lang="en-US" dirty="0"/>
              <a:t>Scalable</a:t>
            </a:r>
          </a:p>
          <a:p>
            <a:r>
              <a:rPr lang="en-US" dirty="0"/>
              <a:t>Easy to extend</a:t>
            </a:r>
          </a:p>
        </p:txBody>
      </p:sp>
      <p:sp>
        <p:nvSpPr>
          <p:cNvPr id="4" name="Slide Number Placeholder 3"/>
          <p:cNvSpPr>
            <a:spLocks noGrp="1"/>
          </p:cNvSpPr>
          <p:nvPr>
            <p:ph type="sldNum" sz="quarter" idx="12"/>
          </p:nvPr>
        </p:nvSpPr>
        <p:spPr/>
        <p:txBody>
          <a:bodyPr/>
          <a:lstStyle/>
          <a:p>
            <a:fld id="{9DA1A1C2-73CC-4802-810A-2F9F3E278EFE}" type="slidenum">
              <a:rPr lang="en-US" smtClean="0"/>
              <a:t>70</a:t>
            </a:fld>
            <a:endParaRPr lang="en-US"/>
          </a:p>
        </p:txBody>
      </p:sp>
    </p:spTree>
    <p:extLst>
      <p:ext uri="{BB962C8B-B14F-4D97-AF65-F5344CB8AC3E}">
        <p14:creationId xmlns:p14="http://schemas.microsoft.com/office/powerpoint/2010/main" val="1961116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Publish-Subscribe Style</a:t>
            </a:r>
            <a:endParaRPr lang="en-US" dirty="0"/>
          </a:p>
        </p:txBody>
      </p:sp>
      <p:sp>
        <p:nvSpPr>
          <p:cNvPr id="3" name="Content Placeholder 2"/>
          <p:cNvSpPr>
            <a:spLocks noGrp="1"/>
          </p:cNvSpPr>
          <p:nvPr>
            <p:ph idx="1"/>
          </p:nvPr>
        </p:nvSpPr>
        <p:spPr>
          <a:xfrm>
            <a:off x="677334" y="1595813"/>
            <a:ext cx="8596668" cy="3880773"/>
          </a:xfrm>
        </p:spPr>
        <p:txBody>
          <a:bodyPr>
            <a:normAutofit/>
          </a:bodyPr>
          <a:lstStyle/>
          <a:p>
            <a:r>
              <a:rPr lang="en-US" dirty="0"/>
              <a:t>Advantages</a:t>
            </a:r>
          </a:p>
          <a:p>
            <a:r>
              <a:rPr lang="en-US" dirty="0"/>
              <a:t>Very Loose Coupling</a:t>
            </a:r>
          </a:p>
          <a:p>
            <a:r>
              <a:rPr lang="en-US" dirty="0"/>
              <a:t>High Scalability</a:t>
            </a:r>
          </a:p>
          <a:p>
            <a:r>
              <a:rPr lang="en-US" dirty="0"/>
              <a:t>Asynchronous Communication</a:t>
            </a:r>
          </a:p>
          <a:p>
            <a:r>
              <a:rPr lang="en-US" dirty="0"/>
              <a:t>Efficient Message Distribution</a:t>
            </a:r>
          </a:p>
          <a:p>
            <a:r>
              <a:rPr lang="en-US" dirty="0"/>
              <a:t>Disadvantages</a:t>
            </a:r>
          </a:p>
          <a:p>
            <a:r>
              <a:rPr lang="en-US" dirty="0"/>
              <a:t>Complex System Design</a:t>
            </a:r>
          </a:p>
          <a:p>
            <a:r>
              <a:rPr lang="en-US" dirty="0"/>
              <a:t>Difficult Debugging &amp; Tracking</a:t>
            </a:r>
          </a:p>
          <a:p>
            <a:r>
              <a:rPr lang="en-US" dirty="0"/>
              <a:t>Message Delivery Issues</a:t>
            </a:r>
          </a:p>
        </p:txBody>
      </p:sp>
      <p:sp>
        <p:nvSpPr>
          <p:cNvPr id="4" name="Slide Number Placeholder 3"/>
          <p:cNvSpPr>
            <a:spLocks noGrp="1"/>
          </p:cNvSpPr>
          <p:nvPr>
            <p:ph type="sldNum" sz="quarter" idx="12"/>
          </p:nvPr>
        </p:nvSpPr>
        <p:spPr/>
        <p:txBody>
          <a:bodyPr/>
          <a:lstStyle/>
          <a:p>
            <a:fld id="{9DA1A1C2-73CC-4802-810A-2F9F3E278EFE}" type="slidenum">
              <a:rPr lang="en-US" smtClean="0"/>
              <a:t>71</a:t>
            </a:fld>
            <a:endParaRPr lang="en-US"/>
          </a:p>
        </p:txBody>
      </p:sp>
    </p:spTree>
    <p:extLst>
      <p:ext uri="{BB962C8B-B14F-4D97-AF65-F5344CB8AC3E}">
        <p14:creationId xmlns:p14="http://schemas.microsoft.com/office/powerpoint/2010/main" val="36204477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title"/>
          </p:nvPr>
        </p:nvSpPr>
        <p:spPr/>
        <p:txBody>
          <a:bodyPr/>
          <a:lstStyle/>
          <a:p>
            <a:pPr eaLnBrk="1" hangingPunct="1"/>
            <a:r>
              <a:rPr lang="en-US" altLang="en-US"/>
              <a:t>Publish-Subscribe (cont’d)</a:t>
            </a:r>
          </a:p>
        </p:txBody>
      </p:sp>
      <p:sp>
        <p:nvSpPr>
          <p:cNvPr id="58371" name="Rectangle 5"/>
          <p:cNvSpPr>
            <a:spLocks noGrp="1" noChangeArrowheads="1"/>
          </p:cNvSpPr>
          <p:nvPr>
            <p:ph idx="1"/>
          </p:nvPr>
        </p:nvSpPr>
        <p:spPr>
          <a:xfrm>
            <a:off x="677334" y="1609260"/>
            <a:ext cx="8596668" cy="3880773"/>
          </a:xfrm>
        </p:spPr>
        <p:txBody>
          <a:bodyPr>
            <a:normAutofit fontScale="92500"/>
          </a:bodyPr>
          <a:lstStyle/>
          <a:p>
            <a:pPr eaLnBrk="1" hangingPunct="1"/>
            <a:r>
              <a:rPr lang="en-US" altLang="en-US" sz="2200" dirty="0"/>
              <a:t>Components: Publishers, subscribers, proxies for managing distribution</a:t>
            </a:r>
          </a:p>
          <a:p>
            <a:pPr eaLnBrk="1" hangingPunct="1"/>
            <a:r>
              <a:rPr lang="en-US" altLang="en-US" sz="2200" dirty="0"/>
              <a:t>Connectors: Typically a network protocol is required.  Content-based subscription requires sophisticated connectors.</a:t>
            </a:r>
          </a:p>
          <a:p>
            <a:pPr eaLnBrk="1" hangingPunct="1"/>
            <a:r>
              <a:rPr lang="en-US" altLang="en-US" sz="2200" dirty="0"/>
              <a:t>Data Elements: Subscriptions, notifications, published information </a:t>
            </a:r>
          </a:p>
          <a:p>
            <a:pPr eaLnBrk="1" hangingPunct="1"/>
            <a:r>
              <a:rPr lang="en-US" altLang="en-US" sz="2200" dirty="0"/>
              <a:t>Topology: Subscribers connect to publishers either directly or may receive notifications via a network protocol from intermediaries</a:t>
            </a:r>
          </a:p>
          <a:p>
            <a:pPr eaLnBrk="1" hangingPunct="1"/>
            <a:r>
              <a:rPr lang="en-US" altLang="en-US" sz="2200" dirty="0"/>
              <a:t>Qualities yielded Highly efficient one-way dissemination of information with very low-coupling of components</a:t>
            </a:r>
          </a:p>
        </p:txBody>
      </p:sp>
      <p:sp>
        <p:nvSpPr>
          <p:cNvPr id="5837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A00F5C33-1D2E-4875-ADA5-D5D8DECC1632}" type="slidenum">
              <a:rPr lang="en-US" altLang="en-US" sz="1200">
                <a:latin typeface="Arial Black" panose="020B0A04020102020204" pitchFamily="34" charset="0"/>
              </a:rPr>
              <a:pPr>
                <a:spcBef>
                  <a:spcPct val="0"/>
                </a:spcBef>
                <a:buClrTx/>
                <a:buSzTx/>
                <a:buFontTx/>
                <a:buNone/>
              </a:pPr>
              <a:t>72</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17881216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en-US"/>
              <a:t>Pub-Sub LL</a:t>
            </a:r>
          </a:p>
        </p:txBody>
      </p:sp>
      <p:sp>
        <p:nvSpPr>
          <p:cNvPr id="59395"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244FF1C1-7F97-4ADD-BC06-01A7A65A2D5D}" type="slidenum">
              <a:rPr lang="en-US" altLang="en-US" sz="1200">
                <a:latin typeface="Arial Black" panose="020B0A04020102020204" pitchFamily="34" charset="0"/>
              </a:rPr>
              <a:pPr>
                <a:spcBef>
                  <a:spcPct val="0"/>
                </a:spcBef>
                <a:buClrTx/>
                <a:buSzTx/>
                <a:buFontTx/>
                <a:buNone/>
              </a:pPr>
              <a:t>73</a:t>
            </a:fld>
            <a:endParaRPr lang="en-US" altLang="en-US" sz="1200">
              <a:latin typeface="Arial Black" panose="020B0A04020102020204" pitchFamily="34" charset="0"/>
            </a:endParaRPr>
          </a:p>
        </p:txBody>
      </p:sp>
      <p:pic>
        <p:nvPicPr>
          <p:cNvPr id="59396" name="Picture 3" descr="pub-sub_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8464" y="2012951"/>
            <a:ext cx="6313487" cy="404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Text Box 4"/>
          <p:cNvSpPr txBox="1">
            <a:spLocks noChangeArrowheads="1"/>
          </p:cNvSpPr>
          <p:nvPr/>
        </p:nvSpPr>
        <p:spPr bwMode="auto">
          <a:xfrm>
            <a:off x="1752601" y="6629400"/>
            <a:ext cx="82661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800" i="1">
                <a:latin typeface="Helvetica" panose="020B0604020202020204" pitchFamily="34" charset="0"/>
              </a:rPr>
              <a:t>Software Architecture: Foundations, Theory, and Practice</a:t>
            </a:r>
            <a:r>
              <a:rPr lang="en-US" altLang="en-US" sz="800">
                <a:latin typeface="Helvetica" panose="020B0604020202020204" pitchFamily="34" charset="0"/>
              </a:rPr>
              <a:t>; Richard N. Taylor, Nenad Medvidovic, and Eric M. Dashofy; </a:t>
            </a:r>
            <a:r>
              <a:rPr lang="en-US" altLang="en-US" sz="800">
                <a:latin typeface="Arial" panose="020B0604020202020204" pitchFamily="34" charset="0"/>
              </a:rPr>
              <a:t>© 2008 John Wiley &amp; Sons, Inc. Reprinted with permission.</a:t>
            </a:r>
            <a:r>
              <a:rPr lang="en-US" altLang="en-US" sz="900">
                <a:latin typeface="Helvetica" panose="020B0604020202020204" pitchFamily="34" charset="0"/>
              </a:rPr>
              <a:t> </a:t>
            </a:r>
          </a:p>
        </p:txBody>
      </p:sp>
    </p:spTree>
    <p:extLst>
      <p:ext uri="{BB962C8B-B14F-4D97-AF65-F5344CB8AC3E}">
        <p14:creationId xmlns:p14="http://schemas.microsoft.com/office/powerpoint/2010/main" val="509898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en-US"/>
              <a:t>Event-Based Style</a:t>
            </a:r>
          </a:p>
        </p:txBody>
      </p:sp>
      <p:sp>
        <p:nvSpPr>
          <p:cNvPr id="60419" name="Rectangle 3"/>
          <p:cNvSpPr>
            <a:spLocks noGrp="1" noChangeArrowheads="1"/>
          </p:cNvSpPr>
          <p:nvPr>
            <p:ph idx="1"/>
          </p:nvPr>
        </p:nvSpPr>
        <p:spPr>
          <a:xfrm>
            <a:off x="1981200" y="1676400"/>
            <a:ext cx="8229600" cy="4191000"/>
          </a:xfrm>
        </p:spPr>
        <p:txBody>
          <a:bodyPr>
            <a:normAutofit lnSpcReduction="10000"/>
          </a:bodyPr>
          <a:lstStyle/>
          <a:p>
            <a:pPr eaLnBrk="1" hangingPunct="1"/>
            <a:r>
              <a:rPr lang="en-US" altLang="en-US" sz="2200"/>
              <a:t>Independent components asynchronously emit and receive events communicated over event buses </a:t>
            </a:r>
          </a:p>
          <a:p>
            <a:pPr eaLnBrk="1" hangingPunct="1"/>
            <a:r>
              <a:rPr lang="en-US" altLang="en-US" sz="2200"/>
              <a:t>Components: Independent, concurrent event generators and/or consumers</a:t>
            </a:r>
          </a:p>
          <a:p>
            <a:pPr eaLnBrk="1" hangingPunct="1"/>
            <a:r>
              <a:rPr lang="en-US" altLang="en-US" sz="2200"/>
              <a:t>Connectors: Event buses (at least one)</a:t>
            </a:r>
          </a:p>
          <a:p>
            <a:pPr eaLnBrk="1" hangingPunct="1"/>
            <a:r>
              <a:rPr lang="en-US" altLang="en-US" sz="2200"/>
              <a:t>Data Elements: Events – data sent over the event bus</a:t>
            </a:r>
          </a:p>
          <a:p>
            <a:pPr eaLnBrk="1" hangingPunct="1"/>
            <a:r>
              <a:rPr lang="en-US" altLang="en-US" sz="2200"/>
              <a:t>Topology: Components communicate with the event buses.  </a:t>
            </a:r>
          </a:p>
          <a:p>
            <a:pPr eaLnBrk="1" hangingPunct="1"/>
            <a:r>
              <a:rPr lang="en-US" altLang="en-US" sz="2200"/>
              <a:t>Variants: Component communication with the event bus may either be push or pull based.</a:t>
            </a:r>
          </a:p>
          <a:p>
            <a:pPr eaLnBrk="1" hangingPunct="1"/>
            <a:r>
              <a:rPr lang="en-US" altLang="en-US" sz="2200"/>
              <a:t>Highly scalable, easy to evolve, effective for highly distributed applications.</a:t>
            </a:r>
          </a:p>
        </p:txBody>
      </p:sp>
      <p:sp>
        <p:nvSpPr>
          <p:cNvPr id="6042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CB8F11FB-2611-44A6-B47A-3772B8A894C8}" type="slidenum">
              <a:rPr lang="en-US" altLang="en-US" sz="1200">
                <a:latin typeface="Arial Black" panose="020B0A04020102020204" pitchFamily="34" charset="0"/>
              </a:rPr>
              <a:pPr>
                <a:spcBef>
                  <a:spcPct val="0"/>
                </a:spcBef>
                <a:buClrTx/>
                <a:buSzTx/>
                <a:buFontTx/>
                <a:buNone/>
              </a:pPr>
              <a:t>74</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26718042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Event-Based Style</a:t>
            </a:r>
          </a:p>
        </p:txBody>
      </p:sp>
      <p:sp>
        <p:nvSpPr>
          <p:cNvPr id="3" name="Content Placeholder 2"/>
          <p:cNvSpPr>
            <a:spLocks noGrp="1"/>
          </p:cNvSpPr>
          <p:nvPr>
            <p:ph idx="1"/>
          </p:nvPr>
        </p:nvSpPr>
        <p:spPr>
          <a:xfrm>
            <a:off x="677334" y="1528578"/>
            <a:ext cx="8596668" cy="3880773"/>
          </a:xfrm>
        </p:spPr>
        <p:txBody>
          <a:bodyPr>
            <a:normAutofit/>
          </a:bodyPr>
          <a:lstStyle/>
          <a:p>
            <a:r>
              <a:rPr lang="en-US" dirty="0"/>
              <a:t>Event-Based or Implicit Invocation architecture is based on events triggering actions.</a:t>
            </a:r>
          </a:p>
          <a:p>
            <a:r>
              <a:rPr lang="en-US" dirty="0"/>
              <a:t>Components do not directly call each other</a:t>
            </a:r>
          </a:p>
          <a:p>
            <a:r>
              <a:rPr lang="en-US" dirty="0"/>
              <a:t>Instead, they emit events, and other components listen and respond</a:t>
            </a:r>
          </a:p>
          <a:p>
            <a:r>
              <a:rPr lang="en-US" dirty="0"/>
              <a:t>Communication is indirect and loosely coupled</a:t>
            </a:r>
          </a:p>
          <a:p>
            <a:r>
              <a:rPr lang="en-US" dirty="0"/>
              <a:t>How It Works</a:t>
            </a:r>
          </a:p>
          <a:p>
            <a:r>
              <a:rPr lang="en-US" dirty="0"/>
              <a:t>An event occurs (e.g., user action, system change)</a:t>
            </a:r>
          </a:p>
          <a:p>
            <a:r>
              <a:rPr lang="en-US" dirty="0"/>
              <a:t>The event is broadcasted</a:t>
            </a:r>
          </a:p>
          <a:p>
            <a:r>
              <a:rPr lang="en-US" dirty="0"/>
              <a:t>Interested components (listeners/subscribers) react</a:t>
            </a:r>
          </a:p>
          <a:p>
            <a:endParaRPr lang="en-US" dirty="0"/>
          </a:p>
          <a:p>
            <a:endParaRPr lang="en-US" dirty="0"/>
          </a:p>
        </p:txBody>
      </p:sp>
      <p:sp>
        <p:nvSpPr>
          <p:cNvPr id="4" name="Slide Number Placeholder 3"/>
          <p:cNvSpPr>
            <a:spLocks noGrp="1"/>
          </p:cNvSpPr>
          <p:nvPr>
            <p:ph type="sldNum" sz="quarter" idx="12"/>
          </p:nvPr>
        </p:nvSpPr>
        <p:spPr/>
        <p:txBody>
          <a:bodyPr/>
          <a:lstStyle/>
          <a:p>
            <a:fld id="{9DA1A1C2-73CC-4802-810A-2F9F3E278EFE}" type="slidenum">
              <a:rPr lang="en-US" smtClean="0"/>
              <a:t>75</a:t>
            </a:fld>
            <a:endParaRPr lang="en-US"/>
          </a:p>
        </p:txBody>
      </p:sp>
    </p:spTree>
    <p:extLst>
      <p:ext uri="{BB962C8B-B14F-4D97-AF65-F5344CB8AC3E}">
        <p14:creationId xmlns:p14="http://schemas.microsoft.com/office/powerpoint/2010/main" val="17550629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Event-Based Style</a:t>
            </a:r>
          </a:p>
        </p:txBody>
      </p:sp>
      <p:sp>
        <p:nvSpPr>
          <p:cNvPr id="3" name="Content Placeholder 2"/>
          <p:cNvSpPr>
            <a:spLocks noGrp="1"/>
          </p:cNvSpPr>
          <p:nvPr>
            <p:ph idx="1"/>
          </p:nvPr>
        </p:nvSpPr>
        <p:spPr>
          <a:xfrm>
            <a:off x="677334" y="1461341"/>
            <a:ext cx="8596668" cy="3880773"/>
          </a:xfrm>
        </p:spPr>
        <p:txBody>
          <a:bodyPr>
            <a:normAutofit lnSpcReduction="10000"/>
          </a:bodyPr>
          <a:lstStyle/>
          <a:p>
            <a:r>
              <a:rPr lang="en-US" dirty="0"/>
              <a:t>Advantages</a:t>
            </a:r>
          </a:p>
          <a:p>
            <a:r>
              <a:rPr lang="en-US" dirty="0"/>
              <a:t>Loose Coupling</a:t>
            </a:r>
          </a:p>
          <a:p>
            <a:r>
              <a:rPr lang="en-US" dirty="0"/>
              <a:t>High Flexibility &amp; Extensibility</a:t>
            </a:r>
          </a:p>
          <a:p>
            <a:r>
              <a:rPr lang="en-US" dirty="0"/>
              <a:t>Supports Asynchronous Processing</a:t>
            </a:r>
          </a:p>
          <a:p>
            <a:r>
              <a:rPr lang="en-US" dirty="0"/>
              <a:t>Good for Interactive Systems</a:t>
            </a:r>
          </a:p>
          <a:p>
            <a:r>
              <a:rPr lang="en-US" dirty="0"/>
              <a:t>Disadvantages</a:t>
            </a:r>
          </a:p>
          <a:p>
            <a:r>
              <a:rPr lang="en-US" dirty="0"/>
              <a:t>Hard to Understand Flow</a:t>
            </a:r>
          </a:p>
          <a:p>
            <a:r>
              <a:rPr lang="en-US" dirty="0"/>
              <a:t>Debugging is Difficult</a:t>
            </a:r>
          </a:p>
          <a:p>
            <a:r>
              <a:rPr lang="en-US" dirty="0"/>
              <a:t>Performance Overhead</a:t>
            </a:r>
          </a:p>
          <a:p>
            <a:r>
              <a:rPr lang="en-US" dirty="0"/>
              <a:t>Unpredictable Behavior</a:t>
            </a:r>
          </a:p>
          <a:p>
            <a:endParaRPr lang="en-US" dirty="0"/>
          </a:p>
        </p:txBody>
      </p:sp>
      <p:sp>
        <p:nvSpPr>
          <p:cNvPr id="4" name="Slide Number Placeholder 3"/>
          <p:cNvSpPr>
            <a:spLocks noGrp="1"/>
          </p:cNvSpPr>
          <p:nvPr>
            <p:ph type="sldNum" sz="quarter" idx="12"/>
          </p:nvPr>
        </p:nvSpPr>
        <p:spPr/>
        <p:txBody>
          <a:bodyPr/>
          <a:lstStyle/>
          <a:p>
            <a:fld id="{9DA1A1C2-73CC-4802-810A-2F9F3E278EFE}" type="slidenum">
              <a:rPr lang="en-US" smtClean="0"/>
              <a:t>76</a:t>
            </a:fld>
            <a:endParaRPr lang="en-US"/>
          </a:p>
        </p:txBody>
      </p:sp>
    </p:spTree>
    <p:extLst>
      <p:ext uri="{BB962C8B-B14F-4D97-AF65-F5344CB8AC3E}">
        <p14:creationId xmlns:p14="http://schemas.microsoft.com/office/powerpoint/2010/main" val="5536504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ltLang="en-US"/>
              <a:t>Event-based LL</a:t>
            </a:r>
          </a:p>
        </p:txBody>
      </p:sp>
      <p:sp>
        <p:nvSpPr>
          <p:cNvPr id="6246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70E30B65-C8DD-4D55-AD22-D293636C08BE}" type="slidenum">
              <a:rPr lang="en-US" altLang="en-US" sz="1200">
                <a:latin typeface="Arial Black" panose="020B0A04020102020204" pitchFamily="34" charset="0"/>
              </a:rPr>
              <a:pPr>
                <a:spcBef>
                  <a:spcPct val="0"/>
                </a:spcBef>
                <a:buClrTx/>
                <a:buSzTx/>
                <a:buFontTx/>
                <a:buNone/>
              </a:pPr>
              <a:t>77</a:t>
            </a:fld>
            <a:endParaRPr lang="en-US" altLang="en-US" sz="1200">
              <a:latin typeface="Arial Black" panose="020B0A04020102020204" pitchFamily="34" charset="0"/>
            </a:endParaRPr>
          </a:p>
        </p:txBody>
      </p:sp>
      <p:pic>
        <p:nvPicPr>
          <p:cNvPr id="62468" name="Picture 3" descr="events_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250" y="2160589"/>
            <a:ext cx="5143500" cy="375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Text Box 4"/>
          <p:cNvSpPr txBox="1">
            <a:spLocks noChangeArrowheads="1"/>
          </p:cNvSpPr>
          <p:nvPr/>
        </p:nvSpPr>
        <p:spPr bwMode="auto">
          <a:xfrm>
            <a:off x="1752601" y="6629400"/>
            <a:ext cx="82661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800" i="1">
                <a:latin typeface="Helvetica" panose="020B0604020202020204" pitchFamily="34" charset="0"/>
              </a:rPr>
              <a:t>Software Architecture: Foundations, Theory, and Practice</a:t>
            </a:r>
            <a:r>
              <a:rPr lang="en-US" altLang="en-US" sz="800">
                <a:latin typeface="Helvetica" panose="020B0604020202020204" pitchFamily="34" charset="0"/>
              </a:rPr>
              <a:t>; Richard N. Taylor, Nenad Medvidovic, and Eric M. Dashofy; </a:t>
            </a:r>
            <a:r>
              <a:rPr lang="en-US" altLang="en-US" sz="800">
                <a:latin typeface="Arial" panose="020B0604020202020204" pitchFamily="34" charset="0"/>
              </a:rPr>
              <a:t>© 2008 John Wiley &amp; Sons, Inc. Reprinted with permission.</a:t>
            </a:r>
            <a:r>
              <a:rPr lang="en-US" altLang="en-US" sz="900">
                <a:latin typeface="Helvetica" panose="020B0604020202020204" pitchFamily="34" charset="0"/>
              </a:rPr>
              <a:t> </a:t>
            </a:r>
          </a:p>
        </p:txBody>
      </p:sp>
    </p:spTree>
    <p:extLst>
      <p:ext uri="{BB962C8B-B14F-4D97-AF65-F5344CB8AC3E}">
        <p14:creationId xmlns:p14="http://schemas.microsoft.com/office/powerpoint/2010/main" val="38152855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ltLang="en-US"/>
              <a:t>Peer-to-Peer Style</a:t>
            </a:r>
          </a:p>
        </p:txBody>
      </p:sp>
      <p:sp>
        <p:nvSpPr>
          <p:cNvPr id="63491" name="Rectangle 3"/>
          <p:cNvSpPr>
            <a:spLocks noGrp="1" noChangeArrowheads="1"/>
          </p:cNvSpPr>
          <p:nvPr>
            <p:ph idx="1"/>
          </p:nvPr>
        </p:nvSpPr>
        <p:spPr>
          <a:xfrm>
            <a:off x="677334" y="1452282"/>
            <a:ext cx="7772400" cy="4191000"/>
          </a:xfrm>
        </p:spPr>
        <p:txBody>
          <a:bodyPr/>
          <a:lstStyle/>
          <a:p>
            <a:pPr eaLnBrk="1" hangingPunct="1"/>
            <a:r>
              <a:rPr lang="en-US" altLang="en-US" dirty="0"/>
              <a:t>State and behavior are distributed among peers which can act as either clients or servers. </a:t>
            </a:r>
          </a:p>
          <a:p>
            <a:pPr eaLnBrk="1" hangingPunct="1"/>
            <a:r>
              <a:rPr lang="en-US" altLang="en-US" dirty="0"/>
              <a:t>Peers: independent components, having their own state and control thread.</a:t>
            </a:r>
          </a:p>
          <a:p>
            <a:pPr eaLnBrk="1" hangingPunct="1"/>
            <a:r>
              <a:rPr lang="en-US" altLang="en-US" dirty="0"/>
              <a:t>Connectors: Network protocols, often custom.</a:t>
            </a:r>
          </a:p>
          <a:p>
            <a:pPr eaLnBrk="1" hangingPunct="1"/>
            <a:r>
              <a:rPr lang="en-US" altLang="en-US" dirty="0"/>
              <a:t>Data Elements: Network messages </a:t>
            </a:r>
          </a:p>
        </p:txBody>
      </p:sp>
      <p:sp>
        <p:nvSpPr>
          <p:cNvPr id="6349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298FA618-8760-4856-81EF-2B84C4AAEB24}" type="slidenum">
              <a:rPr lang="en-US" altLang="en-US" sz="1200">
                <a:latin typeface="Arial Black" panose="020B0A04020102020204" pitchFamily="34" charset="0"/>
              </a:rPr>
              <a:pPr>
                <a:spcBef>
                  <a:spcPct val="0"/>
                </a:spcBef>
                <a:buClrTx/>
                <a:buSzTx/>
                <a:buFontTx/>
                <a:buNone/>
              </a:pPr>
              <a:t>78</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29364281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en-US"/>
              <a:t>Peer-to-Peer LL</a:t>
            </a:r>
          </a:p>
        </p:txBody>
      </p:sp>
      <p:sp>
        <p:nvSpPr>
          <p:cNvPr id="66563"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7F05D660-6076-4A89-A154-3B36024A2BCC}" type="slidenum">
              <a:rPr lang="en-US" altLang="en-US" sz="1200">
                <a:latin typeface="Arial Black" panose="020B0A04020102020204" pitchFamily="34" charset="0"/>
              </a:rPr>
              <a:pPr>
                <a:spcBef>
                  <a:spcPct val="0"/>
                </a:spcBef>
                <a:buClrTx/>
                <a:buSzTx/>
                <a:buFontTx/>
                <a:buNone/>
              </a:pPr>
              <a:t>79</a:t>
            </a:fld>
            <a:endParaRPr lang="en-US" altLang="en-US" sz="1200">
              <a:latin typeface="Arial Black" panose="020B0A04020102020204" pitchFamily="34" charset="0"/>
            </a:endParaRPr>
          </a:p>
        </p:txBody>
      </p:sp>
      <p:pic>
        <p:nvPicPr>
          <p:cNvPr id="66564" name="Picture 3" descr="p2p_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7129" y="1676400"/>
            <a:ext cx="7754471"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5" name="Text Box 4"/>
          <p:cNvSpPr txBox="1">
            <a:spLocks noChangeArrowheads="1"/>
          </p:cNvSpPr>
          <p:nvPr/>
        </p:nvSpPr>
        <p:spPr bwMode="auto">
          <a:xfrm>
            <a:off x="1944688" y="6629400"/>
            <a:ext cx="82661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800" i="1">
                <a:latin typeface="Helvetica" panose="020B0604020202020204" pitchFamily="34" charset="0"/>
              </a:rPr>
              <a:t>Software Architecture: Foundations, Theory, and Practice</a:t>
            </a:r>
            <a:r>
              <a:rPr lang="en-US" altLang="en-US" sz="800">
                <a:latin typeface="Helvetica" panose="020B0604020202020204" pitchFamily="34" charset="0"/>
              </a:rPr>
              <a:t>; Richard N. Taylor, Nenad Medvidovic, and Eric M. Dashofy; </a:t>
            </a:r>
            <a:r>
              <a:rPr lang="en-US" altLang="en-US" sz="800">
                <a:latin typeface="Arial" panose="020B0604020202020204" pitchFamily="34" charset="0"/>
              </a:rPr>
              <a:t>© 2008 John Wiley &amp; Sons, Inc. Reprinted with permission.</a:t>
            </a:r>
            <a:r>
              <a:rPr lang="en-US" altLang="en-US" sz="900">
                <a:latin typeface="Helvetica" panose="020B0604020202020204" pitchFamily="34" charset="0"/>
              </a:rPr>
              <a:t> </a:t>
            </a:r>
          </a:p>
        </p:txBody>
      </p:sp>
    </p:spTree>
    <p:extLst>
      <p:ext uri="{BB962C8B-B14F-4D97-AF65-F5344CB8AC3E}">
        <p14:creationId xmlns:p14="http://schemas.microsoft.com/office/powerpoint/2010/main" val="199797472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en-US"/>
              <a:t>Peer-to-Peer Style (cont’d)</a:t>
            </a:r>
          </a:p>
        </p:txBody>
      </p:sp>
      <p:sp>
        <p:nvSpPr>
          <p:cNvPr id="64515" name="Rectangle 3"/>
          <p:cNvSpPr>
            <a:spLocks noGrp="1" noChangeArrowheads="1"/>
          </p:cNvSpPr>
          <p:nvPr>
            <p:ph idx="1"/>
          </p:nvPr>
        </p:nvSpPr>
        <p:spPr>
          <a:xfrm>
            <a:off x="677334" y="1497106"/>
            <a:ext cx="7772400" cy="4267200"/>
          </a:xfrm>
        </p:spPr>
        <p:txBody>
          <a:bodyPr/>
          <a:lstStyle/>
          <a:p>
            <a:pPr eaLnBrk="1" hangingPunct="1"/>
            <a:r>
              <a:rPr lang="en-US" altLang="en-US" dirty="0"/>
              <a:t>Topology: Network (may have redundant connections between peers); can vary arbitrarily and dynamically</a:t>
            </a:r>
          </a:p>
          <a:p>
            <a:pPr eaLnBrk="1" hangingPunct="1"/>
            <a:r>
              <a:rPr lang="en-US" altLang="en-US" dirty="0"/>
              <a:t>Supports decentralized computing with flow of control and resources distributed among peers. Highly robust in the face of failure of any given node. Scalable in terms of access to resources and computing power.  But caution on the protocol!</a:t>
            </a:r>
          </a:p>
        </p:txBody>
      </p:sp>
      <p:sp>
        <p:nvSpPr>
          <p:cNvPr id="6451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anose="020B060403050404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rgbClr val="8FBAC8"/>
              </a:buClr>
              <a:buSzPct val="70000"/>
              <a:buFont typeface="Wingdings" panose="05000000000000000000" pitchFamily="2" charset="2"/>
              <a:buChar char="u"/>
              <a:defRPr sz="2000">
                <a:solidFill>
                  <a:schemeClr val="tx1"/>
                </a:solidFill>
                <a:latin typeface="Tahoma" panose="020B0604030504040204" pitchFamily="34" charset="0"/>
              </a:defRPr>
            </a:lvl4pPr>
            <a:lvl5pPr marL="2057400" indent="-228600">
              <a:spcBef>
                <a:spcPct val="20000"/>
              </a:spcBef>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fld id="{D125F7CE-9ACF-4470-AEBE-8B8B786770C0}" type="slidenum">
              <a:rPr lang="en-US" altLang="en-US" sz="1200">
                <a:latin typeface="Arial Black" panose="020B0A04020102020204" pitchFamily="34" charset="0"/>
              </a:rPr>
              <a:pPr>
                <a:spcBef>
                  <a:spcPct val="0"/>
                </a:spcBef>
                <a:buClrTx/>
                <a:buSzTx/>
                <a:buFontTx/>
                <a:buNone/>
              </a:pPr>
              <a:t>80</a:t>
            </a:fld>
            <a:endParaRPr lang="en-US" altLang="en-US" sz="1200">
              <a:latin typeface="Arial Black" panose="020B0A04020102020204" pitchFamily="34" charset="0"/>
            </a:endParaRPr>
          </a:p>
        </p:txBody>
      </p:sp>
    </p:spTree>
    <p:extLst>
      <p:ext uri="{BB962C8B-B14F-4D97-AF65-F5344CB8AC3E}">
        <p14:creationId xmlns:p14="http://schemas.microsoft.com/office/powerpoint/2010/main" val="89083076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749</TotalTime>
  <Words>6190</Words>
  <Application>Microsoft Office PowerPoint</Application>
  <PresentationFormat>Widescreen</PresentationFormat>
  <Paragraphs>638</Paragraphs>
  <Slides>80</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80</vt:i4>
      </vt:variant>
    </vt:vector>
  </HeadingPairs>
  <TitlesOfParts>
    <vt:vector size="89" baseType="lpstr">
      <vt:lpstr>Arial</vt:lpstr>
      <vt:lpstr>Arial Black</vt:lpstr>
      <vt:lpstr>Calibri</vt:lpstr>
      <vt:lpstr>Helvetica</vt:lpstr>
      <vt:lpstr>Times</vt:lpstr>
      <vt:lpstr>Trebuchet MS</vt:lpstr>
      <vt:lpstr>Wingdings</vt:lpstr>
      <vt:lpstr>Wingdings 3</vt:lpstr>
      <vt:lpstr>Facet</vt:lpstr>
      <vt:lpstr>Software Architectural Styles</vt:lpstr>
      <vt:lpstr>Architectural Style</vt:lpstr>
      <vt:lpstr>Definitions of Architectural Style</vt:lpstr>
      <vt:lpstr>Basic Properties of Styles</vt:lpstr>
      <vt:lpstr>Benefits of Using Styles</vt:lpstr>
      <vt:lpstr>Architectural Style</vt:lpstr>
      <vt:lpstr>Style Analysis Dimensions</vt:lpstr>
      <vt:lpstr>Some Common Styles</vt:lpstr>
      <vt:lpstr>Main Program and Subroutines LL</vt:lpstr>
      <vt:lpstr>Object-Oriented Style</vt:lpstr>
      <vt:lpstr>Clean Code</vt:lpstr>
      <vt:lpstr>Object-Oriented LL</vt:lpstr>
      <vt:lpstr>OO/LL in UML</vt:lpstr>
      <vt:lpstr>Layered Style</vt:lpstr>
      <vt:lpstr>Layered Style</vt:lpstr>
      <vt:lpstr>Layered Style (cont’d)</vt:lpstr>
      <vt:lpstr>Layered Style (cont’d)</vt:lpstr>
      <vt:lpstr>Layered Systems/Virtual Machines</vt:lpstr>
      <vt:lpstr>Layered LL</vt:lpstr>
      <vt:lpstr>Client-Server Style</vt:lpstr>
      <vt:lpstr>Client-Server LL</vt:lpstr>
      <vt:lpstr>Layered Architecture</vt:lpstr>
      <vt:lpstr>PowerPoint Presentation</vt:lpstr>
      <vt:lpstr>Open versus closed layers</vt:lpstr>
      <vt:lpstr>Open versus closed layers</vt:lpstr>
      <vt:lpstr>Layered Architecture</vt:lpstr>
      <vt:lpstr>Layered Architecture</vt:lpstr>
      <vt:lpstr>Advantages of layered architectures</vt:lpstr>
      <vt:lpstr>Advantages of layered architectures</vt:lpstr>
      <vt:lpstr>Advantages of Layered Architectures</vt:lpstr>
      <vt:lpstr>Advantages of layered architectures</vt:lpstr>
      <vt:lpstr>Disadvantages of layered architectures</vt:lpstr>
      <vt:lpstr>Disadvantages of layered architectures</vt:lpstr>
      <vt:lpstr>Disadvantages of layered architectures</vt:lpstr>
      <vt:lpstr>Two-tier Architecture</vt:lpstr>
      <vt:lpstr>Two-tier Architecture</vt:lpstr>
      <vt:lpstr>N-tier Architecture</vt:lpstr>
      <vt:lpstr>Presentation tier</vt:lpstr>
      <vt:lpstr>Business tier</vt:lpstr>
      <vt:lpstr>Data tier</vt:lpstr>
      <vt:lpstr>Data-Flow Styles</vt:lpstr>
      <vt:lpstr>Batch-Sequential: A Financial Application</vt:lpstr>
      <vt:lpstr>Batch-Sequential LL</vt:lpstr>
      <vt:lpstr>Pipe and Filter Style</vt:lpstr>
      <vt:lpstr>Pipe and Filter Style</vt:lpstr>
      <vt:lpstr>Pipe and Filter Style</vt:lpstr>
      <vt:lpstr>Pipe and Filter Style</vt:lpstr>
      <vt:lpstr>PowerPoint Presentation</vt:lpstr>
      <vt:lpstr>Strength and Weakness</vt:lpstr>
      <vt:lpstr>Strength and Weakness</vt:lpstr>
      <vt:lpstr>Strength and Weakness</vt:lpstr>
      <vt:lpstr>PowerPoint Presentation</vt:lpstr>
      <vt:lpstr>Examples of Pipe-and-Filter Architecture</vt:lpstr>
      <vt:lpstr>Pipe and Filter (cont’d)</vt:lpstr>
      <vt:lpstr>Pipe and Filter (cont’d)</vt:lpstr>
      <vt:lpstr>Pipe and Filter LL</vt:lpstr>
      <vt:lpstr>Blackboard Style</vt:lpstr>
      <vt:lpstr>PowerPoint Presentation</vt:lpstr>
      <vt:lpstr>Blackboard Style</vt:lpstr>
      <vt:lpstr>Rule-Based Style</vt:lpstr>
      <vt:lpstr>PowerPoint Presentation</vt:lpstr>
      <vt:lpstr>Rule-Based Style (cont’d)</vt:lpstr>
      <vt:lpstr>Rule Based LL</vt:lpstr>
      <vt:lpstr>Interpreter Style</vt:lpstr>
      <vt:lpstr>Interpreter LL</vt:lpstr>
      <vt:lpstr>Interpreter Style</vt:lpstr>
      <vt:lpstr>Interpreter Style</vt:lpstr>
      <vt:lpstr>Interpreter Style</vt:lpstr>
      <vt:lpstr>Implicit Invocation Publish-Subscribe Style</vt:lpstr>
      <vt:lpstr>Publish-Subscribe Style</vt:lpstr>
      <vt:lpstr>Publish-Subscribe Style</vt:lpstr>
      <vt:lpstr>Publish-Subscribe (cont’d)</vt:lpstr>
      <vt:lpstr>Pub-Sub LL</vt:lpstr>
      <vt:lpstr>Event-Based Style</vt:lpstr>
      <vt:lpstr>Event-Based Style</vt:lpstr>
      <vt:lpstr>Event-Based Style</vt:lpstr>
      <vt:lpstr>Event-based LL</vt:lpstr>
      <vt:lpstr>Peer-to-Peer Style</vt:lpstr>
      <vt:lpstr>Peer-to-Peer LL</vt:lpstr>
      <vt:lpstr>Peer-to-Peer Style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SP24-BSE-125(ZAIN YAQOOB )</cp:lastModifiedBy>
  <cp:revision>82</cp:revision>
  <dcterms:created xsi:type="dcterms:W3CDTF">2026-03-04T03:35:29Z</dcterms:created>
  <dcterms:modified xsi:type="dcterms:W3CDTF">2026-04-04T19:06:13Z</dcterms:modified>
</cp:coreProperties>
</file>