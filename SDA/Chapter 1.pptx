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7" r:id="rId2"/>
    <p:sldId id="258" r:id="rId3"/>
    <p:sldId id="264" r:id="rId4"/>
    <p:sldId id="265" r:id="rId5"/>
    <p:sldId id="266" r:id="rId6"/>
    <p:sldId id="259" r:id="rId7"/>
    <p:sldId id="267" r:id="rId8"/>
    <p:sldId id="268" r:id="rId9"/>
    <p:sldId id="269" r:id="rId10"/>
    <p:sldId id="272" r:id="rId11"/>
    <p:sldId id="260" r:id="rId12"/>
    <p:sldId id="270" r:id="rId13"/>
    <p:sldId id="271" r:id="rId14"/>
    <p:sldId id="261" r:id="rId15"/>
    <p:sldId id="262" r:id="rId16"/>
    <p:sldId id="26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EB742-CA93-4085-B1E5-1C9889F4B06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6C42-1564-4659-B2F9-A6F618E8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853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EB742-CA93-4085-B1E5-1C9889F4B06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6C42-1564-4659-B2F9-A6F618E8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836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EB742-CA93-4085-B1E5-1C9889F4B06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6C42-1564-4659-B2F9-A6F618E8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206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EB742-CA93-4085-B1E5-1C9889F4B06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6C42-1564-4659-B2F9-A6F618E8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856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EB742-CA93-4085-B1E5-1C9889F4B06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6C42-1564-4659-B2F9-A6F618E8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714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EB742-CA93-4085-B1E5-1C9889F4B06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6C42-1564-4659-B2F9-A6F618E8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602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EB742-CA93-4085-B1E5-1C9889F4B06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6C42-1564-4659-B2F9-A6F618E8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043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EB742-CA93-4085-B1E5-1C9889F4B06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6C42-1564-4659-B2F9-A6F618E8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321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6C42-1564-4659-B2F9-A6F618E8444B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EB742-CA93-4085-B1E5-1C9889F4B060}" type="datetimeFigureOut">
              <a:rPr lang="en-US" smtClean="0"/>
              <a:t>2/10/2026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487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EB742-CA93-4085-B1E5-1C9889F4B06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6C42-1564-4659-B2F9-A6F618E8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58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EB742-CA93-4085-B1E5-1C9889F4B06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6C42-1564-4659-B2F9-A6F618E8444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8836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EB742-CA93-4085-B1E5-1C9889F4B06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6C42-1564-4659-B2F9-A6F618E8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4697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EB742-CA93-4085-B1E5-1C9889F4B06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6C42-1564-4659-B2F9-A6F618E8444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971079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EB742-CA93-4085-B1E5-1C9889F4B06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6C42-1564-4659-B2F9-A6F618E8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0059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EB742-CA93-4085-B1E5-1C9889F4B06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6C42-1564-4659-B2F9-A6F618E8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3763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EB742-CA93-4085-B1E5-1C9889F4B06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6C42-1564-4659-B2F9-A6F618E8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141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5EB742-CA93-4085-B1E5-1C9889F4B06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F336C42-1564-4659-B2F9-A6F618E8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233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What is designing about?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Chapter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21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When is design needed?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our everyday lives we are surrounded by things that have been designed.</a:t>
            </a:r>
          </a:p>
          <a:p>
            <a:r>
              <a:rPr lang="en-US" dirty="0"/>
              <a:t>The chairs we sit upon, the cars we drive, the phones we use to </a:t>
            </a:r>
            <a:r>
              <a:rPr lang="en-US" dirty="0" smtClean="0"/>
              <a:t>communicate with </a:t>
            </a:r>
            <a:r>
              <a:rPr lang="en-US" dirty="0"/>
              <a:t>others, the houses/ﬂats that we live in. </a:t>
            </a:r>
            <a:endParaRPr lang="en-US" dirty="0" smtClean="0"/>
          </a:p>
          <a:p>
            <a:r>
              <a:rPr lang="en-US" dirty="0" smtClean="0"/>
              <a:t>These </a:t>
            </a:r>
            <a:r>
              <a:rPr lang="en-US" dirty="0"/>
              <a:t>are all examples of artifacts</a:t>
            </a:r>
            <a:r>
              <a:rPr lang="en-US" dirty="0" smtClean="0"/>
              <a:t>, things </a:t>
            </a:r>
            <a:r>
              <a:rPr lang="en-US" dirty="0"/>
              <a:t>that have been created through some form of human activity. </a:t>
            </a:r>
            <a:endParaRPr lang="en-US" dirty="0" smtClean="0"/>
          </a:p>
          <a:p>
            <a:r>
              <a:rPr lang="en-US" dirty="0" smtClean="0"/>
              <a:t>All of these </a:t>
            </a:r>
            <a:r>
              <a:rPr lang="en-US" dirty="0"/>
              <a:t>have also been created to meet some form of human need and hence </a:t>
            </a:r>
            <a:r>
              <a:rPr lang="en-US" dirty="0" smtClean="0"/>
              <a:t>can be </a:t>
            </a:r>
            <a:r>
              <a:rPr lang="en-US" dirty="0"/>
              <a:t>considered as providing a solution to some form of ‘problem’.</a:t>
            </a:r>
          </a:p>
        </p:txBody>
      </p:sp>
    </p:spTree>
    <p:extLst>
      <p:ext uri="{BB962C8B-B14F-4D97-AF65-F5344CB8AC3E}">
        <p14:creationId xmlns:p14="http://schemas.microsoft.com/office/powerpoint/2010/main" val="3969727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(relatively) early days of computing, Herb Simon </a:t>
            </a:r>
            <a:r>
              <a:rPr lang="en-US" dirty="0" smtClean="0"/>
              <a:t>recognized that </a:t>
            </a:r>
            <a:r>
              <a:rPr lang="en-US" dirty="0"/>
              <a:t>computers could be used to help address two distinct types of problem.</a:t>
            </a:r>
          </a:p>
          <a:p>
            <a:r>
              <a:rPr lang="en-US" dirty="0"/>
              <a:t>• Well-Structured Problems or WSPs. These are distinguished by </a:t>
            </a:r>
            <a:r>
              <a:rPr lang="en-US" dirty="0" smtClean="0"/>
              <a:t>having a </a:t>
            </a:r>
            <a:r>
              <a:rPr lang="en-US" dirty="0"/>
              <a:t>‘right’ solution, and some clear tests that help demonstrate that </a:t>
            </a:r>
            <a:r>
              <a:rPr lang="en-US" dirty="0" smtClean="0"/>
              <a:t>this has </a:t>
            </a:r>
            <a:r>
              <a:rPr lang="en-US" dirty="0"/>
              <a:t>been found. </a:t>
            </a:r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/>
              <a:t>example, to ﬁnd the roots of the quadratic </a:t>
            </a:r>
            <a:r>
              <a:rPr lang="en-US" dirty="0" smtClean="0"/>
              <a:t>equation x2 </a:t>
            </a:r>
            <a:r>
              <a:rPr lang="en-US" dirty="0"/>
              <a:t>− 5x + 6 = 0, we can either use inspection or the standard </a:t>
            </a:r>
            <a:r>
              <a:rPr lang="en-US" dirty="0" smtClean="0"/>
              <a:t>formula to </a:t>
            </a:r>
            <a:r>
              <a:rPr lang="en-US" dirty="0"/>
              <a:t>determine that their values are x = 2 and x = 3. Putting </a:t>
            </a:r>
            <a:r>
              <a:rPr lang="en-US" dirty="0" smtClean="0"/>
              <a:t>either value </a:t>
            </a:r>
            <a:r>
              <a:rPr lang="en-US" dirty="0"/>
              <a:t>back into the original expression provides a simple and </a:t>
            </a:r>
            <a:r>
              <a:rPr lang="en-US" dirty="0" smtClean="0"/>
              <a:t>complete test </a:t>
            </a:r>
            <a:r>
              <a:rPr lang="en-US" dirty="0"/>
              <a:t>of correctness for that solution. Applications such as ﬁnancial </a:t>
            </a:r>
            <a:r>
              <a:rPr lang="en-US" dirty="0" smtClean="0"/>
              <a:t>modelling </a:t>
            </a:r>
            <a:r>
              <a:rPr lang="en-US" dirty="0"/>
              <a:t>and database transactions provide examples of using </a:t>
            </a:r>
            <a:r>
              <a:rPr lang="en-US" dirty="0" smtClean="0"/>
              <a:t>computers to </a:t>
            </a:r>
            <a:r>
              <a:rPr lang="en-US" dirty="0"/>
              <a:t>address WSPs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911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Ill-Structured Problems or ISPs. For such problems there will </a:t>
            </a:r>
            <a:r>
              <a:rPr lang="en-US" dirty="0" smtClean="0"/>
              <a:t>usually be </a:t>
            </a:r>
            <a:r>
              <a:rPr lang="en-US" dirty="0"/>
              <a:t>no explicit formulation, and many possible solutions, with these </a:t>
            </a:r>
            <a:r>
              <a:rPr lang="en-US" dirty="0" smtClean="0"/>
              <a:t>being </a:t>
            </a:r>
            <a:r>
              <a:rPr lang="en-US" dirty="0" err="1"/>
              <a:t>characterised</a:t>
            </a:r>
            <a:r>
              <a:rPr lang="en-US" dirty="0"/>
              <a:t> by being good or bad rather than right or wrong. </a:t>
            </a:r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 smtClean="0"/>
              <a:t>ISPs </a:t>
            </a:r>
            <a:r>
              <a:rPr lang="en-US" dirty="0"/>
              <a:t>there will be no deﬁnitive test to determine the correctness of </a:t>
            </a:r>
            <a:r>
              <a:rPr lang="en-US" dirty="0" smtClean="0"/>
              <a:t>a result</a:t>
            </a:r>
            <a:r>
              <a:rPr lang="en-US" dirty="0"/>
              <a:t>, and so no way of knowing that the ‘best’ available solution </a:t>
            </a:r>
            <a:r>
              <a:rPr lang="en-US" dirty="0" smtClean="0"/>
              <a:t>has been </a:t>
            </a:r>
            <a:r>
              <a:rPr lang="en-US" dirty="0"/>
              <a:t>achieved (usually termed ‘no stopping rule’). Computer </a:t>
            </a:r>
            <a:r>
              <a:rPr lang="en-US" dirty="0" smtClean="0"/>
              <a:t>applications </a:t>
            </a:r>
            <a:r>
              <a:rPr lang="en-US" dirty="0"/>
              <a:t>such as face or voice recognition, that have to cope with </a:t>
            </a:r>
            <a:r>
              <a:rPr lang="en-US" dirty="0" smtClean="0"/>
              <a:t>incomplete information</a:t>
            </a:r>
            <a:r>
              <a:rPr lang="en-US" dirty="0"/>
              <a:t>, can be considered as addressing ISPs.</a:t>
            </a:r>
          </a:p>
        </p:txBody>
      </p:sp>
    </p:spTree>
    <p:extLst>
      <p:ext uri="{BB962C8B-B14F-4D97-AF65-F5344CB8AC3E}">
        <p14:creationId xmlns:p14="http://schemas.microsoft.com/office/powerpoint/2010/main" val="777600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we look at problem-solving more broadly, not just through the </a:t>
            </a:r>
            <a:r>
              <a:rPr lang="en-US" dirty="0" smtClean="0"/>
              <a:t>use of </a:t>
            </a:r>
            <a:r>
              <a:rPr lang="en-US" dirty="0"/>
              <a:t>computers, these distinctions are every bit as useful. Many problems </a:t>
            </a:r>
            <a:r>
              <a:rPr lang="en-US" dirty="0" smtClean="0"/>
              <a:t>en-countered </a:t>
            </a:r>
            <a:r>
              <a:rPr lang="en-US" dirty="0"/>
              <a:t>in science, particularly in physics and </a:t>
            </a:r>
            <a:r>
              <a:rPr lang="en-US" dirty="0" err="1"/>
              <a:t>maths</a:t>
            </a:r>
            <a:r>
              <a:rPr lang="en-US" dirty="0"/>
              <a:t>, are </a:t>
            </a:r>
            <a:r>
              <a:rPr lang="en-US" dirty="0" smtClean="0"/>
              <a:t>well-structured problems </a:t>
            </a:r>
            <a:r>
              <a:rPr lang="en-US" dirty="0"/>
              <a:t>that can be solved through mathematical analysis. </a:t>
            </a:r>
            <a:endParaRPr lang="en-US" dirty="0" smtClean="0"/>
          </a:p>
          <a:p>
            <a:r>
              <a:rPr lang="en-US" dirty="0" smtClean="0"/>
              <a:t>However</a:t>
            </a:r>
            <a:r>
              <a:rPr lang="en-US" dirty="0"/>
              <a:t>, </a:t>
            </a:r>
            <a:r>
              <a:rPr lang="en-US" dirty="0" smtClean="0"/>
              <a:t>the problems </a:t>
            </a:r>
            <a:r>
              <a:rPr lang="en-US" dirty="0"/>
              <a:t>addressed by engineers, including software engineers, are nearly </a:t>
            </a:r>
            <a:r>
              <a:rPr lang="en-US" dirty="0" smtClean="0"/>
              <a:t>always </a:t>
            </a:r>
            <a:r>
              <a:rPr lang="en-US" dirty="0"/>
              <a:t>ill-structured problems. The need for a bridge can be met in many ways</a:t>
            </a:r>
            <a:r>
              <a:rPr lang="en-US" dirty="0" smtClean="0"/>
              <a:t>, and </a:t>
            </a:r>
            <a:r>
              <a:rPr lang="en-US" dirty="0"/>
              <a:t>there are many ways of writing even a simple computer program. </a:t>
            </a:r>
            <a:endParaRPr lang="en-US" dirty="0" smtClean="0"/>
          </a:p>
          <a:p>
            <a:r>
              <a:rPr lang="en-US" dirty="0" smtClean="0"/>
              <a:t>So addressing </a:t>
            </a:r>
            <a:r>
              <a:rPr lang="en-US" dirty="0"/>
              <a:t>an ISP involves employing some form of design process which </a:t>
            </a:r>
            <a:r>
              <a:rPr lang="en-US" dirty="0" smtClean="0"/>
              <a:t>enables us </a:t>
            </a:r>
            <a:r>
              <a:rPr lang="en-US" dirty="0"/>
              <a:t>to formulate a possible solution and then evaluate how well it might </a:t>
            </a:r>
            <a:r>
              <a:rPr lang="en-US" dirty="0" smtClean="0"/>
              <a:t>meet a </a:t>
            </a:r>
            <a:r>
              <a:rPr lang="en-US" dirty="0"/>
              <a:t>particular need.</a:t>
            </a:r>
          </a:p>
        </p:txBody>
      </p:sp>
    </p:spTree>
    <p:extLst>
      <p:ext uri="{BB962C8B-B14F-4D97-AF65-F5344CB8AC3E}">
        <p14:creationId xmlns:p14="http://schemas.microsoft.com/office/powerpoint/2010/main" val="676654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CCC system as an ISP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Let’s consider a design scenario that might occur when the </a:t>
            </a:r>
            <a:r>
              <a:rPr lang="en-US" dirty="0" smtClean="0"/>
              <a:t>software design </a:t>
            </a:r>
            <a:r>
              <a:rPr lang="en-US" dirty="0"/>
              <a:t>team start to plan how they will develop the software for CCC.</a:t>
            </a:r>
          </a:p>
          <a:p>
            <a:r>
              <a:rPr lang="en-US" dirty="0" smtClean="0"/>
              <a:t>1</a:t>
            </a:r>
            <a:r>
              <a:rPr lang="en-US" dirty="0"/>
              <a:t>. The head designer suggests representing each car as an object</a:t>
            </a:r>
            <a:r>
              <a:rPr lang="en-US" dirty="0" smtClean="0"/>
              <a:t>, with </a:t>
            </a:r>
            <a:r>
              <a:rPr lang="en-US" dirty="0"/>
              <a:t>its current status being stored internally, and a set of </a:t>
            </a:r>
            <a:r>
              <a:rPr lang="en-US" dirty="0" smtClean="0"/>
              <a:t>methods </a:t>
            </a:r>
            <a:r>
              <a:rPr lang="en-US" dirty="0"/>
              <a:t>that allow customers and other users (such as the </a:t>
            </a:r>
            <a:r>
              <a:rPr lang="en-US" dirty="0" smtClean="0"/>
              <a:t>maintenance </a:t>
            </a:r>
            <a:r>
              <a:rPr lang="en-US" dirty="0"/>
              <a:t>team and the accounting software) to access that status.</a:t>
            </a:r>
          </a:p>
          <a:p>
            <a:r>
              <a:rPr lang="en-US" dirty="0"/>
              <a:t>2. The next question is how to </a:t>
            </a:r>
            <a:r>
              <a:rPr lang="en-US" dirty="0" err="1"/>
              <a:t>organise</a:t>
            </a:r>
            <a:r>
              <a:rPr lang="en-US" dirty="0"/>
              <a:t> all of these objects. </a:t>
            </a:r>
            <a:r>
              <a:rPr lang="en-US" dirty="0" smtClean="0"/>
              <a:t>So a </a:t>
            </a:r>
            <a:r>
              <a:rPr lang="en-US" dirty="0"/>
              <a:t>member of the team suggests using an array of objects. </a:t>
            </a:r>
            <a:r>
              <a:rPr lang="en-US" dirty="0" smtClean="0"/>
              <a:t>One consequence </a:t>
            </a:r>
            <a:r>
              <a:rPr lang="en-US" dirty="0"/>
              <a:t>is that every car now has to have an index </a:t>
            </a:r>
            <a:r>
              <a:rPr lang="en-US" dirty="0" smtClean="0"/>
              <a:t>number so </a:t>
            </a:r>
            <a:r>
              <a:rPr lang="en-US" dirty="0"/>
              <a:t>that the relevant object can be accessed.</a:t>
            </a:r>
          </a:p>
          <a:p>
            <a:r>
              <a:rPr lang="en-US" dirty="0"/>
              <a:t>3. And then there’s the question of how to model the status of </a:t>
            </a:r>
            <a:r>
              <a:rPr lang="en-US" dirty="0" smtClean="0"/>
              <a:t>a car </a:t>
            </a:r>
            <a:r>
              <a:rPr lang="en-US" dirty="0"/>
              <a:t>internally (is it available, unavailable or reserved?).</a:t>
            </a:r>
          </a:p>
          <a:p>
            <a:r>
              <a:rPr lang="en-US" dirty="0" smtClean="0"/>
              <a:t>None </a:t>
            </a:r>
            <a:r>
              <a:rPr lang="en-US" dirty="0"/>
              <a:t>of these decisions exists in isolation, and each one has </a:t>
            </a:r>
            <a:r>
              <a:rPr lang="en-US" dirty="0" smtClean="0"/>
              <a:t>implications </a:t>
            </a:r>
            <a:r>
              <a:rPr lang="en-US" dirty="0"/>
              <a:t>for the way that the design will evolve.</a:t>
            </a:r>
          </a:p>
        </p:txBody>
      </p:sp>
    </p:spTree>
    <p:extLst>
      <p:ext uri="{BB962C8B-B14F-4D97-AF65-F5344CB8AC3E}">
        <p14:creationId xmlns:p14="http://schemas.microsoft.com/office/powerpoint/2010/main" val="1760079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for 'solving' </a:t>
            </a:r>
            <a:r>
              <a:rPr lang="en-US" dirty="0" smtClean="0"/>
              <a:t>a WSP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Figure provides </a:t>
            </a:r>
            <a:r>
              <a:rPr lang="en-US" dirty="0"/>
              <a:t>a simple schematic illustration of the diﬀerent ways </a:t>
            </a:r>
            <a:r>
              <a:rPr lang="en-US" dirty="0" smtClean="0"/>
              <a:t>in which </a:t>
            </a:r>
            <a:r>
              <a:rPr lang="en-US" dirty="0"/>
              <a:t>we need to approach the task of ‘solving’ ISPs and WSPs. A </a:t>
            </a:r>
            <a:r>
              <a:rPr lang="en-US" dirty="0" smtClean="0"/>
              <a:t>really important </a:t>
            </a:r>
            <a:r>
              <a:rPr lang="en-US" dirty="0"/>
              <a:t>distinction is the way that postulating a possible solution to </a:t>
            </a:r>
            <a:r>
              <a:rPr lang="en-US" dirty="0" smtClean="0"/>
              <a:t>one aspect </a:t>
            </a:r>
            <a:r>
              <a:rPr lang="en-US" dirty="0"/>
              <a:t>of an ISP may inﬂuence our understanding of that aspect as well </a:t>
            </a:r>
            <a:r>
              <a:rPr lang="en-US" dirty="0" smtClean="0"/>
              <a:t>as interacting </a:t>
            </a:r>
            <a:r>
              <a:rPr lang="en-US" dirty="0"/>
              <a:t>with the ideas we may have for solving its other aspects (</a:t>
            </a:r>
            <a:r>
              <a:rPr lang="en-US" dirty="0" smtClean="0"/>
              <a:t>indicated by </a:t>
            </a:r>
            <a:r>
              <a:rPr lang="en-US" dirty="0"/>
              <a:t>the dashed-line backward pointing arrows</a:t>
            </a:r>
            <a:r>
              <a:rPr lang="en-US" dirty="0" smtClean="0"/>
              <a:t>).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1073" y="3948545"/>
            <a:ext cx="4930709" cy="2092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403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for 'solving' an ISP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4218" y="1731817"/>
            <a:ext cx="7703127" cy="3976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762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exactly do we mean by design?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One of the complications of the English language is that a word can </a:t>
            </a:r>
            <a:r>
              <a:rPr lang="en-US" dirty="0" smtClean="0"/>
              <a:t>have multiple </a:t>
            </a:r>
            <a:r>
              <a:rPr lang="en-US" dirty="0"/>
              <a:t>uses, and we may often have to work out which meaning is </a:t>
            </a:r>
            <a:r>
              <a:rPr lang="en-US" dirty="0" smtClean="0"/>
              <a:t>intended by </a:t>
            </a:r>
            <a:r>
              <a:rPr lang="en-US" dirty="0"/>
              <a:t>considering the context in which the word appears. The word design is </a:t>
            </a:r>
            <a:r>
              <a:rPr lang="en-US" dirty="0" smtClean="0"/>
              <a:t>just such </a:t>
            </a:r>
            <a:r>
              <a:rPr lang="en-US" dirty="0"/>
              <a:t>a word, and in this book we are going to be concerned with </a:t>
            </a:r>
            <a:r>
              <a:rPr lang="en-US" dirty="0" smtClean="0"/>
              <a:t>exploring a </a:t>
            </a:r>
            <a:r>
              <a:rPr lang="en-US" dirty="0"/>
              <a:t>range of key concepts and ideas related to each of its meanings. So it </a:t>
            </a:r>
            <a:r>
              <a:rPr lang="en-US" dirty="0" smtClean="0"/>
              <a:t>is appropriate </a:t>
            </a:r>
            <a:r>
              <a:rPr lang="en-US" dirty="0"/>
              <a:t>to begin by examining just what these meanings are.</a:t>
            </a:r>
          </a:p>
          <a:p>
            <a:r>
              <a:rPr lang="en-US" dirty="0"/>
              <a:t>Firstly, we can speak of ‘a design’, using it as a noun that describes </a:t>
            </a:r>
            <a:r>
              <a:rPr lang="en-US" dirty="0" smtClean="0"/>
              <a:t>something </a:t>
            </a:r>
            <a:r>
              <a:rPr lang="en-US" dirty="0"/>
              <a:t>that forms a plan of how we intend some artifact to be constructed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517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exactly do we mean by design?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Indeed, we often speak of a ‘design plan’ in this context, where the purpose of this is to provide a ‘model’ of how some form of ‘product’ should be constructed. This particular meaning is therefore widely associated with the idea of manufacturing something, whether crafted by an individual, or assembled in a factory (mass production)1. So, we may have a design plan that provides guidance on how to construct a model boat (or a real one, depending on how ambitious we are), or an item of clothing, or a car. </a:t>
            </a:r>
          </a:p>
          <a:p>
            <a:r>
              <a:rPr lang="en-US" dirty="0"/>
              <a:t>The information provided in the plan about how to </a:t>
            </a:r>
            <a:r>
              <a:rPr lang="en-US" dirty="0" err="1"/>
              <a:t>realise</a:t>
            </a:r>
            <a:r>
              <a:rPr lang="en-US" dirty="0"/>
              <a:t> that design might be quite detailed and need to be followed exactly, which is probably a good idea when building a boat or a kit car, or it might be something of a more strategic nature that we are expected to interpret and adapt, which would be more appropriate when making a garment to ﬁt our own ﬁgure.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396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exactly do we mean by design?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However, rather than a physical artifact the design plan may describe </a:t>
            </a:r>
            <a:r>
              <a:rPr lang="en-US" dirty="0" smtClean="0"/>
              <a:t>some form </a:t>
            </a:r>
            <a:r>
              <a:rPr lang="en-US" dirty="0"/>
              <a:t>of procedure or process that is to be performed in some way. </a:t>
            </a:r>
            <a:endParaRPr lang="en-US" dirty="0" smtClean="0"/>
          </a:p>
          <a:p>
            <a:r>
              <a:rPr lang="en-US" dirty="0" smtClean="0"/>
              <a:t>Again, there </a:t>
            </a:r>
            <a:r>
              <a:rPr lang="en-US" dirty="0"/>
              <a:t>are many forms this can take—we can regard a musical score as </a:t>
            </a:r>
            <a:r>
              <a:rPr lang="en-US" dirty="0" smtClean="0"/>
              <a:t>being a </a:t>
            </a:r>
            <a:r>
              <a:rPr lang="en-US" dirty="0"/>
              <a:t>plan for a particular form of process, that is to be followed by the </a:t>
            </a:r>
            <a:r>
              <a:rPr lang="en-US" dirty="0" smtClean="0"/>
              <a:t>player or </a:t>
            </a:r>
            <a:r>
              <a:rPr lang="en-US" dirty="0"/>
              <a:t>players. Again, it may be very detailed, or leave scope for improvisation.</a:t>
            </a:r>
          </a:p>
          <a:p>
            <a:r>
              <a:rPr lang="en-US" dirty="0"/>
              <a:t>Other examples of such procedures might be concerned with form-ﬁlling, </a:t>
            </a:r>
            <a:r>
              <a:rPr lang="en-US" dirty="0" smtClean="0"/>
              <a:t>such as </a:t>
            </a:r>
            <a:r>
              <a:rPr lang="en-US" dirty="0"/>
              <a:t>applying on-line for a driving </a:t>
            </a:r>
            <a:r>
              <a:rPr lang="en-US" dirty="0" err="1"/>
              <a:t>licence</a:t>
            </a:r>
            <a:r>
              <a:rPr lang="en-US" dirty="0"/>
              <a:t> or a passport, describing the </a:t>
            </a:r>
            <a:r>
              <a:rPr lang="en-US" dirty="0" smtClean="0"/>
              <a:t>various things </a:t>
            </a:r>
            <a:r>
              <a:rPr lang="en-US" dirty="0"/>
              <a:t>we need to do, and possibly in what order. And of course, we </a:t>
            </a:r>
            <a:r>
              <a:rPr lang="en-US" dirty="0" smtClean="0"/>
              <a:t>can consider </a:t>
            </a:r>
            <a:r>
              <a:rPr lang="en-US" dirty="0"/>
              <a:t>a recipe for making a cake as being a plan that describes a process</a:t>
            </a:r>
            <a:r>
              <a:rPr lang="en-US" dirty="0" smtClean="0"/>
              <a:t>, but </a:t>
            </a:r>
            <a:r>
              <a:rPr lang="en-US" dirty="0"/>
              <a:t>also one that a competent cook will be expected to adapt quite </a:t>
            </a:r>
            <a:r>
              <a:rPr lang="en-US" dirty="0" smtClean="0"/>
              <a:t>freely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01832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exactly do we mean by design?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two forms of plan can also be </a:t>
            </a:r>
            <a:r>
              <a:rPr lang="en-US" dirty="0" smtClean="0"/>
              <a:t>combined</a:t>
            </a:r>
            <a:r>
              <a:rPr lang="en-US" dirty="0"/>
              <a:t>. As an example, the design for a </a:t>
            </a:r>
            <a:r>
              <a:rPr lang="en-US" dirty="0" smtClean="0"/>
              <a:t>bicycle </a:t>
            </a:r>
            <a:r>
              <a:rPr lang="en-US" dirty="0"/>
              <a:t>may describe both the structure of </a:t>
            </a:r>
            <a:r>
              <a:rPr lang="en-US" dirty="0" smtClean="0"/>
              <a:t>the bike </a:t>
            </a:r>
            <a:r>
              <a:rPr lang="en-US" dirty="0"/>
              <a:t>and also specify the way in which </a:t>
            </a:r>
            <a:r>
              <a:rPr lang="en-US" dirty="0" smtClean="0"/>
              <a:t>it should </a:t>
            </a:r>
            <a:r>
              <a:rPr lang="en-US" dirty="0"/>
              <a:t>be assembled in order to ensure </a:t>
            </a:r>
            <a:r>
              <a:rPr lang="en-US" dirty="0" smtClean="0"/>
              <a:t>that its </a:t>
            </a:r>
            <a:r>
              <a:rPr lang="en-US" dirty="0"/>
              <a:t>physical characteristics are not </a:t>
            </a:r>
            <a:r>
              <a:rPr lang="en-US" dirty="0" smtClean="0"/>
              <a:t>compromised.</a:t>
            </a:r>
          </a:p>
          <a:p>
            <a:r>
              <a:rPr lang="en-US" dirty="0"/>
              <a:t>An important characteristic of the </a:t>
            </a:r>
            <a:r>
              <a:rPr lang="en-US" dirty="0" smtClean="0"/>
              <a:t>use of </a:t>
            </a:r>
            <a:r>
              <a:rPr lang="en-US" dirty="0"/>
              <a:t>the word ‘design’ in this way is </a:t>
            </a:r>
            <a:r>
              <a:rPr lang="en-US" dirty="0" smtClean="0"/>
              <a:t>that we </a:t>
            </a:r>
            <a:r>
              <a:rPr lang="en-US" dirty="0"/>
              <a:t>usually associate it with some form(s</a:t>
            </a:r>
            <a:r>
              <a:rPr lang="en-US" dirty="0" smtClean="0"/>
              <a:t>) of </a:t>
            </a:r>
            <a:r>
              <a:rPr lang="en-US" dirty="0"/>
              <a:t>description for the plan. And of course</a:t>
            </a:r>
            <a:r>
              <a:rPr lang="en-US" dirty="0" smtClean="0"/>
              <a:t>, there </a:t>
            </a:r>
            <a:r>
              <a:rPr lang="en-US" dirty="0"/>
              <a:t>are many forms of description, </a:t>
            </a:r>
            <a:r>
              <a:rPr lang="en-US" dirty="0" smtClean="0"/>
              <a:t>which may </a:t>
            </a:r>
            <a:r>
              <a:rPr lang="en-US" dirty="0"/>
              <a:t>employ words, pictures, </a:t>
            </a:r>
            <a:r>
              <a:rPr lang="en-US" dirty="0" smtClean="0"/>
              <a:t>mathematical </a:t>
            </a:r>
            <a:r>
              <a:rPr lang="en-US" dirty="0"/>
              <a:t>forms, musical notation, etc. as well </a:t>
            </a:r>
            <a:r>
              <a:rPr lang="en-US" dirty="0" smtClean="0"/>
              <a:t>as combinations </a:t>
            </a:r>
            <a:r>
              <a:rPr lang="en-US" dirty="0"/>
              <a:t>of these. (Few diagrams </a:t>
            </a:r>
            <a:r>
              <a:rPr lang="en-US" dirty="0" smtClean="0"/>
              <a:t>are very </a:t>
            </a:r>
            <a:r>
              <a:rPr lang="en-US" dirty="0"/>
              <a:t>meaningful without some </a:t>
            </a:r>
            <a:r>
              <a:rPr lang="en-US" dirty="0" smtClean="0"/>
              <a:t>accompanying </a:t>
            </a:r>
            <a:r>
              <a:rPr lang="en-US" dirty="0"/>
              <a:t>text, as anyone who has tried to </a:t>
            </a:r>
            <a:r>
              <a:rPr lang="en-US" dirty="0" smtClean="0"/>
              <a:t>assemble ﬂat-pack </a:t>
            </a:r>
            <a:r>
              <a:rPr lang="en-US" dirty="0"/>
              <a:t>furniture will be only too aware.)</a:t>
            </a:r>
          </a:p>
        </p:txBody>
      </p:sp>
    </p:spTree>
    <p:extLst>
      <p:ext uri="{BB962C8B-B14F-4D97-AF65-F5344CB8AC3E}">
        <p14:creationId xmlns:p14="http://schemas.microsoft.com/office/powerpoint/2010/main" val="261706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exactly do we mean by design?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second meaning, which is closely </a:t>
            </a:r>
            <a:r>
              <a:rPr lang="en-US" dirty="0" smtClean="0"/>
              <a:t>related </a:t>
            </a:r>
            <a:r>
              <a:rPr lang="en-US" dirty="0"/>
              <a:t>to the ﬁrst one, and probably even more important to us here, is </a:t>
            </a:r>
            <a:r>
              <a:rPr lang="en-US" dirty="0" smtClean="0"/>
              <a:t>when we </a:t>
            </a:r>
            <a:r>
              <a:rPr lang="en-US" dirty="0"/>
              <a:t>use the word design as a verb, as in ‘to design’. This is concerned </a:t>
            </a:r>
            <a:r>
              <a:rPr lang="en-US" dirty="0" smtClean="0"/>
              <a:t>with the </a:t>
            </a:r>
            <a:r>
              <a:rPr lang="en-US" dirty="0"/>
              <a:t>process of designing something—with the goal being to produce a plan.</a:t>
            </a:r>
          </a:p>
          <a:p>
            <a:r>
              <a:rPr lang="en-US" dirty="0"/>
              <a:t>The activity of designing something forms the most creative (and </a:t>
            </a:r>
            <a:r>
              <a:rPr lang="en-US" dirty="0" smtClean="0"/>
              <a:t>usually challenging</a:t>
            </a:r>
            <a:r>
              <a:rPr lang="en-US" dirty="0"/>
              <a:t>) aspect of design as a concept, and indeed, </a:t>
            </a:r>
            <a:r>
              <a:rPr lang="en-US" dirty="0" smtClean="0"/>
              <a:t>and </a:t>
            </a:r>
            <a:r>
              <a:rPr lang="en-US" dirty="0"/>
              <a:t>with the diﬀerent </a:t>
            </a:r>
            <a:r>
              <a:rPr lang="en-US" dirty="0" smtClean="0"/>
              <a:t>processes employed </a:t>
            </a:r>
            <a:r>
              <a:rPr lang="en-US" dirty="0"/>
              <a:t>for designing software</a:t>
            </a:r>
            <a:r>
              <a:rPr lang="en-US" dirty="0" smtClean="0"/>
              <a:t>.</a:t>
            </a:r>
          </a:p>
          <a:p>
            <a:r>
              <a:rPr lang="en-US" dirty="0"/>
              <a:t>While design plans may vary in terms of how exactly they need to </a:t>
            </a:r>
            <a:r>
              <a:rPr lang="en-US" dirty="0" smtClean="0"/>
              <a:t>be followed</a:t>
            </a:r>
            <a:r>
              <a:rPr lang="en-US" dirty="0"/>
              <a:t>, there is usually a degree of formality associated with their </a:t>
            </a:r>
            <a:r>
              <a:rPr lang="en-US" dirty="0" smtClean="0"/>
              <a:t>structure that </a:t>
            </a:r>
            <a:r>
              <a:rPr lang="en-US" dirty="0"/>
              <a:t>is required to make them understandable. In contrast, design </a:t>
            </a:r>
            <a:r>
              <a:rPr lang="en-US" dirty="0" smtClean="0"/>
              <a:t>processes tend </a:t>
            </a:r>
            <a:r>
              <a:rPr lang="en-US" dirty="0"/>
              <a:t>to be much less constrained, and even following a recommended </a:t>
            </a:r>
            <a:r>
              <a:rPr lang="en-US" dirty="0" smtClean="0"/>
              <a:t>practice invariably </a:t>
            </a:r>
            <a:r>
              <a:rPr lang="en-US" dirty="0"/>
              <a:t>requires some interpretation and adaptation. So we can </a:t>
            </a:r>
            <a:r>
              <a:rPr lang="en-US" dirty="0" smtClean="0"/>
              <a:t>interpret design </a:t>
            </a:r>
            <a:r>
              <a:rPr lang="en-US" dirty="0"/>
              <a:t>thinking as meaning thinking about how to design something.</a:t>
            </a:r>
          </a:p>
        </p:txBody>
      </p:sp>
    </p:spTree>
    <p:extLst>
      <p:ext uri="{BB962C8B-B14F-4D97-AF65-F5344CB8AC3E}">
        <p14:creationId xmlns:p14="http://schemas.microsoft.com/office/powerpoint/2010/main" val="3476346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Ill-Structured Problems (ISPs) are </a:t>
            </a:r>
            <a:r>
              <a:rPr lang="en-US" dirty="0" err="1"/>
              <a:t>characterised</a:t>
            </a:r>
            <a:r>
              <a:rPr lang="en-US" dirty="0"/>
              <a:t> by a lack of </a:t>
            </a:r>
            <a:r>
              <a:rPr lang="en-US" dirty="0" smtClean="0"/>
              <a:t>true/false properties—and </a:t>
            </a:r>
            <a:r>
              <a:rPr lang="en-US" dirty="0"/>
              <a:t>are the type of problem that needs to be ‘solved</a:t>
            </a:r>
            <a:r>
              <a:rPr lang="en-US" dirty="0" smtClean="0"/>
              <a:t>’ through </a:t>
            </a:r>
            <a:r>
              <a:rPr lang="en-US" dirty="0"/>
              <a:t>the use of design rather than analysis. (And software </a:t>
            </a:r>
            <a:r>
              <a:rPr lang="en-US" dirty="0" smtClean="0"/>
              <a:t>development </a:t>
            </a:r>
            <a:r>
              <a:rPr lang="en-US" dirty="0"/>
              <a:t>is deﬁnitely an example of an ISP.)</a:t>
            </a:r>
          </a:p>
          <a:p>
            <a:r>
              <a:rPr lang="en-US" dirty="0"/>
              <a:t>Technical debt is a concept that distinguishes software development that </a:t>
            </a:r>
            <a:r>
              <a:rPr lang="en-US" dirty="0" smtClean="0"/>
              <a:t>is undertaken </a:t>
            </a:r>
            <a:r>
              <a:rPr lang="en-US" dirty="0"/>
              <a:t>‘for real’ from software that is written as a learning </a:t>
            </a:r>
            <a:r>
              <a:rPr lang="en-US" dirty="0" smtClean="0"/>
              <a:t>exercise and </a:t>
            </a:r>
            <a:r>
              <a:rPr lang="en-US" dirty="0"/>
              <a:t>then discarded. Designers need to think about the consequences </a:t>
            </a:r>
            <a:r>
              <a:rPr lang="en-US" dirty="0" smtClean="0"/>
              <a:t>of their </a:t>
            </a:r>
            <a:r>
              <a:rPr lang="en-US" dirty="0"/>
              <a:t>decisions in terms of their eﬀect upon the future evolution of </a:t>
            </a:r>
            <a:r>
              <a:rPr lang="en-US" dirty="0" smtClean="0"/>
              <a:t>an application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13252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 can be used as a noun. Employed in this way, ‘a design’ means </a:t>
            </a:r>
            <a:r>
              <a:rPr lang="en-US" dirty="0" smtClean="0"/>
              <a:t>a plan </a:t>
            </a:r>
            <a:r>
              <a:rPr lang="en-US" dirty="0"/>
              <a:t>for how some goal is to be achieved, whether this be physical (</a:t>
            </a:r>
            <a:r>
              <a:rPr lang="en-US" dirty="0" smtClean="0"/>
              <a:t>how to </a:t>
            </a:r>
            <a:r>
              <a:rPr lang="en-US" dirty="0"/>
              <a:t>construct something) or a process (how to perform something).</a:t>
            </a:r>
          </a:p>
          <a:p>
            <a:r>
              <a:rPr lang="en-US" dirty="0"/>
              <a:t>Design can be used as a verb. This refers to the act of designing (</a:t>
            </a:r>
            <a:r>
              <a:rPr lang="en-US" dirty="0" smtClean="0"/>
              <a:t>producing </a:t>
            </a:r>
            <a:r>
              <a:rPr lang="en-US" dirty="0"/>
              <a:t>a plan).</a:t>
            </a:r>
          </a:p>
          <a:p>
            <a:r>
              <a:rPr lang="en-US" dirty="0"/>
              <a:t>There are diﬀerent perspectives upon design. Design thinking </a:t>
            </a:r>
            <a:r>
              <a:rPr lang="en-US" dirty="0" smtClean="0"/>
              <a:t>applies to </a:t>
            </a:r>
            <a:r>
              <a:rPr lang="en-US" dirty="0"/>
              <a:t>a range of activities that can all be considered as being design </a:t>
            </a:r>
            <a:r>
              <a:rPr lang="en-US" dirty="0" smtClean="0"/>
              <a:t>in some </a:t>
            </a:r>
            <a:r>
              <a:rPr lang="en-US" dirty="0"/>
              <a:t>form. Three major perspectives on design that are all relevant </a:t>
            </a:r>
            <a:r>
              <a:rPr lang="en-US" dirty="0" smtClean="0"/>
              <a:t>to software </a:t>
            </a:r>
            <a:r>
              <a:rPr lang="en-US" dirty="0"/>
              <a:t>development are design as styling, design as planning and </a:t>
            </a:r>
            <a:r>
              <a:rPr lang="en-US" dirty="0" smtClean="0"/>
              <a:t>design as </a:t>
            </a:r>
            <a:r>
              <a:rPr lang="en-US" dirty="0"/>
              <a:t>adaptation (experience and models</a:t>
            </a:r>
            <a:r>
              <a:rPr lang="en-US" dirty="0" smtClean="0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4227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Designing is creative. When undertaking design activities, our objective </a:t>
            </a:r>
            <a:r>
              <a:rPr lang="en-US" dirty="0" smtClean="0"/>
              <a:t>is to </a:t>
            </a:r>
            <a:r>
              <a:rPr lang="en-US" dirty="0"/>
              <a:t>create something that does not already exist, which involves </a:t>
            </a:r>
            <a:r>
              <a:rPr lang="en-US" dirty="0" smtClean="0"/>
              <a:t>predicting </a:t>
            </a:r>
            <a:r>
              <a:rPr lang="en-US" dirty="0"/>
              <a:t>an eﬀect upon the future that will only be </a:t>
            </a:r>
            <a:r>
              <a:rPr lang="en-US" dirty="0" err="1"/>
              <a:t>realised</a:t>
            </a:r>
            <a:r>
              <a:rPr lang="en-US" dirty="0"/>
              <a:t> if the design </a:t>
            </a:r>
            <a:r>
              <a:rPr lang="en-US" dirty="0" smtClean="0"/>
              <a:t>plan is </a:t>
            </a:r>
            <a:r>
              <a:rPr lang="en-US" dirty="0"/>
              <a:t>feasible. To do so, we need to be able to envisage how something </a:t>
            </a:r>
            <a:r>
              <a:rPr lang="en-US" dirty="0" smtClean="0"/>
              <a:t>will be </a:t>
            </a:r>
            <a:r>
              <a:rPr lang="en-US" dirty="0"/>
              <a:t>done, and then work backwards to devise ways of bringing this about.</a:t>
            </a:r>
          </a:p>
        </p:txBody>
      </p:sp>
    </p:spTree>
    <p:extLst>
      <p:ext uri="{BB962C8B-B14F-4D97-AF65-F5344CB8AC3E}">
        <p14:creationId xmlns:p14="http://schemas.microsoft.com/office/powerpoint/2010/main" val="337449779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46</TotalTime>
  <Words>1825</Words>
  <Application>Microsoft Office PowerPoint</Application>
  <PresentationFormat>Widescreen</PresentationFormat>
  <Paragraphs>53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Trebuchet MS</vt:lpstr>
      <vt:lpstr>Wingdings 3</vt:lpstr>
      <vt:lpstr>Facet</vt:lpstr>
      <vt:lpstr>What is designing about?</vt:lpstr>
      <vt:lpstr>When is design needed?</vt:lpstr>
      <vt:lpstr>Types of Problem</vt:lpstr>
      <vt:lpstr>Types of Problem</vt:lpstr>
      <vt:lpstr>Types of Problem</vt:lpstr>
      <vt:lpstr>The CCC system as an ISP</vt:lpstr>
      <vt:lpstr>Process for 'solving' a WSP</vt:lpstr>
      <vt:lpstr>Process for 'solving' an ISP</vt:lpstr>
      <vt:lpstr>What exactly do we mean by design?</vt:lpstr>
      <vt:lpstr>What exactly do we mean by design?</vt:lpstr>
      <vt:lpstr>What exactly do we mean by design?</vt:lpstr>
      <vt:lpstr>What exactly do we mean by design?</vt:lpstr>
      <vt:lpstr>What exactly do we mean by design?</vt:lpstr>
      <vt:lpstr>Conclusion</vt:lpstr>
      <vt:lpstr>Conclusion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17</cp:revision>
  <dcterms:created xsi:type="dcterms:W3CDTF">2026-02-10T00:26:07Z</dcterms:created>
  <dcterms:modified xsi:type="dcterms:W3CDTF">2026-02-10T03:30:30Z</dcterms:modified>
</cp:coreProperties>
</file>