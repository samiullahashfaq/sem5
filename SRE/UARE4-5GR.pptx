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9"/>
  </p:handoutMasterIdLst>
  <p:sldIdLst>
    <p:sldId id="285" r:id="rId2"/>
    <p:sldId id="286" r:id="rId3"/>
    <p:sldId id="289" r:id="rId4"/>
    <p:sldId id="290" r:id="rId5"/>
    <p:sldId id="287" r:id="rId6"/>
    <p:sldId id="257" r:id="rId7"/>
    <p:sldId id="258" r:id="rId8"/>
    <p:sldId id="259" r:id="rId9"/>
    <p:sldId id="260" r:id="rId10"/>
    <p:sldId id="297" r:id="rId11"/>
    <p:sldId id="268" r:id="rId12"/>
    <p:sldId id="291" r:id="rId13"/>
    <p:sldId id="292" r:id="rId14"/>
    <p:sldId id="284" r:id="rId15"/>
    <p:sldId id="261" r:id="rId16"/>
    <p:sldId id="262" r:id="rId17"/>
    <p:sldId id="282" r:id="rId18"/>
    <p:sldId id="294" r:id="rId19"/>
    <p:sldId id="293" r:id="rId20"/>
    <p:sldId id="295" r:id="rId21"/>
    <p:sldId id="263" r:id="rId22"/>
    <p:sldId id="265" r:id="rId23"/>
    <p:sldId id="283" r:id="rId24"/>
    <p:sldId id="267" r:id="rId25"/>
    <p:sldId id="270" r:id="rId26"/>
    <p:sldId id="271" r:id="rId27"/>
    <p:sldId id="281" r:id="rId28"/>
    <p:sldId id="272" r:id="rId29"/>
    <p:sldId id="280" r:id="rId30"/>
    <p:sldId id="273" r:id="rId31"/>
    <p:sldId id="296" r:id="rId32"/>
    <p:sldId id="274" r:id="rId33"/>
    <p:sldId id="275" r:id="rId34"/>
    <p:sldId id="276" r:id="rId35"/>
    <p:sldId id="277" r:id="rId36"/>
    <p:sldId id="278" r:id="rId37"/>
    <p:sldId id="288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8" d="100"/>
          <a:sy n="78" d="100"/>
        </p:scale>
        <p:origin x="-1531" y="-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2ED51-959C-4473-A0CC-B8EE6A5E45D7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4B932-D943-4D79-BA06-4C5810FC0E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928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A364-F34F-4A77-93E5-D7B29E587D7B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54882-A1A4-4633-B6B9-006D38940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A364-F34F-4A77-93E5-D7B29E587D7B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54882-A1A4-4633-B6B9-006D38940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A364-F34F-4A77-93E5-D7B29E587D7B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54882-A1A4-4633-B6B9-006D38940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A364-F34F-4A77-93E5-D7B29E587D7B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54882-A1A4-4633-B6B9-006D38940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A364-F34F-4A77-93E5-D7B29E587D7B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54882-A1A4-4633-B6B9-006D38940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A364-F34F-4A77-93E5-D7B29E587D7B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54882-A1A4-4633-B6B9-006D38940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A364-F34F-4A77-93E5-D7B29E587D7B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54882-A1A4-4633-B6B9-006D38940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A364-F34F-4A77-93E5-D7B29E587D7B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54882-A1A4-4633-B6B9-006D38940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A364-F34F-4A77-93E5-D7B29E587D7B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54882-A1A4-4633-B6B9-006D38940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A364-F34F-4A77-93E5-D7B29E587D7B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54882-A1A4-4633-B6B9-006D38940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A364-F34F-4A77-93E5-D7B29E587D7B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54882-A1A4-4633-B6B9-006D38940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CA364-F34F-4A77-93E5-D7B29E587D7B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54882-A1A4-4633-B6B9-006D38940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algn="ctr"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Software Requirement Engineering </a:t>
            </a:r>
          </a:p>
          <a:p>
            <a:pPr algn="ctr"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CSE-305</a:t>
            </a:r>
          </a:p>
          <a:p>
            <a:pPr algn="ctr"/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Dr Ghulam Rasool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05712"/>
            <a:ext cx="8229600" cy="5334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We will discuss the notion of processes and process models for requirements engineering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Requirement Engineering process models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The role of people in requirements engineering processes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To explain why process improvement is important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152400"/>
            <a:ext cx="815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dirty="0" smtClean="0">
                <a:latin typeface="Arial" pitchFamily="34" charset="0"/>
                <a:cs typeface="Arial" pitchFamily="34" charset="0"/>
              </a:rPr>
              <a:t>Requirement Engineering Processes(Outline)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914400"/>
          </a:xfrm>
        </p:spPr>
        <p:txBody>
          <a:bodyPr/>
          <a:lstStyle/>
          <a:p>
            <a:r>
              <a:rPr lang="en-GB" dirty="0" smtClean="0"/>
              <a:t>Process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A process is an organized set of activities, which transforms inputs to outputs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Processes are essential for dealing with complexity in real world</a:t>
            </a:r>
          </a:p>
          <a:p>
            <a:r>
              <a:rPr lang="en-US" dirty="0" smtClean="0"/>
              <a:t>Processes document the steps in solving a certain problem</a:t>
            </a:r>
          </a:p>
          <a:p>
            <a:r>
              <a:rPr lang="en-US" dirty="0" smtClean="0"/>
              <a:t>Processes require creativity, background knowledge and interaction b/w different range of people</a:t>
            </a:r>
          </a:p>
          <a:p>
            <a:r>
              <a:rPr lang="en-US" dirty="0" smtClean="0"/>
              <a:t>They allow knowledge to be reused</a:t>
            </a:r>
          </a:p>
          <a:p>
            <a:r>
              <a:rPr lang="en-US" dirty="0" smtClean="0"/>
              <a:t>Examples:</a:t>
            </a:r>
          </a:p>
          <a:p>
            <a:pPr lvl="1"/>
            <a:r>
              <a:rPr lang="en-US" sz="3000" dirty="0" smtClean="0"/>
              <a:t>An instruction manual for assembling a computer or its parts</a:t>
            </a:r>
          </a:p>
          <a:p>
            <a:pPr lvl="1"/>
            <a:r>
              <a:rPr lang="en-US" sz="3000" dirty="0" smtClean="0"/>
              <a:t>A procedure manual for operating a motor vehicle radio and CD player</a:t>
            </a:r>
          </a:p>
          <a:p>
            <a:pPr lvl="1"/>
            <a:r>
              <a:rPr lang="en-US" sz="3200" dirty="0"/>
              <a:t>A quality manual for software development. </a:t>
            </a:r>
          </a:p>
          <a:p>
            <a:pPr lvl="1"/>
            <a:r>
              <a:rPr lang="en-US" sz="3000" dirty="0" smtClean="0"/>
              <a:t>A manual for assembling Microwave oven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763000" cy="1066800"/>
          </a:xfrm>
        </p:spPr>
        <p:txBody>
          <a:bodyPr/>
          <a:lstStyle/>
          <a:p>
            <a:r>
              <a:rPr lang="en-GB" dirty="0" smtClean="0"/>
              <a:t>Software Process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Software processes help in performing different software engineering activities in an organized manner</a:t>
            </a:r>
          </a:p>
          <a:p>
            <a:r>
              <a:rPr lang="en-US" dirty="0" smtClean="0"/>
              <a:t>Examples:</a:t>
            </a:r>
          </a:p>
          <a:p>
            <a:pPr lvl="1">
              <a:lnSpc>
                <a:spcPct val="90000"/>
              </a:lnSpc>
            </a:pPr>
            <a:r>
              <a:rPr lang="en-US" sz="3000" dirty="0" smtClean="0"/>
              <a:t>Software engineering development process (SDLC)</a:t>
            </a:r>
          </a:p>
          <a:p>
            <a:pPr lvl="1">
              <a:lnSpc>
                <a:spcPct val="90000"/>
              </a:lnSpc>
            </a:pPr>
            <a:r>
              <a:rPr lang="en-US" sz="3000" dirty="0" smtClean="0"/>
              <a:t>Requirements engineering process</a:t>
            </a:r>
          </a:p>
          <a:p>
            <a:pPr lvl="1">
              <a:lnSpc>
                <a:spcPct val="90000"/>
              </a:lnSpc>
            </a:pPr>
            <a:r>
              <a:rPr lang="en-US" sz="3000" dirty="0" smtClean="0"/>
              <a:t>Design process</a:t>
            </a:r>
          </a:p>
          <a:p>
            <a:pPr lvl="1">
              <a:lnSpc>
                <a:spcPct val="90000"/>
              </a:lnSpc>
            </a:pPr>
            <a:r>
              <a:rPr lang="en-US" sz="3000" dirty="0" smtClean="0"/>
              <a:t>Quality assurance process</a:t>
            </a:r>
          </a:p>
          <a:p>
            <a:pPr lvl="1">
              <a:lnSpc>
                <a:spcPct val="90000"/>
              </a:lnSpc>
            </a:pPr>
            <a:r>
              <a:rPr lang="en-US" sz="3000" dirty="0" smtClean="0"/>
              <a:t>Change management process</a:t>
            </a:r>
          </a:p>
          <a:p>
            <a:endParaRPr lang="en-US" dirty="0" smtClean="0"/>
          </a:p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39200" cy="9144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Requirement Engineering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 fontScale="85000" lnSpcReduction="10000"/>
          </a:bodyPr>
          <a:lstStyle/>
          <a:p>
            <a:r>
              <a:rPr lang="en-US" sz="3000" dirty="0" smtClean="0">
                <a:latin typeface="Arial" pitchFamily="34" charset="0"/>
                <a:cs typeface="Arial" pitchFamily="34" charset="0"/>
              </a:rPr>
              <a:t>The process(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es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) involved in developing system requirements is collectively known as Requirements Engineering Process</a:t>
            </a:r>
          </a:p>
          <a:p>
            <a:r>
              <a:rPr lang="en-US" sz="3000" dirty="0" smtClean="0">
                <a:latin typeface="Arial" pitchFamily="34" charset="0"/>
                <a:cs typeface="Arial" pitchFamily="34" charset="0"/>
              </a:rPr>
              <a:t>Requirements engineering is the process, which enables us to systematically determine the requirements for a software product</a:t>
            </a:r>
          </a:p>
          <a:p>
            <a:r>
              <a:rPr lang="en-US" sz="3000" dirty="0" smtClean="0">
                <a:latin typeface="Arial" pitchFamily="34" charset="0"/>
                <a:cs typeface="Arial" pitchFamily="34" charset="0"/>
              </a:rPr>
              <a:t>Requirements engineering processes are dominated by </a:t>
            </a:r>
            <a:r>
              <a:rPr lang="en-US" sz="3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human, social and organizational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factors</a:t>
            </a:r>
          </a:p>
          <a:p>
            <a:r>
              <a:rPr lang="en-US" sz="3100" dirty="0">
                <a:latin typeface="Arial" pitchFamily="34" charset="0"/>
                <a:cs typeface="Arial" pitchFamily="34" charset="0"/>
              </a:rPr>
              <a:t>Based on the need of individual software projects and organizational needs, requirements engineering processes are </a:t>
            </a:r>
            <a:r>
              <a:rPr lang="en-US" sz="3100" dirty="0" smtClean="0">
                <a:latin typeface="Arial" pitchFamily="34" charset="0"/>
                <a:cs typeface="Arial" pitchFamily="34" charset="0"/>
              </a:rPr>
              <a:t>tailored</a:t>
            </a:r>
            <a:endParaRPr lang="en-US" sz="3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3000" dirty="0" smtClean="0">
                <a:latin typeface="Arial" pitchFamily="34" charset="0"/>
                <a:cs typeface="Arial" pitchFamily="34" charset="0"/>
              </a:rPr>
              <a:t>An important point to remember is that “There is no ideal requirements engineering process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en-US" dirty="0" smtClean="0"/>
              <a:t>Inputs and outputs for RE</a:t>
            </a:r>
            <a:endParaRPr lang="en-US" dirty="0"/>
          </a:p>
        </p:txBody>
      </p:sp>
      <p:grpSp>
        <p:nvGrpSpPr>
          <p:cNvPr id="4" name="Content Placeholder 3"/>
          <p:cNvGrpSpPr>
            <a:grpSpLocks noGrp="1"/>
          </p:cNvGrpSpPr>
          <p:nvPr/>
        </p:nvGrpSpPr>
        <p:grpSpPr>
          <a:xfrm>
            <a:off x="457200" y="1447800"/>
            <a:ext cx="8229600" cy="4953000"/>
            <a:chOff x="533400" y="1765300"/>
            <a:chExt cx="8001000" cy="4102100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3124200" y="2514600"/>
              <a:ext cx="2819400" cy="274320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533400" y="1828800"/>
              <a:ext cx="1524000" cy="685800"/>
            </a:xfrm>
            <a:prstGeom prst="rect">
              <a:avLst/>
            </a:prstGeom>
            <a:noFill/>
            <a:ln w="12700">
              <a:solidFill>
                <a:schemeClr val="tx1">
                  <a:alpha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533400" y="2667000"/>
              <a:ext cx="1524000" cy="685800"/>
            </a:xfrm>
            <a:prstGeom prst="rect">
              <a:avLst/>
            </a:prstGeom>
            <a:noFill/>
            <a:ln w="12700">
              <a:solidFill>
                <a:schemeClr val="tx1">
                  <a:alpha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533400" y="3505200"/>
              <a:ext cx="1524000" cy="685800"/>
            </a:xfrm>
            <a:prstGeom prst="rect">
              <a:avLst/>
            </a:prstGeom>
            <a:noFill/>
            <a:ln w="12700">
              <a:solidFill>
                <a:schemeClr val="tx1">
                  <a:alpha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533400" y="4343400"/>
              <a:ext cx="1524000" cy="685800"/>
            </a:xfrm>
            <a:prstGeom prst="rect">
              <a:avLst/>
            </a:prstGeom>
            <a:noFill/>
            <a:ln w="12700">
              <a:solidFill>
                <a:schemeClr val="tx1">
                  <a:alpha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533400" y="5181600"/>
              <a:ext cx="1524000" cy="685800"/>
            </a:xfrm>
            <a:prstGeom prst="rect">
              <a:avLst/>
            </a:prstGeom>
            <a:noFill/>
            <a:ln w="12700">
              <a:solidFill>
                <a:schemeClr val="tx1">
                  <a:alpha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7010400" y="2667000"/>
              <a:ext cx="1524000" cy="685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7010400" y="3505200"/>
              <a:ext cx="1524000" cy="685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7010400" y="4343400"/>
              <a:ext cx="1524000" cy="685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2057400" y="3810000"/>
              <a:ext cx="1066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2057400" y="4724400"/>
              <a:ext cx="1066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2057400" y="3048000"/>
              <a:ext cx="1066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5943600" y="3810000"/>
              <a:ext cx="1066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5943600" y="4724400"/>
              <a:ext cx="1066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5943600" y="3048000"/>
              <a:ext cx="1066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2057400" y="2133600"/>
              <a:ext cx="1752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2057400" y="5562600"/>
              <a:ext cx="1752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3810000" y="213360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V="1">
              <a:off x="3810000" y="5257800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3167063" y="3394075"/>
              <a:ext cx="2607516" cy="6882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0000FF"/>
                  </a:solidFill>
                </a:rPr>
                <a:t>Requirements</a:t>
              </a:r>
            </a:p>
            <a:p>
              <a:r>
                <a:rPr lang="en-US" sz="2400" dirty="0">
                  <a:solidFill>
                    <a:srgbClr val="0000FF"/>
                  </a:solidFill>
                </a:rPr>
                <a:t>Engineering Process</a:t>
              </a: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666750" y="1765300"/>
              <a:ext cx="1135443" cy="6882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Existing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systems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information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685800" y="2743200"/>
              <a:ext cx="1144731" cy="4843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Stakeholder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needs</a:t>
              </a:r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609600" y="3581400"/>
              <a:ext cx="1346149" cy="4843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Organizational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standards</a:t>
              </a:r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783272" y="4540250"/>
              <a:ext cx="1121728" cy="2803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lang="en-US" sz="1600" dirty="0">
                  <a:solidFill>
                    <a:srgbClr val="0000FF"/>
                  </a:solidFill>
                </a:rPr>
                <a:t>Regulations</a:t>
              </a:r>
            </a:p>
          </p:txBody>
        </p:sp>
        <p:sp>
          <p:nvSpPr>
            <p:cNvPr id="29" name="Text Box 27"/>
            <p:cNvSpPr txBox="1">
              <a:spLocks noChangeArrowheads="1"/>
            </p:cNvSpPr>
            <p:nvPr/>
          </p:nvSpPr>
          <p:spPr bwMode="auto">
            <a:xfrm>
              <a:off x="681567" y="5173198"/>
              <a:ext cx="1187301" cy="4843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600" dirty="0" smtClean="0">
                  <a:solidFill>
                    <a:srgbClr val="0000FF"/>
                  </a:solidFill>
                </a:rPr>
                <a:t>Domain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information</a:t>
              </a:r>
              <a:endParaRPr lang="en-US" sz="1600" dirty="0">
                <a:solidFill>
                  <a:srgbClr val="0000FF"/>
                </a:solidFill>
              </a:endParaRPr>
            </a:p>
          </p:txBody>
        </p:sp>
        <p:sp>
          <p:nvSpPr>
            <p:cNvPr id="30" name="Text Box 28"/>
            <p:cNvSpPr txBox="1">
              <a:spLocks noChangeArrowheads="1"/>
            </p:cNvSpPr>
            <p:nvPr/>
          </p:nvSpPr>
          <p:spPr bwMode="auto">
            <a:xfrm>
              <a:off x="7172325" y="3581400"/>
              <a:ext cx="1195227" cy="4843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System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specification</a:t>
              </a:r>
            </a:p>
          </p:txBody>
        </p:sp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7153275" y="2743200"/>
              <a:ext cx="1274272" cy="4843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Agreed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requirements</a:t>
              </a:r>
            </a:p>
          </p:txBody>
        </p:sp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7383463" y="4371975"/>
              <a:ext cx="771757" cy="4843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System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models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9144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RE Process – Inputs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Autofit/>
          </a:bodyPr>
          <a:lstStyle/>
          <a:p>
            <a:r>
              <a:rPr lang="en-US" sz="2400" dirty="0" smtClean="0"/>
              <a:t>Existing system information</a:t>
            </a:r>
          </a:p>
          <a:p>
            <a:pPr lvl="1"/>
            <a:r>
              <a:rPr lang="en-US" sz="2400" dirty="0" smtClean="0"/>
              <a:t>Information about the functionality of systems to be replaced</a:t>
            </a:r>
          </a:p>
          <a:p>
            <a:pPr lvl="1"/>
            <a:r>
              <a:rPr lang="en-US" sz="2400" dirty="0" smtClean="0"/>
              <a:t>Information about other systems, which interact with the system being specified</a:t>
            </a:r>
          </a:p>
          <a:p>
            <a:r>
              <a:rPr lang="en-US" sz="2400" dirty="0" smtClean="0"/>
              <a:t>Stakeholder needs</a:t>
            </a:r>
          </a:p>
          <a:p>
            <a:pPr lvl="1"/>
            <a:r>
              <a:rPr lang="en-US" sz="2400" dirty="0" smtClean="0"/>
              <a:t>Description of what system stakeholders need from the system to support their work</a:t>
            </a:r>
          </a:p>
          <a:p>
            <a:r>
              <a:rPr lang="en-US" sz="2400" dirty="0" smtClean="0"/>
              <a:t>Organizational standards</a:t>
            </a:r>
          </a:p>
          <a:p>
            <a:pPr lvl="1"/>
            <a:r>
              <a:rPr lang="en-US" sz="2400" dirty="0" smtClean="0"/>
              <a:t>Standards used in an organization regarding system development practice, quality management, etc.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1066800"/>
          </a:xfrm>
        </p:spPr>
        <p:txBody>
          <a:bodyPr/>
          <a:lstStyle/>
          <a:p>
            <a:r>
              <a:rPr lang="en-US" dirty="0" smtClean="0"/>
              <a:t>RE Process – 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Inputs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/>
          <a:lstStyle/>
          <a:p>
            <a:r>
              <a:rPr lang="en-US" dirty="0" smtClean="0"/>
              <a:t>Regulations</a:t>
            </a:r>
          </a:p>
          <a:p>
            <a:pPr lvl="1"/>
            <a:r>
              <a:rPr lang="en-US" dirty="0" smtClean="0"/>
              <a:t>External regulations such as health and safety regulations, which apply to the system</a:t>
            </a:r>
          </a:p>
          <a:p>
            <a:r>
              <a:rPr lang="en-US" dirty="0" smtClean="0"/>
              <a:t>Domain information</a:t>
            </a:r>
          </a:p>
          <a:p>
            <a:pPr lvl="1"/>
            <a:r>
              <a:rPr lang="en-US" dirty="0" smtClean="0"/>
              <a:t>General information about the application domain of the system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RE Process – Inputs/Outputs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Agreed requirements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A description of the system requirements, which are understandable by stakeholders and which has been agreed by them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System specification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This is a more detailed specification of the system, which may be produced in some cases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System models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A set of models such as a data-flow model, an object model, a process model, etc., which describes the system from different perspectives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en-US" dirty="0" smtClean="0"/>
              <a:t>Important Tasks for RE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are two main tasks which needs to be performed in the requirements engineering process.</a:t>
            </a:r>
          </a:p>
          <a:p>
            <a:pPr>
              <a:lnSpc>
                <a:spcPct val="90000"/>
              </a:lnSpc>
            </a:pPr>
            <a:r>
              <a:rPr lang="en-US" dirty="0"/>
              <a:t>Problem analysis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Analysis of a software problem</a:t>
            </a:r>
          </a:p>
          <a:p>
            <a:pPr>
              <a:lnSpc>
                <a:spcPct val="90000"/>
              </a:lnSpc>
            </a:pPr>
            <a:r>
              <a:rPr lang="en-US" dirty="0"/>
              <a:t>Product description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Complete specification of the desired external behavior of the software system to be built.  Also known as functional description, functional requirements, or specifications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5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smtClean="0">
                <a:latin typeface="Arial" pitchFamily="34" charset="0"/>
                <a:cs typeface="Arial" pitchFamily="34" charset="0"/>
              </a:rPr>
              <a:t>What is the requirements engineering process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100" dirty="0" smtClean="0">
                <a:latin typeface="Arial" pitchFamily="34" charset="0"/>
                <a:cs typeface="Arial" pitchFamily="34" charset="0"/>
              </a:rPr>
              <a:t>The processes used for requirements engineering vary widely depending on the application domain, the people involved and the organization developing the requirements</a:t>
            </a:r>
          </a:p>
          <a:p>
            <a:r>
              <a:rPr lang="en-US" sz="3100" dirty="0" smtClean="0">
                <a:latin typeface="Arial" pitchFamily="34" charset="0"/>
                <a:cs typeface="Arial" pitchFamily="34" charset="0"/>
              </a:rPr>
              <a:t>Due to diversity of different software projects and organizational cultures, there is no single, formulaic approach to requirement development</a:t>
            </a:r>
          </a:p>
          <a:p>
            <a:r>
              <a:rPr lang="en-US" sz="3100" dirty="0" smtClean="0">
                <a:latin typeface="Arial" pitchFamily="34" charset="0"/>
                <a:cs typeface="Arial" pitchFamily="34" charset="0"/>
              </a:rPr>
              <a:t>Generally, RE processes follow these activities: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Requirements elicitation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Requirements analysis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Requirements specification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Requirements validation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Requirements management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534400" cy="990600"/>
          </a:xfrm>
        </p:spPr>
        <p:txBody>
          <a:bodyPr>
            <a:normAutofit/>
          </a:bodyPr>
          <a:lstStyle/>
          <a:p>
            <a:r>
              <a:rPr lang="en-GB" dirty="0" smtClean="0"/>
              <a:t>RE Process Activities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458200" cy="50593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Requirements Elicitation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Define requirement development process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Requirements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acquisition or requirements discovery through consultation with stakeholders, from system documents, domain knowledge, and market studies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Requirement Discovery using different elicitation techniques</a:t>
            </a:r>
          </a:p>
          <a:p>
            <a:r>
              <a:rPr lang="en-US" dirty="0" smtClean="0"/>
              <a:t>Requirements Analysis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Understanding the relationships among various customer requirements and shaping those relationships to achieve a successful result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Incomplete and inconsistent information needs to be tackled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here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Modeling requirements using different diagrams</a:t>
            </a:r>
          </a:p>
          <a:p>
            <a:r>
              <a:rPr lang="en-US" dirty="0" smtClean="0"/>
              <a:t>Requirements Specification</a:t>
            </a:r>
          </a:p>
          <a:p>
            <a:pPr lvl="1">
              <a:lnSpc>
                <a:spcPct val="80000"/>
              </a:lnSpc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Building a tangible model of requirements using natural language and diagrams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Building a representation of requirements that can be assessed for correctness, completeness, and consistency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Adopt SRS Template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990600"/>
          </a:xfrm>
        </p:spPr>
        <p:txBody>
          <a:bodyPr>
            <a:normAutofit/>
          </a:bodyPr>
          <a:lstStyle/>
          <a:p>
            <a:r>
              <a:rPr lang="en-GB" dirty="0" smtClean="0"/>
              <a:t>RE Process Activities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458200" cy="49069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Requirements Validation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It involves reviewing the requirements model for consistency and completeness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This process is intended to detect problems in the requirements document, before they are used as a basis for the system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development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Reviews and Inspections are used for validation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/>
              <a:t>Requirements Management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It is performed throughout requirement engineering activities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Requirements management asks to identify, control and track requirements and the changes that will be made to them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Baseline and control versions of requirements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4000" dirty="0" smtClean="0">
                <a:latin typeface="Arial" pitchFamily="34" charset="0"/>
                <a:cs typeface="Arial" pitchFamily="34" charset="0"/>
              </a:rPr>
              <a:t>Benefits of high quality requirement process</a:t>
            </a:r>
            <a:br>
              <a:rPr lang="en-US" sz="4000" dirty="0" smtClean="0">
                <a:latin typeface="Arial" pitchFamily="34" charset="0"/>
                <a:cs typeface="Arial" pitchFamily="34" charset="0"/>
              </a:rPr>
            </a:br>
            <a:r>
              <a:rPr lang="en-US" sz="3600" dirty="0" smtClean="0">
                <a:latin typeface="Arial" pitchFamily="34" charset="0"/>
                <a:cs typeface="Arial" pitchFamily="34" charset="0"/>
              </a:rPr>
              <a:t> </a:t>
            </a:r>
            <a:br>
              <a:rPr lang="en-US" sz="3600" dirty="0" smtClean="0">
                <a:latin typeface="Arial" pitchFamily="34" charset="0"/>
                <a:cs typeface="Arial" pitchFamily="34" charset="0"/>
              </a:rPr>
            </a:b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458200" cy="5181600"/>
          </a:xfrm>
        </p:spPr>
        <p:txBody>
          <a:bodyPr/>
          <a:lstStyle/>
          <a:p>
            <a:r>
              <a:rPr lang="en-US" dirty="0" smtClean="0"/>
              <a:t>Fewer requirements defects</a:t>
            </a:r>
          </a:p>
          <a:p>
            <a:r>
              <a:rPr lang="en-US" dirty="0" smtClean="0"/>
              <a:t>Better control of complex projects</a:t>
            </a:r>
          </a:p>
          <a:p>
            <a:r>
              <a:rPr lang="en-US" dirty="0" smtClean="0"/>
              <a:t>Reduced development rework</a:t>
            </a:r>
          </a:p>
          <a:p>
            <a:r>
              <a:rPr lang="en-US" dirty="0" smtClean="0"/>
              <a:t>Faster development</a:t>
            </a:r>
          </a:p>
          <a:p>
            <a:r>
              <a:rPr lang="en-US" dirty="0" smtClean="0"/>
              <a:t>Lower enhancement costs</a:t>
            </a:r>
          </a:p>
          <a:p>
            <a:r>
              <a:rPr lang="en-US" dirty="0" smtClean="0"/>
              <a:t>Fewer misconceptions</a:t>
            </a:r>
          </a:p>
          <a:p>
            <a:r>
              <a:rPr lang="en-US" dirty="0" smtClean="0"/>
              <a:t>Reduced project chaos</a:t>
            </a:r>
          </a:p>
          <a:p>
            <a:r>
              <a:rPr lang="en-US" dirty="0" smtClean="0"/>
              <a:t>Higher customer and team member satisfaction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10600" cy="990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RE Process Models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A process model is a simplified description of a process presented from a particular perspective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There may be several different models of the same process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Types of Process Models for RE</a:t>
            </a:r>
          </a:p>
          <a:p>
            <a:pPr lvl="1"/>
            <a:r>
              <a:rPr lang="en-US" dirty="0" smtClean="0"/>
              <a:t>Coarse-grain activity model(Linear  RE Model)</a:t>
            </a:r>
          </a:p>
          <a:p>
            <a:pPr lvl="1"/>
            <a:r>
              <a:rPr lang="en-US" dirty="0" smtClean="0"/>
              <a:t>Linear Iterative Model</a:t>
            </a:r>
          </a:p>
          <a:p>
            <a:pPr lvl="1"/>
            <a:r>
              <a:rPr lang="en-US" dirty="0" smtClean="0"/>
              <a:t>Spiral Model(Iterative)</a:t>
            </a:r>
          </a:p>
          <a:p>
            <a:pPr lvl="1"/>
            <a:r>
              <a:rPr lang="en-US" dirty="0" smtClean="0"/>
              <a:t>Role-action model</a:t>
            </a:r>
          </a:p>
          <a:p>
            <a:pPr lvl="1"/>
            <a:r>
              <a:rPr lang="en-US" dirty="0" smtClean="0"/>
              <a:t>V Model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Coarse-grain Activity Model(Linear RE Model)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Content Placeholder 3"/>
          <p:cNvGrpSpPr>
            <a:grpSpLocks noGrp="1"/>
          </p:cNvGrpSpPr>
          <p:nvPr/>
        </p:nvGrpSpPr>
        <p:grpSpPr>
          <a:xfrm>
            <a:off x="457200" y="1447800"/>
            <a:ext cx="8325242" cy="5360346"/>
            <a:chOff x="609600" y="2819400"/>
            <a:chExt cx="8026536" cy="3048000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1228725" y="3657600"/>
              <a:ext cx="1295400" cy="9144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2981325" y="3657600"/>
              <a:ext cx="1295400" cy="9144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4733925" y="3657600"/>
              <a:ext cx="1295400" cy="9144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6486525" y="3657600"/>
              <a:ext cx="1295400" cy="9144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838325" y="2819400"/>
              <a:ext cx="5257800" cy="0"/>
            </a:xfrm>
            <a:prstGeom prst="line">
              <a:avLst/>
            </a:prstGeom>
            <a:noFill/>
            <a:ln w="9525">
              <a:solidFill>
                <a:schemeClr val="tx1">
                  <a:alpha val="51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1838325" y="2819400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590925" y="2819400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5343525" y="2819400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7096125" y="2819400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1220788" y="3833813"/>
              <a:ext cx="1301425" cy="3325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600" dirty="0">
                  <a:solidFill>
                    <a:schemeClr val="bg1"/>
                  </a:solidFill>
                </a:rPr>
                <a:t>Requirements</a:t>
              </a:r>
            </a:p>
            <a:p>
              <a:pPr eaLnBrk="1" hangingPunct="1"/>
              <a:r>
                <a:rPr lang="en-US" sz="16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Elicitation</a:t>
              </a: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2960688" y="3733800"/>
              <a:ext cx="1301425" cy="4725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600" dirty="0">
                  <a:solidFill>
                    <a:schemeClr val="bg1"/>
                  </a:solidFill>
                </a:rPr>
                <a:t>Requirements</a:t>
              </a:r>
            </a:p>
            <a:p>
              <a:pPr eaLnBrk="1" hangingPunct="1"/>
              <a:r>
                <a:rPr lang="en-US" sz="16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Analysis and</a:t>
              </a:r>
            </a:p>
            <a:p>
              <a:pPr eaLnBrk="1" hangingPunct="1"/>
              <a:r>
                <a:rPr lang="en-US" sz="16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Negotiation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4713288" y="3838575"/>
              <a:ext cx="1408248" cy="3325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6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Requirements</a:t>
              </a:r>
            </a:p>
            <a:p>
              <a:pPr eaLnBrk="1" hangingPunct="1"/>
              <a:r>
                <a:rPr lang="en-US" sz="16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Specification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6486525" y="3838575"/>
              <a:ext cx="1408248" cy="3325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6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Requirements</a:t>
              </a:r>
            </a:p>
            <a:p>
              <a:pPr eaLnBrk="1" hangingPunct="1"/>
              <a:r>
                <a:rPr lang="en-US" sz="16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Validation</a:t>
              </a:r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 flipV="1">
              <a:off x="1838325" y="45720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619125" y="5029200"/>
              <a:ext cx="2286000" cy="73656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609600" y="4994275"/>
              <a:ext cx="2377270" cy="7525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600" dirty="0">
                  <a:solidFill>
                    <a:schemeClr val="bg1"/>
                  </a:solidFill>
                </a:rPr>
                <a:t>User Needs,</a:t>
              </a:r>
            </a:p>
            <a:p>
              <a:pPr eaLnBrk="1" hangingPunct="1"/>
              <a:r>
                <a:rPr lang="en-US" sz="1600" dirty="0">
                  <a:solidFill>
                    <a:schemeClr val="bg1"/>
                  </a:solidFill>
                </a:rPr>
                <a:t>Domain Information,</a:t>
              </a:r>
            </a:p>
            <a:p>
              <a:pPr eaLnBrk="1" hangingPunct="1"/>
              <a:r>
                <a:rPr lang="en-US" sz="16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Existing System</a:t>
              </a:r>
            </a:p>
            <a:p>
              <a:pPr eaLnBrk="1" hangingPunct="1"/>
              <a:r>
                <a:rPr lang="en-US" sz="16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Information, Regulations,</a:t>
              </a:r>
            </a:p>
            <a:p>
              <a:pPr eaLnBrk="1" hangingPunct="1"/>
              <a:r>
                <a:rPr lang="en-US" sz="16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Standards, Etc.</a:t>
              </a: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4200525" y="5029200"/>
              <a:ext cx="2286000" cy="6065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5343525" y="45720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4723695" y="5245815"/>
              <a:ext cx="1408248" cy="3325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6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Requirements</a:t>
              </a:r>
            </a:p>
            <a:p>
              <a:pPr eaLnBrk="1" hangingPunct="1"/>
              <a:r>
                <a:rPr lang="en-US" sz="16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Document</a:t>
              </a: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6486525" y="5867400"/>
              <a:ext cx="1600200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6486525" y="54864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7096125" y="45720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7227888" y="5257800"/>
              <a:ext cx="1408248" cy="3325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6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Agreed</a:t>
              </a:r>
            </a:p>
            <a:p>
              <a:pPr eaLnBrk="1" hangingPunct="1"/>
              <a:r>
                <a:rPr lang="en-US" sz="16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Requirements</a:t>
              </a: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2514600" y="4114800"/>
              <a:ext cx="457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4267200" y="4114800"/>
              <a:ext cx="457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6019800" y="4114800"/>
              <a:ext cx="457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990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Coarse-grain Activity Model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This type of model provides an overall picture of the process and provide foundation for other models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Describes the context of different activities in the process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Problems in this model are:</a:t>
            </a:r>
          </a:p>
          <a:p>
            <a:pPr lvl="1"/>
            <a:r>
              <a:rPr lang="en-US" dirty="0" smtClean="0"/>
              <a:t>No user feedback</a:t>
            </a:r>
          </a:p>
          <a:p>
            <a:pPr lvl="1"/>
            <a:r>
              <a:rPr lang="en-US" dirty="0" smtClean="0"/>
              <a:t>No Freezing of requirements</a:t>
            </a:r>
          </a:p>
          <a:p>
            <a:pPr lvl="1"/>
            <a:r>
              <a:rPr lang="en-US" dirty="0" smtClean="0"/>
              <a:t>No risk management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1066800"/>
          </a:xfrm>
        </p:spPr>
        <p:txBody>
          <a:bodyPr/>
          <a:lstStyle/>
          <a:p>
            <a:r>
              <a:rPr lang="en-GB" dirty="0" smtClean="0"/>
              <a:t>Linear Iterative RE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GB" dirty="0" smtClean="0"/>
              <a:t>It follows iterations for validation of requirements again and again until stakeholders are agreed and final system specification is achieved</a:t>
            </a:r>
          </a:p>
          <a:p>
            <a:r>
              <a:rPr lang="en-GB" dirty="0" smtClean="0"/>
              <a:t>It solves some problems of Linear RE model such as freezing of requirements and requirement invalidation but it has no strategy for risk management</a:t>
            </a:r>
            <a:endParaRPr lang="en-GB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534400" cy="990600"/>
          </a:xfrm>
        </p:spPr>
        <p:txBody>
          <a:bodyPr/>
          <a:lstStyle/>
          <a:p>
            <a:r>
              <a:rPr lang="en-GB" dirty="0" smtClean="0"/>
              <a:t>Linear Iterative RE Model</a:t>
            </a:r>
            <a:endParaRPr lang="en-GB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371600"/>
            <a:ext cx="8153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Spiral Model for RE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dirty="0" smtClean="0"/>
              <a:t>The key motivation for spiral model is the risk analysis and risk management</a:t>
            </a:r>
          </a:p>
          <a:p>
            <a:r>
              <a:rPr lang="en-US" dirty="0" smtClean="0"/>
              <a:t>Requirements are discovered in different iterations and can be re-evaluated after each spiral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990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Spiral Model for RE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1" name="Content Placeholder 30"/>
          <p:cNvGrpSpPr>
            <a:grpSpLocks noGrp="1"/>
          </p:cNvGrpSpPr>
          <p:nvPr/>
        </p:nvGrpSpPr>
        <p:grpSpPr>
          <a:xfrm>
            <a:off x="457200" y="1219200"/>
            <a:ext cx="8351396" cy="4935335"/>
            <a:chOff x="228600" y="1416050"/>
            <a:chExt cx="8647819" cy="5122146"/>
          </a:xfrm>
        </p:grpSpPr>
        <p:sp>
          <p:nvSpPr>
            <p:cNvPr id="32" name="Line 3"/>
            <p:cNvSpPr>
              <a:spLocks noChangeShapeType="1"/>
            </p:cNvSpPr>
            <p:nvPr/>
          </p:nvSpPr>
          <p:spPr bwMode="auto">
            <a:xfrm>
              <a:off x="1979613" y="3878263"/>
              <a:ext cx="4972050" cy="1587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4"/>
            <p:cNvSpPr>
              <a:spLocks noChangeShapeType="1"/>
            </p:cNvSpPr>
            <p:nvPr/>
          </p:nvSpPr>
          <p:spPr bwMode="auto">
            <a:xfrm>
              <a:off x="4506913" y="2152650"/>
              <a:ext cx="1587" cy="354965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5"/>
            <p:cNvSpPr>
              <a:spLocks/>
            </p:cNvSpPr>
            <p:nvPr/>
          </p:nvSpPr>
          <p:spPr bwMode="auto">
            <a:xfrm>
              <a:off x="2338388" y="2624138"/>
              <a:ext cx="3944937" cy="2638425"/>
            </a:xfrm>
            <a:custGeom>
              <a:avLst/>
              <a:gdLst/>
              <a:ahLst/>
              <a:cxnLst>
                <a:cxn ang="0">
                  <a:pos x="883" y="718"/>
                </a:cxn>
                <a:cxn ang="0">
                  <a:pos x="955" y="606"/>
                </a:cxn>
                <a:cxn ang="0">
                  <a:pos x="1171" y="482"/>
                </a:cxn>
                <a:cxn ang="0">
                  <a:pos x="1366" y="462"/>
                </a:cxn>
                <a:cxn ang="0">
                  <a:pos x="1695" y="554"/>
                </a:cxn>
                <a:cxn ang="0">
                  <a:pos x="1797" y="657"/>
                </a:cxn>
                <a:cxn ang="0">
                  <a:pos x="1838" y="780"/>
                </a:cxn>
                <a:cxn ang="0">
                  <a:pos x="1787" y="944"/>
                </a:cxn>
                <a:cxn ang="0">
                  <a:pos x="1643" y="1077"/>
                </a:cxn>
                <a:cxn ang="0">
                  <a:pos x="1438" y="1170"/>
                </a:cxn>
                <a:cxn ang="0">
                  <a:pos x="945" y="1170"/>
                </a:cxn>
                <a:cxn ang="0">
                  <a:pos x="739" y="1077"/>
                </a:cxn>
                <a:cxn ang="0">
                  <a:pos x="606" y="944"/>
                </a:cxn>
                <a:cxn ang="0">
                  <a:pos x="555" y="780"/>
                </a:cxn>
                <a:cxn ang="0">
                  <a:pos x="616" y="575"/>
                </a:cxn>
                <a:cxn ang="0">
                  <a:pos x="791" y="390"/>
                </a:cxn>
                <a:cxn ang="0">
                  <a:pos x="1047" y="267"/>
                </a:cxn>
                <a:cxn ang="0">
                  <a:pos x="1366" y="226"/>
                </a:cxn>
                <a:cxn ang="0">
                  <a:pos x="1664" y="267"/>
                </a:cxn>
                <a:cxn ang="0">
                  <a:pos x="1920" y="390"/>
                </a:cxn>
                <a:cxn ang="0">
                  <a:pos x="2095" y="575"/>
                </a:cxn>
                <a:cxn ang="0">
                  <a:pos x="2157" y="780"/>
                </a:cxn>
                <a:cxn ang="0">
                  <a:pos x="2085" y="1026"/>
                </a:cxn>
                <a:cxn ang="0">
                  <a:pos x="1992" y="1139"/>
                </a:cxn>
                <a:cxn ang="0">
                  <a:pos x="1736" y="1324"/>
                </a:cxn>
                <a:cxn ang="0">
                  <a:pos x="1386" y="1426"/>
                </a:cxn>
                <a:cxn ang="0">
                  <a:pos x="1006" y="1426"/>
                </a:cxn>
                <a:cxn ang="0">
                  <a:pos x="657" y="1324"/>
                </a:cxn>
                <a:cxn ang="0">
                  <a:pos x="390" y="1139"/>
                </a:cxn>
                <a:cxn ang="0">
                  <a:pos x="246" y="903"/>
                </a:cxn>
                <a:cxn ang="0">
                  <a:pos x="246" y="626"/>
                </a:cxn>
                <a:cxn ang="0">
                  <a:pos x="421" y="349"/>
                </a:cxn>
                <a:cxn ang="0">
                  <a:pos x="637" y="185"/>
                </a:cxn>
                <a:cxn ang="0">
                  <a:pos x="924" y="62"/>
                </a:cxn>
                <a:cxn ang="0">
                  <a:pos x="1366" y="0"/>
                </a:cxn>
                <a:cxn ang="0">
                  <a:pos x="1787" y="62"/>
                </a:cxn>
                <a:cxn ang="0">
                  <a:pos x="2157" y="236"/>
                </a:cxn>
                <a:cxn ang="0">
                  <a:pos x="2393" y="482"/>
                </a:cxn>
                <a:cxn ang="0">
                  <a:pos x="2485" y="780"/>
                </a:cxn>
                <a:cxn ang="0">
                  <a:pos x="2454" y="954"/>
                </a:cxn>
                <a:cxn ang="0">
                  <a:pos x="2259" y="1262"/>
                </a:cxn>
                <a:cxn ang="0">
                  <a:pos x="1910" y="1508"/>
                </a:cxn>
                <a:cxn ang="0">
                  <a:pos x="1448" y="1642"/>
                </a:cxn>
                <a:cxn ang="0">
                  <a:pos x="945" y="1642"/>
                </a:cxn>
                <a:cxn ang="0">
                  <a:pos x="503" y="1508"/>
                </a:cxn>
                <a:cxn ang="0">
                  <a:pos x="195" y="1272"/>
                </a:cxn>
                <a:cxn ang="0">
                  <a:pos x="51" y="1036"/>
                </a:cxn>
                <a:cxn ang="0">
                  <a:pos x="0" y="790"/>
                </a:cxn>
              </a:cxnLst>
              <a:rect l="0" t="0" r="r" b="b"/>
              <a:pathLst>
                <a:path w="2485" h="1662">
                  <a:moveTo>
                    <a:pt x="873" y="780"/>
                  </a:moveTo>
                  <a:lnTo>
                    <a:pt x="883" y="718"/>
                  </a:lnTo>
                  <a:lnTo>
                    <a:pt x="914" y="657"/>
                  </a:lnTo>
                  <a:lnTo>
                    <a:pt x="955" y="606"/>
                  </a:lnTo>
                  <a:lnTo>
                    <a:pt x="1017" y="554"/>
                  </a:lnTo>
                  <a:lnTo>
                    <a:pt x="1171" y="482"/>
                  </a:lnTo>
                  <a:lnTo>
                    <a:pt x="1263" y="462"/>
                  </a:lnTo>
                  <a:lnTo>
                    <a:pt x="1366" y="462"/>
                  </a:lnTo>
                  <a:lnTo>
                    <a:pt x="1540" y="482"/>
                  </a:lnTo>
                  <a:lnTo>
                    <a:pt x="1695" y="554"/>
                  </a:lnTo>
                  <a:lnTo>
                    <a:pt x="1756" y="606"/>
                  </a:lnTo>
                  <a:lnTo>
                    <a:pt x="1797" y="657"/>
                  </a:lnTo>
                  <a:lnTo>
                    <a:pt x="1828" y="718"/>
                  </a:lnTo>
                  <a:lnTo>
                    <a:pt x="1838" y="780"/>
                  </a:lnTo>
                  <a:lnTo>
                    <a:pt x="1828" y="862"/>
                  </a:lnTo>
                  <a:lnTo>
                    <a:pt x="1787" y="944"/>
                  </a:lnTo>
                  <a:lnTo>
                    <a:pt x="1725" y="1016"/>
                  </a:lnTo>
                  <a:lnTo>
                    <a:pt x="1643" y="1077"/>
                  </a:lnTo>
                  <a:lnTo>
                    <a:pt x="1551" y="1129"/>
                  </a:lnTo>
                  <a:lnTo>
                    <a:pt x="1438" y="1170"/>
                  </a:lnTo>
                  <a:lnTo>
                    <a:pt x="1202" y="1211"/>
                  </a:lnTo>
                  <a:lnTo>
                    <a:pt x="945" y="1170"/>
                  </a:lnTo>
                  <a:lnTo>
                    <a:pt x="832" y="1129"/>
                  </a:lnTo>
                  <a:lnTo>
                    <a:pt x="739" y="1077"/>
                  </a:lnTo>
                  <a:lnTo>
                    <a:pt x="657" y="1016"/>
                  </a:lnTo>
                  <a:lnTo>
                    <a:pt x="606" y="944"/>
                  </a:lnTo>
                  <a:lnTo>
                    <a:pt x="565" y="862"/>
                  </a:lnTo>
                  <a:lnTo>
                    <a:pt x="555" y="780"/>
                  </a:lnTo>
                  <a:lnTo>
                    <a:pt x="565" y="677"/>
                  </a:lnTo>
                  <a:lnTo>
                    <a:pt x="616" y="575"/>
                  </a:lnTo>
                  <a:lnTo>
                    <a:pt x="688" y="472"/>
                  </a:lnTo>
                  <a:lnTo>
                    <a:pt x="791" y="390"/>
                  </a:lnTo>
                  <a:lnTo>
                    <a:pt x="904" y="318"/>
                  </a:lnTo>
                  <a:lnTo>
                    <a:pt x="1047" y="267"/>
                  </a:lnTo>
                  <a:lnTo>
                    <a:pt x="1202" y="236"/>
                  </a:lnTo>
                  <a:lnTo>
                    <a:pt x="1366" y="226"/>
                  </a:lnTo>
                  <a:lnTo>
                    <a:pt x="1510" y="236"/>
                  </a:lnTo>
                  <a:lnTo>
                    <a:pt x="1664" y="267"/>
                  </a:lnTo>
                  <a:lnTo>
                    <a:pt x="1807" y="318"/>
                  </a:lnTo>
                  <a:lnTo>
                    <a:pt x="1920" y="390"/>
                  </a:lnTo>
                  <a:lnTo>
                    <a:pt x="2023" y="472"/>
                  </a:lnTo>
                  <a:lnTo>
                    <a:pt x="2095" y="575"/>
                  </a:lnTo>
                  <a:lnTo>
                    <a:pt x="2146" y="677"/>
                  </a:lnTo>
                  <a:lnTo>
                    <a:pt x="2157" y="780"/>
                  </a:lnTo>
                  <a:lnTo>
                    <a:pt x="2136" y="903"/>
                  </a:lnTo>
                  <a:lnTo>
                    <a:pt x="2085" y="1026"/>
                  </a:lnTo>
                  <a:lnTo>
                    <a:pt x="2044" y="1088"/>
                  </a:lnTo>
                  <a:lnTo>
                    <a:pt x="1992" y="1139"/>
                  </a:lnTo>
                  <a:lnTo>
                    <a:pt x="1879" y="1242"/>
                  </a:lnTo>
                  <a:lnTo>
                    <a:pt x="1736" y="1324"/>
                  </a:lnTo>
                  <a:lnTo>
                    <a:pt x="1571" y="1395"/>
                  </a:lnTo>
                  <a:lnTo>
                    <a:pt x="1386" y="1426"/>
                  </a:lnTo>
                  <a:lnTo>
                    <a:pt x="1202" y="1447"/>
                  </a:lnTo>
                  <a:lnTo>
                    <a:pt x="1006" y="1426"/>
                  </a:lnTo>
                  <a:lnTo>
                    <a:pt x="822" y="1395"/>
                  </a:lnTo>
                  <a:lnTo>
                    <a:pt x="657" y="1324"/>
                  </a:lnTo>
                  <a:lnTo>
                    <a:pt x="513" y="1242"/>
                  </a:lnTo>
                  <a:lnTo>
                    <a:pt x="390" y="1139"/>
                  </a:lnTo>
                  <a:lnTo>
                    <a:pt x="308" y="1026"/>
                  </a:lnTo>
                  <a:lnTo>
                    <a:pt x="246" y="903"/>
                  </a:lnTo>
                  <a:lnTo>
                    <a:pt x="226" y="780"/>
                  </a:lnTo>
                  <a:lnTo>
                    <a:pt x="246" y="626"/>
                  </a:lnTo>
                  <a:lnTo>
                    <a:pt x="318" y="482"/>
                  </a:lnTo>
                  <a:lnTo>
                    <a:pt x="421" y="349"/>
                  </a:lnTo>
                  <a:lnTo>
                    <a:pt x="555" y="236"/>
                  </a:lnTo>
                  <a:lnTo>
                    <a:pt x="637" y="185"/>
                  </a:lnTo>
                  <a:lnTo>
                    <a:pt x="729" y="144"/>
                  </a:lnTo>
                  <a:lnTo>
                    <a:pt x="924" y="62"/>
                  </a:lnTo>
                  <a:lnTo>
                    <a:pt x="1130" y="21"/>
                  </a:lnTo>
                  <a:lnTo>
                    <a:pt x="1366" y="0"/>
                  </a:lnTo>
                  <a:lnTo>
                    <a:pt x="1582" y="21"/>
                  </a:lnTo>
                  <a:lnTo>
                    <a:pt x="1787" y="62"/>
                  </a:lnTo>
                  <a:lnTo>
                    <a:pt x="1982" y="144"/>
                  </a:lnTo>
                  <a:lnTo>
                    <a:pt x="2157" y="236"/>
                  </a:lnTo>
                  <a:lnTo>
                    <a:pt x="2290" y="349"/>
                  </a:lnTo>
                  <a:lnTo>
                    <a:pt x="2393" y="482"/>
                  </a:lnTo>
                  <a:lnTo>
                    <a:pt x="2465" y="626"/>
                  </a:lnTo>
                  <a:lnTo>
                    <a:pt x="2485" y="780"/>
                  </a:lnTo>
                  <a:lnTo>
                    <a:pt x="2475" y="862"/>
                  </a:lnTo>
                  <a:lnTo>
                    <a:pt x="2454" y="954"/>
                  </a:lnTo>
                  <a:lnTo>
                    <a:pt x="2383" y="1118"/>
                  </a:lnTo>
                  <a:lnTo>
                    <a:pt x="2259" y="1262"/>
                  </a:lnTo>
                  <a:lnTo>
                    <a:pt x="2105" y="1395"/>
                  </a:lnTo>
                  <a:lnTo>
                    <a:pt x="1910" y="1508"/>
                  </a:lnTo>
                  <a:lnTo>
                    <a:pt x="1695" y="1590"/>
                  </a:lnTo>
                  <a:lnTo>
                    <a:pt x="1448" y="1642"/>
                  </a:lnTo>
                  <a:lnTo>
                    <a:pt x="1202" y="1662"/>
                  </a:lnTo>
                  <a:lnTo>
                    <a:pt x="945" y="1642"/>
                  </a:lnTo>
                  <a:lnTo>
                    <a:pt x="709" y="1590"/>
                  </a:lnTo>
                  <a:lnTo>
                    <a:pt x="503" y="1508"/>
                  </a:lnTo>
                  <a:lnTo>
                    <a:pt x="329" y="1406"/>
                  </a:lnTo>
                  <a:lnTo>
                    <a:pt x="195" y="1272"/>
                  </a:lnTo>
                  <a:lnTo>
                    <a:pt x="82" y="1118"/>
                  </a:lnTo>
                  <a:lnTo>
                    <a:pt x="51" y="1036"/>
                  </a:lnTo>
                  <a:lnTo>
                    <a:pt x="20" y="954"/>
                  </a:lnTo>
                  <a:lnTo>
                    <a:pt x="0" y="790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Box 6"/>
            <p:cNvSpPr txBox="1">
              <a:spLocks noChangeArrowheads="1"/>
            </p:cNvSpPr>
            <p:nvPr/>
          </p:nvSpPr>
          <p:spPr bwMode="auto">
            <a:xfrm>
              <a:off x="3413125" y="1416050"/>
              <a:ext cx="2311842" cy="6707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Informal statement of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requirements</a:t>
              </a:r>
            </a:p>
          </p:txBody>
        </p:sp>
        <p:sp>
          <p:nvSpPr>
            <p:cNvPr id="36" name="Text Box 7"/>
            <p:cNvSpPr txBox="1">
              <a:spLocks noChangeArrowheads="1"/>
            </p:cNvSpPr>
            <p:nvPr/>
          </p:nvSpPr>
          <p:spPr bwMode="auto">
            <a:xfrm>
              <a:off x="3521075" y="5867400"/>
              <a:ext cx="2050508" cy="6707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Draft requirements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document</a:t>
              </a:r>
            </a:p>
          </p:txBody>
        </p:sp>
        <p:sp>
          <p:nvSpPr>
            <p:cNvPr id="37" name="Text Box 8"/>
            <p:cNvSpPr txBox="1">
              <a:spLocks noChangeArrowheads="1"/>
            </p:cNvSpPr>
            <p:nvPr/>
          </p:nvSpPr>
          <p:spPr bwMode="auto">
            <a:xfrm>
              <a:off x="228600" y="3429000"/>
              <a:ext cx="1814071" cy="95828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Requirements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document and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validation report</a:t>
              </a:r>
            </a:p>
          </p:txBody>
        </p:sp>
        <p:sp>
          <p:nvSpPr>
            <p:cNvPr id="38" name="Text Box 9"/>
            <p:cNvSpPr txBox="1">
              <a:spLocks noChangeArrowheads="1"/>
            </p:cNvSpPr>
            <p:nvPr/>
          </p:nvSpPr>
          <p:spPr bwMode="auto">
            <a:xfrm>
              <a:off x="7372350" y="3549650"/>
              <a:ext cx="1504069" cy="6707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Agreed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requirements</a:t>
              </a:r>
            </a:p>
          </p:txBody>
        </p:sp>
        <p:sp>
          <p:nvSpPr>
            <p:cNvPr id="39" name="Text Box 10"/>
            <p:cNvSpPr txBox="1">
              <a:spLocks noChangeArrowheads="1"/>
            </p:cNvSpPr>
            <p:nvPr/>
          </p:nvSpPr>
          <p:spPr bwMode="auto">
            <a:xfrm>
              <a:off x="3810000" y="3581400"/>
              <a:ext cx="746125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</a:rPr>
                <a:t>START</a:t>
              </a:r>
            </a:p>
          </p:txBody>
        </p:sp>
        <p:sp>
          <p:nvSpPr>
            <p:cNvPr id="40" name="Text Box 11"/>
            <p:cNvSpPr txBox="1">
              <a:spLocks noChangeArrowheads="1"/>
            </p:cNvSpPr>
            <p:nvPr/>
          </p:nvSpPr>
          <p:spPr bwMode="auto">
            <a:xfrm>
              <a:off x="1911350" y="2590800"/>
              <a:ext cx="1456530" cy="6707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Requirement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elicitation</a:t>
              </a:r>
            </a:p>
          </p:txBody>
        </p:sp>
        <p:sp>
          <p:nvSpPr>
            <p:cNvPr id="41" name="Text Box 12"/>
            <p:cNvSpPr txBox="1">
              <a:spLocks noChangeArrowheads="1"/>
            </p:cNvSpPr>
            <p:nvPr/>
          </p:nvSpPr>
          <p:spPr bwMode="auto">
            <a:xfrm>
              <a:off x="5638801" y="2590800"/>
              <a:ext cx="2267688" cy="6707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Requirement analysis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and negotiation</a:t>
              </a:r>
            </a:p>
          </p:txBody>
        </p:sp>
        <p:sp>
          <p:nvSpPr>
            <p:cNvPr id="42" name="Text Box 13"/>
            <p:cNvSpPr txBox="1">
              <a:spLocks noChangeArrowheads="1"/>
            </p:cNvSpPr>
            <p:nvPr/>
          </p:nvSpPr>
          <p:spPr bwMode="auto">
            <a:xfrm>
              <a:off x="1905000" y="4921250"/>
              <a:ext cx="1365250" cy="6413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Requirement</a:t>
              </a:r>
            </a:p>
            <a:p>
              <a:r>
                <a:rPr lang="en-US">
                  <a:solidFill>
                    <a:schemeClr val="bg1"/>
                  </a:solidFill>
                </a:rPr>
                <a:t>validation</a:t>
              </a:r>
            </a:p>
          </p:txBody>
        </p:sp>
        <p:sp>
          <p:nvSpPr>
            <p:cNvPr id="43" name="Text Box 14"/>
            <p:cNvSpPr txBox="1">
              <a:spLocks noChangeArrowheads="1"/>
            </p:cNvSpPr>
            <p:nvPr/>
          </p:nvSpPr>
          <p:spPr bwMode="auto">
            <a:xfrm>
              <a:off x="5562600" y="4724400"/>
              <a:ext cx="1681146" cy="6707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Requirement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documentation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990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Role-action Models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991600" cy="5715000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These are models, which show the roles of different people involved in the process and the actions which they take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They are useful for process understanding and automation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Example: Stakeholders model for organization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Role-Action Diagram for Software Prototyping</a:t>
            </a:r>
            <a:endParaRPr lang="en-US" sz="3600" dirty="0"/>
          </a:p>
        </p:txBody>
      </p:sp>
      <p:grpSp>
        <p:nvGrpSpPr>
          <p:cNvPr id="4" name="Content Placeholder 3"/>
          <p:cNvGrpSpPr>
            <a:grpSpLocks noGrp="1"/>
          </p:cNvGrpSpPr>
          <p:nvPr/>
        </p:nvGrpSpPr>
        <p:grpSpPr>
          <a:xfrm>
            <a:off x="0" y="1066800"/>
            <a:ext cx="8934541" cy="5149866"/>
            <a:chOff x="152400" y="1752600"/>
            <a:chExt cx="8883632" cy="396240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228600" y="2209800"/>
              <a:ext cx="13716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057400" y="2209800"/>
              <a:ext cx="13716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886200" y="2209800"/>
              <a:ext cx="13716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5715000" y="2209800"/>
              <a:ext cx="13716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7543800" y="2209800"/>
              <a:ext cx="13716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>
              <a:off x="1600200" y="2590800"/>
              <a:ext cx="457200" cy="0"/>
            </a:xfrm>
            <a:prstGeom prst="line">
              <a:avLst/>
            </a:prstGeom>
            <a:noFill/>
            <a:ln w="12700">
              <a:solidFill>
                <a:schemeClr val="tx1">
                  <a:alpha val="65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>
              <a:off x="3429000" y="2590800"/>
              <a:ext cx="457200" cy="0"/>
            </a:xfrm>
            <a:prstGeom prst="line">
              <a:avLst/>
            </a:prstGeom>
            <a:noFill/>
            <a:ln w="12700">
              <a:solidFill>
                <a:schemeClr val="tx1">
                  <a:alpha val="65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5257800" y="2590800"/>
              <a:ext cx="457200" cy="0"/>
            </a:xfrm>
            <a:prstGeom prst="line">
              <a:avLst/>
            </a:prstGeom>
            <a:noFill/>
            <a:ln w="12700">
              <a:solidFill>
                <a:schemeClr val="tx1">
                  <a:alpha val="65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6"/>
            <p:cNvSpPr>
              <a:spLocks noChangeShapeType="1"/>
            </p:cNvSpPr>
            <p:nvPr/>
          </p:nvSpPr>
          <p:spPr bwMode="auto">
            <a:xfrm>
              <a:off x="7086600" y="2590800"/>
              <a:ext cx="457200" cy="0"/>
            </a:xfrm>
            <a:prstGeom prst="line">
              <a:avLst/>
            </a:prstGeom>
            <a:noFill/>
            <a:ln w="12700">
              <a:solidFill>
                <a:schemeClr val="tx1">
                  <a:alpha val="65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7"/>
            <p:cNvSpPr>
              <a:spLocks noChangeShapeType="1"/>
            </p:cNvSpPr>
            <p:nvPr/>
          </p:nvSpPr>
          <p:spPr bwMode="auto">
            <a:xfrm flipV="1">
              <a:off x="914400" y="3048000"/>
              <a:ext cx="0" cy="1524000"/>
            </a:xfrm>
            <a:prstGeom prst="line">
              <a:avLst/>
            </a:prstGeom>
            <a:noFill/>
            <a:ln w="12700">
              <a:solidFill>
                <a:schemeClr val="tx1">
                  <a:alpha val="65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 flipV="1">
              <a:off x="2743200" y="3048000"/>
              <a:ext cx="0" cy="1524000"/>
            </a:xfrm>
            <a:prstGeom prst="line">
              <a:avLst/>
            </a:prstGeom>
            <a:noFill/>
            <a:ln w="12700">
              <a:solidFill>
                <a:schemeClr val="tx1">
                  <a:alpha val="65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 flipV="1">
              <a:off x="4572000" y="3048000"/>
              <a:ext cx="0" cy="1524000"/>
            </a:xfrm>
            <a:prstGeom prst="line">
              <a:avLst/>
            </a:prstGeom>
            <a:noFill/>
            <a:ln w="12700">
              <a:solidFill>
                <a:schemeClr val="tx1">
                  <a:alpha val="65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 flipV="1">
              <a:off x="6400800" y="3048000"/>
              <a:ext cx="0" cy="1524000"/>
            </a:xfrm>
            <a:prstGeom prst="line">
              <a:avLst/>
            </a:prstGeom>
            <a:noFill/>
            <a:ln w="12700">
              <a:solidFill>
                <a:schemeClr val="tx1">
                  <a:alpha val="65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21"/>
            <p:cNvSpPr>
              <a:spLocks noChangeShapeType="1"/>
            </p:cNvSpPr>
            <p:nvPr/>
          </p:nvSpPr>
          <p:spPr bwMode="auto">
            <a:xfrm flipV="1">
              <a:off x="8229600" y="3048000"/>
              <a:ext cx="0" cy="1524000"/>
            </a:xfrm>
            <a:prstGeom prst="line">
              <a:avLst/>
            </a:prstGeom>
            <a:noFill/>
            <a:ln w="12700">
              <a:solidFill>
                <a:schemeClr val="tx1">
                  <a:alpha val="65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 flipV="1">
              <a:off x="8229600" y="17526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3"/>
            <p:cNvSpPr>
              <a:spLocks noChangeShapeType="1"/>
            </p:cNvSpPr>
            <p:nvPr/>
          </p:nvSpPr>
          <p:spPr bwMode="auto">
            <a:xfrm flipV="1">
              <a:off x="6400800" y="17526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 flipH="1">
              <a:off x="6400800" y="1752600"/>
              <a:ext cx="1828800" cy="0"/>
            </a:xfrm>
            <a:prstGeom prst="line">
              <a:avLst/>
            </a:prstGeom>
            <a:noFill/>
            <a:ln w="12700">
              <a:solidFill>
                <a:schemeClr val="tx1">
                  <a:alpha val="6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Box 25"/>
            <p:cNvSpPr txBox="1">
              <a:spLocks noChangeArrowheads="1"/>
            </p:cNvSpPr>
            <p:nvPr/>
          </p:nvSpPr>
          <p:spPr bwMode="auto">
            <a:xfrm>
              <a:off x="304800" y="2286000"/>
              <a:ext cx="1275670" cy="49729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Understand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problem</a:t>
              </a:r>
            </a:p>
          </p:txBody>
        </p:sp>
        <p:sp>
          <p:nvSpPr>
            <p:cNvPr id="23" name="Text Box 26"/>
            <p:cNvSpPr txBox="1">
              <a:spLocks noChangeArrowheads="1"/>
            </p:cNvSpPr>
            <p:nvPr/>
          </p:nvSpPr>
          <p:spPr bwMode="auto">
            <a:xfrm>
              <a:off x="2057400" y="2133600"/>
              <a:ext cx="1444238" cy="7104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Establish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outline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requirements</a:t>
              </a:r>
            </a:p>
          </p:txBody>
        </p:sp>
        <p:sp>
          <p:nvSpPr>
            <p:cNvPr id="24" name="Text Box 27"/>
            <p:cNvSpPr txBox="1">
              <a:spLocks noChangeArrowheads="1"/>
            </p:cNvSpPr>
            <p:nvPr/>
          </p:nvSpPr>
          <p:spPr bwMode="auto">
            <a:xfrm>
              <a:off x="3962400" y="2133600"/>
              <a:ext cx="1280642" cy="7104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Select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prototyping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system</a:t>
              </a:r>
            </a:p>
          </p:txBody>
        </p:sp>
        <p:sp>
          <p:nvSpPr>
            <p:cNvPr id="25" name="Text Box 28"/>
            <p:cNvSpPr txBox="1">
              <a:spLocks noChangeArrowheads="1"/>
            </p:cNvSpPr>
            <p:nvPr/>
          </p:nvSpPr>
          <p:spPr bwMode="auto">
            <a:xfrm>
              <a:off x="5867400" y="2286000"/>
              <a:ext cx="1113285" cy="49729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Develop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prototype</a:t>
              </a:r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7702550" y="2286000"/>
              <a:ext cx="1113285" cy="49729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Evaluate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prototype</a:t>
              </a:r>
            </a:p>
          </p:txBody>
        </p:sp>
        <p:sp>
          <p:nvSpPr>
            <p:cNvPr id="27" name="Text Box 30"/>
            <p:cNvSpPr txBox="1">
              <a:spLocks noChangeArrowheads="1"/>
            </p:cNvSpPr>
            <p:nvPr/>
          </p:nvSpPr>
          <p:spPr bwMode="auto">
            <a:xfrm>
              <a:off x="184150" y="4648200"/>
              <a:ext cx="1568432" cy="7104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Req. Engineer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Domain expert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End-user</a:t>
              </a:r>
            </a:p>
          </p:txBody>
        </p:sp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2012950" y="4845050"/>
              <a:ext cx="1473819" cy="49729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Req. Engineer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End-user</a:t>
              </a:r>
            </a:p>
          </p:txBody>
        </p:sp>
        <p:sp>
          <p:nvSpPr>
            <p:cNvPr id="29" name="Text Box 32"/>
            <p:cNvSpPr txBox="1">
              <a:spLocks noChangeArrowheads="1"/>
            </p:cNvSpPr>
            <p:nvPr/>
          </p:nvSpPr>
          <p:spPr bwMode="auto">
            <a:xfrm>
              <a:off x="3883025" y="4845050"/>
              <a:ext cx="1367795" cy="49729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SW Engineer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Project Mgr</a:t>
              </a:r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5673725" y="4845050"/>
              <a:ext cx="1473819" cy="49729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Req. Engineer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SW Engineer</a:t>
              </a:r>
            </a:p>
          </p:txBody>
        </p:sp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7467600" y="4572000"/>
              <a:ext cx="1568432" cy="92355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End-user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Domain expert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Req. Engineer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SW Engineer</a:t>
              </a:r>
            </a:p>
          </p:txBody>
        </p:sp>
        <p:sp>
          <p:nvSpPr>
            <p:cNvPr id="32" name="AutoShape 35"/>
            <p:cNvSpPr>
              <a:spLocks noChangeArrowheads="1"/>
            </p:cNvSpPr>
            <p:nvPr/>
          </p:nvSpPr>
          <p:spPr bwMode="auto">
            <a:xfrm>
              <a:off x="1981200" y="4572000"/>
              <a:ext cx="1524000" cy="114300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AutoShape 36"/>
            <p:cNvSpPr>
              <a:spLocks noChangeArrowheads="1"/>
            </p:cNvSpPr>
            <p:nvPr/>
          </p:nvSpPr>
          <p:spPr bwMode="auto">
            <a:xfrm>
              <a:off x="152400" y="4572000"/>
              <a:ext cx="1524000" cy="114300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AutoShape 37"/>
            <p:cNvSpPr>
              <a:spLocks noChangeArrowheads="1"/>
            </p:cNvSpPr>
            <p:nvPr/>
          </p:nvSpPr>
          <p:spPr bwMode="auto">
            <a:xfrm>
              <a:off x="3810000" y="4572000"/>
              <a:ext cx="1524000" cy="114300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AutoShape 38"/>
            <p:cNvSpPr>
              <a:spLocks noChangeArrowheads="1"/>
            </p:cNvSpPr>
            <p:nvPr/>
          </p:nvSpPr>
          <p:spPr bwMode="auto">
            <a:xfrm>
              <a:off x="5638800" y="4572000"/>
              <a:ext cx="1524000" cy="114300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AutoShape 40"/>
            <p:cNvSpPr>
              <a:spLocks noChangeArrowheads="1"/>
            </p:cNvSpPr>
            <p:nvPr/>
          </p:nvSpPr>
          <p:spPr bwMode="auto">
            <a:xfrm>
              <a:off x="7467600" y="4572000"/>
              <a:ext cx="1524000" cy="114300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0" y="914400"/>
            <a:ext cx="1326004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ACTIONS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152400" y="6248400"/>
            <a:ext cx="105509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ROLES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990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V Model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066800"/>
            <a:ext cx="7391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9144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RE Process Variability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/>
          <a:lstStyle/>
          <a:p>
            <a:r>
              <a:rPr lang="en-US" dirty="0" smtClean="0"/>
              <a:t>RE processes  vary radically from one organization to another, and even within an organization in different projects</a:t>
            </a:r>
          </a:p>
          <a:p>
            <a:pPr>
              <a:buFontTx/>
              <a:buNone/>
            </a:pPr>
            <a:endParaRPr lang="en-US" sz="1600" dirty="0" smtClean="0"/>
          </a:p>
          <a:p>
            <a:r>
              <a:rPr lang="en-US" dirty="0" smtClean="0"/>
              <a:t>Unstructured processes rely heavily on the experience of the people, while systematic processes are based on application of some analysis methodology, but they still require human judgment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Variability Factors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There are four factors which count towards the variability of the Requirements Engineering Process</a:t>
            </a:r>
          </a:p>
          <a:p>
            <a:pPr lvl="1"/>
            <a:r>
              <a:rPr lang="en-US" dirty="0" smtClean="0"/>
              <a:t>Technical maturity</a:t>
            </a:r>
          </a:p>
          <a:p>
            <a:pPr lvl="1"/>
            <a:r>
              <a:rPr lang="en-US" dirty="0" smtClean="0"/>
              <a:t>Disciplinary involvement</a:t>
            </a:r>
          </a:p>
          <a:p>
            <a:pPr lvl="1"/>
            <a:r>
              <a:rPr lang="en-US" dirty="0" smtClean="0"/>
              <a:t>Organizational culture</a:t>
            </a:r>
          </a:p>
          <a:p>
            <a:pPr lvl="1"/>
            <a:r>
              <a:rPr lang="en-US" dirty="0" smtClean="0"/>
              <a:t>Application domain</a:t>
            </a:r>
          </a:p>
          <a:p>
            <a:pPr lvl="1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990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Variability Factors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85000" lnSpcReduction="2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3300" dirty="0" smtClean="0">
                <a:latin typeface="Arial" pitchFamily="34" charset="0"/>
                <a:cs typeface="Arial" pitchFamily="34" charset="0"/>
              </a:rPr>
              <a:t>Technical maturity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The technologies and methods used for requirements engineering vary from one organization to other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300" dirty="0" smtClean="0">
                <a:latin typeface="Arial" pitchFamily="34" charset="0"/>
                <a:cs typeface="Arial" pitchFamily="34" charset="0"/>
              </a:rPr>
              <a:t>Disciplinary involvement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The types of engineering and managerial disciplines involved in requirements vary from one organization to another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300" dirty="0" smtClean="0">
                <a:latin typeface="Arial" pitchFamily="34" charset="0"/>
                <a:cs typeface="Arial" pitchFamily="34" charset="0"/>
              </a:rPr>
              <a:t>Organizational culture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The culture of an organization has important effect on all business and technical processes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300" dirty="0" smtClean="0">
                <a:latin typeface="Arial" pitchFamily="34" charset="0"/>
                <a:cs typeface="Arial" pitchFamily="34" charset="0"/>
              </a:rPr>
              <a:t>Application domain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Different types of application systems need different types of requirements engineering process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RE Process Support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One way to minimize errors in the requirements engineering is to use process models and to use CASE tools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The most mature CASE tools support well-understood activities such as programming and testing and the use of structured methods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Support for requirements engineering is still limited because of the informality and the variability of the process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990600"/>
          </a:xfrm>
        </p:spPr>
        <p:txBody>
          <a:bodyPr>
            <a:normAutofit/>
          </a:bodyPr>
          <a:lstStyle/>
          <a:p>
            <a:r>
              <a:rPr lang="en-US" dirty="0" smtClean="0"/>
              <a:t>RE Process Qualities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900"/>
              </a:spcBef>
            </a:pPr>
            <a:r>
              <a:rPr lang="en-US" sz="2800" dirty="0" smtClean="0">
                <a:latin typeface="Arial" charset="0"/>
              </a:rPr>
              <a:t>Process is </a:t>
            </a:r>
            <a:r>
              <a:rPr lang="en-US" sz="2800" dirty="0" smtClean="0">
                <a:solidFill>
                  <a:srgbClr val="0000FF"/>
                </a:solidFill>
                <a:latin typeface="Arial" charset="0"/>
              </a:rPr>
              <a:t>reliable</a:t>
            </a:r>
            <a:r>
              <a:rPr lang="en-US" sz="2800" dirty="0" smtClean="0">
                <a:latin typeface="Arial" charset="0"/>
              </a:rPr>
              <a:t> if it consistently leads to high-quality products</a:t>
            </a:r>
          </a:p>
          <a:p>
            <a:pPr>
              <a:lnSpc>
                <a:spcPct val="90000"/>
              </a:lnSpc>
              <a:spcBef>
                <a:spcPts val="900"/>
              </a:spcBef>
            </a:pPr>
            <a:r>
              <a:rPr lang="en-US" sz="2800" dirty="0" smtClean="0">
                <a:latin typeface="Arial" charset="0"/>
              </a:rPr>
              <a:t>Process is </a:t>
            </a:r>
            <a:r>
              <a:rPr lang="en-US" sz="2800" dirty="0" smtClean="0">
                <a:solidFill>
                  <a:srgbClr val="0000FF"/>
                </a:solidFill>
                <a:latin typeface="Arial" charset="0"/>
              </a:rPr>
              <a:t>robust</a:t>
            </a:r>
            <a:r>
              <a:rPr lang="en-US" sz="2800" dirty="0" smtClean="0">
                <a:latin typeface="Arial" charset="0"/>
              </a:rPr>
              <a:t> if it can accommodate unanticipated changes in tools and environments</a:t>
            </a:r>
          </a:p>
          <a:p>
            <a:pPr>
              <a:lnSpc>
                <a:spcPct val="90000"/>
              </a:lnSpc>
              <a:spcBef>
                <a:spcPts val="900"/>
              </a:spcBef>
            </a:pPr>
            <a:r>
              <a:rPr lang="en-US" sz="2800" dirty="0" smtClean="0">
                <a:latin typeface="Arial" charset="0"/>
              </a:rPr>
              <a:t>Process </a:t>
            </a:r>
            <a:r>
              <a:rPr lang="en-US" sz="2800" dirty="0" smtClean="0">
                <a:solidFill>
                  <a:srgbClr val="0000FF"/>
                </a:solidFill>
                <a:latin typeface="Arial" charset="0"/>
              </a:rPr>
              <a:t>performance</a:t>
            </a:r>
            <a:r>
              <a:rPr lang="en-US" sz="2800" dirty="0" smtClean="0">
                <a:latin typeface="Arial" charset="0"/>
              </a:rPr>
              <a:t> is productivity</a:t>
            </a:r>
          </a:p>
          <a:p>
            <a:pPr>
              <a:lnSpc>
                <a:spcPct val="90000"/>
              </a:lnSpc>
              <a:spcBef>
                <a:spcPts val="900"/>
              </a:spcBef>
            </a:pPr>
            <a:r>
              <a:rPr lang="en-US" sz="2800" dirty="0" smtClean="0">
                <a:latin typeface="Arial" charset="0"/>
              </a:rPr>
              <a:t>Process is </a:t>
            </a:r>
            <a:r>
              <a:rPr lang="en-US" sz="2800" dirty="0" smtClean="0">
                <a:solidFill>
                  <a:srgbClr val="0000FF"/>
                </a:solidFill>
                <a:latin typeface="Arial" charset="0"/>
              </a:rPr>
              <a:t>evolvable </a:t>
            </a:r>
            <a:r>
              <a:rPr lang="en-US" sz="2800" dirty="0" smtClean="0">
                <a:latin typeface="Arial" charset="0"/>
              </a:rPr>
              <a:t>if it can accommodate new management and organizational techniques</a:t>
            </a:r>
          </a:p>
          <a:p>
            <a:pPr>
              <a:lnSpc>
                <a:spcPct val="90000"/>
              </a:lnSpc>
              <a:spcBef>
                <a:spcPts val="900"/>
              </a:spcBef>
            </a:pPr>
            <a:r>
              <a:rPr lang="en-US" sz="2800" dirty="0" smtClean="0">
                <a:latin typeface="Arial" charset="0"/>
              </a:rPr>
              <a:t>Process is </a:t>
            </a:r>
            <a:r>
              <a:rPr lang="en-US" sz="2800" dirty="0" smtClean="0">
                <a:solidFill>
                  <a:srgbClr val="0000FF"/>
                </a:solidFill>
                <a:latin typeface="Arial" charset="0"/>
              </a:rPr>
              <a:t>reusable </a:t>
            </a:r>
            <a:r>
              <a:rPr lang="en-US" sz="2800" dirty="0" smtClean="0">
                <a:latin typeface="Arial" charset="0"/>
              </a:rPr>
              <a:t>if it can be applied across projects and organizations</a:t>
            </a:r>
            <a:endParaRPr lang="en-US" sz="28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CASE Tools for RE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Modeling and validation  tools support the development of system models which can be used to specify the system and the checking of these models for completeness and consistency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Management tools help manage a database of requirements and support the management of changes to these requirements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Tools provide amount of information about requirements relationships that are maintained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CASE Tools for RE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US" dirty="0" smtClean="0"/>
              <a:t>Requirement browsers</a:t>
            </a:r>
          </a:p>
          <a:p>
            <a:r>
              <a:rPr lang="en-US" dirty="0" smtClean="0"/>
              <a:t>Traceability support system</a:t>
            </a:r>
          </a:p>
          <a:p>
            <a:r>
              <a:rPr lang="en-US" dirty="0" smtClean="0"/>
              <a:t>Requirement query systems</a:t>
            </a:r>
          </a:p>
          <a:p>
            <a:r>
              <a:rPr lang="en-US" dirty="0" smtClean="0"/>
              <a:t>Report generators</a:t>
            </a:r>
          </a:p>
          <a:p>
            <a:r>
              <a:rPr lang="en-US" dirty="0" smtClean="0"/>
              <a:t>Change control systems</a:t>
            </a:r>
          </a:p>
          <a:p>
            <a:r>
              <a:rPr lang="en-US" dirty="0" smtClean="0"/>
              <a:t>Requirement converters etc.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990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Process Improvement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Process improvement is concerned with modifying processes in order to meet some improvement objectives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Improvement objectives includes: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Quality improvement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Schedule reduction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Resource reduction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Planning Process Improvement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>
              <a:buFontTx/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Some important questions arise: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What are the problems with current processes?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What are the improvement goals?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How can process improvement be introduced to achieve these goals?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How should process improvements be controlled and managed?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9144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RE Process Problems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Lack of stakeholder involvement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Business needs not considered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Lack of requirements management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Lack of defined responsibilities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Stakeholder communication problems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Gold-plating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Over-long schedules and poor quality requirements documents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10668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Process Maturity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dirty="0" smtClean="0"/>
              <a:t>Process maturity can be thought of as the extent that an organization has defined its processes, actively controls these processes and provides systematic human and computer-based support for them</a:t>
            </a:r>
          </a:p>
          <a:p>
            <a:r>
              <a:rPr lang="en-US" dirty="0" smtClean="0"/>
              <a:t>The SEI’s Capability Maturity Model is a framework for assessing software process maturity in development organizations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990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RE Process Maturity Model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Content Placeholder 3"/>
          <p:cNvGrpSpPr>
            <a:grpSpLocks noGrp="1"/>
          </p:cNvGrpSpPr>
          <p:nvPr/>
        </p:nvGrpSpPr>
        <p:grpSpPr>
          <a:xfrm>
            <a:off x="457200" y="1219200"/>
            <a:ext cx="8229600" cy="5192708"/>
            <a:chOff x="692150" y="1905000"/>
            <a:chExt cx="6305550" cy="4228348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825500" y="4800600"/>
              <a:ext cx="1752600" cy="60960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7"/>
            <p:cNvSpPr>
              <a:spLocks noChangeShapeType="1"/>
            </p:cNvSpPr>
            <p:nvPr/>
          </p:nvSpPr>
          <p:spPr bwMode="auto">
            <a:xfrm flipV="1">
              <a:off x="1663700" y="3657600"/>
              <a:ext cx="0" cy="1143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1663700" y="3657600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12"/>
            <p:cNvSpPr>
              <a:spLocks noChangeArrowheads="1"/>
            </p:cNvSpPr>
            <p:nvPr/>
          </p:nvSpPr>
          <p:spPr bwMode="auto">
            <a:xfrm>
              <a:off x="3035300" y="3352800"/>
              <a:ext cx="1752600" cy="60960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16"/>
            <p:cNvSpPr>
              <a:spLocks noChangeShapeType="1"/>
            </p:cNvSpPr>
            <p:nvPr/>
          </p:nvSpPr>
          <p:spPr bwMode="auto">
            <a:xfrm flipV="1">
              <a:off x="3873500" y="2209800"/>
              <a:ext cx="0" cy="1143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7"/>
            <p:cNvSpPr>
              <a:spLocks noChangeShapeType="1"/>
            </p:cNvSpPr>
            <p:nvPr/>
          </p:nvSpPr>
          <p:spPr bwMode="auto">
            <a:xfrm>
              <a:off x="3873500" y="2209800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AutoShape 18"/>
            <p:cNvSpPr>
              <a:spLocks noChangeArrowheads="1"/>
            </p:cNvSpPr>
            <p:nvPr/>
          </p:nvSpPr>
          <p:spPr bwMode="auto">
            <a:xfrm>
              <a:off x="5245100" y="1905000"/>
              <a:ext cx="1752600" cy="60960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19"/>
            <p:cNvSpPr txBox="1">
              <a:spLocks noChangeArrowheads="1"/>
            </p:cNvSpPr>
            <p:nvPr/>
          </p:nvSpPr>
          <p:spPr bwMode="auto">
            <a:xfrm>
              <a:off x="692150" y="5607050"/>
              <a:ext cx="2565275" cy="526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457200" indent="-457200" algn="l"/>
              <a:r>
                <a:rPr lang="en-US" dirty="0">
                  <a:solidFill>
                    <a:srgbClr val="0000FF"/>
                  </a:solidFill>
                </a:rPr>
                <a:t>Ad-hoc requirements engineering</a:t>
              </a:r>
            </a:p>
            <a:p>
              <a:pPr marL="457200" indent="-457200" algn="l"/>
              <a:r>
                <a:rPr lang="en-US" dirty="0">
                  <a:solidFill>
                    <a:srgbClr val="0000FF"/>
                  </a:solidFill>
                </a:rPr>
                <a:t>Requirements errors are common</a:t>
              </a:r>
            </a:p>
          </p:txBody>
        </p:sp>
        <p:sp>
          <p:nvSpPr>
            <p:cNvPr id="13" name="Text Box 20"/>
            <p:cNvSpPr txBox="1">
              <a:spLocks noChangeArrowheads="1"/>
            </p:cNvSpPr>
            <p:nvPr/>
          </p:nvSpPr>
          <p:spPr bwMode="auto">
            <a:xfrm>
              <a:off x="2959100" y="4114800"/>
              <a:ext cx="2983560" cy="526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457200" indent="-457200" algn="l"/>
              <a:r>
                <a:rPr lang="en-US" dirty="0">
                  <a:solidFill>
                    <a:srgbClr val="0000FF"/>
                  </a:solidFill>
                </a:rPr>
                <a:t>Standardized requirements engineering</a:t>
              </a:r>
            </a:p>
            <a:p>
              <a:pPr marL="457200" indent="-457200" algn="l"/>
              <a:r>
                <a:rPr lang="en-US" dirty="0">
                  <a:solidFill>
                    <a:srgbClr val="0000FF"/>
                  </a:solidFill>
                </a:rPr>
                <a:t>Fewer requirements errors</a:t>
              </a:r>
            </a:p>
          </p:txBody>
        </p:sp>
        <p:sp>
          <p:nvSpPr>
            <p:cNvPr id="14" name="Text Box 23"/>
            <p:cNvSpPr txBox="1">
              <a:spLocks noChangeArrowheads="1"/>
            </p:cNvSpPr>
            <p:nvPr/>
          </p:nvSpPr>
          <p:spPr bwMode="auto">
            <a:xfrm>
              <a:off x="1219200" y="4894263"/>
              <a:ext cx="678227" cy="3759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0000FF"/>
                  </a:solidFill>
                </a:rPr>
                <a:t>Initial</a:t>
              </a:r>
            </a:p>
          </p:txBody>
        </p:sp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3111500" y="3429000"/>
              <a:ext cx="1220464" cy="3759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0000FF"/>
                  </a:solidFill>
                </a:rPr>
                <a:t>Repeatable</a:t>
              </a:r>
            </a:p>
          </p:txBody>
        </p:sp>
        <p:sp>
          <p:nvSpPr>
            <p:cNvPr id="16" name="Text Box 25"/>
            <p:cNvSpPr txBox="1">
              <a:spLocks noChangeArrowheads="1"/>
            </p:cNvSpPr>
            <p:nvPr/>
          </p:nvSpPr>
          <p:spPr bwMode="auto">
            <a:xfrm>
              <a:off x="5527675" y="1981200"/>
              <a:ext cx="894788" cy="3759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0000FF"/>
                  </a:solidFill>
                </a:rPr>
                <a:t>Defined</a:t>
              </a:r>
            </a:p>
          </p:txBody>
        </p:sp>
      </p:grp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5105400" y="2057400"/>
            <a:ext cx="394345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algn="l"/>
            <a:r>
              <a:rPr lang="en-US" dirty="0">
                <a:solidFill>
                  <a:srgbClr val="0000FF"/>
                </a:solidFill>
              </a:rPr>
              <a:t>Defined process based on best practices</a:t>
            </a:r>
          </a:p>
          <a:p>
            <a:pPr marL="457200" indent="-457200" algn="l"/>
            <a:r>
              <a:rPr lang="en-US" dirty="0">
                <a:solidFill>
                  <a:srgbClr val="0000FF"/>
                </a:solidFill>
              </a:rPr>
              <a:t>Process improvement in place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5400" y="4648200"/>
            <a:ext cx="3733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Project Planning</a:t>
            </a:r>
          </a:p>
          <a:p>
            <a:r>
              <a:rPr lang="en-US" dirty="0" smtClean="0"/>
              <a:t>– Project Monitoring and Control</a:t>
            </a:r>
          </a:p>
          <a:p>
            <a:r>
              <a:rPr lang="en-US" dirty="0" smtClean="0"/>
              <a:t>– Supplier Agreement Management</a:t>
            </a:r>
          </a:p>
          <a:p>
            <a:r>
              <a:rPr lang="en-US" dirty="0" smtClean="0"/>
              <a:t>– Measurement and Analysis</a:t>
            </a:r>
          </a:p>
          <a:p>
            <a:r>
              <a:rPr lang="en-US" dirty="0" smtClean="0"/>
              <a:t>– Process and Product Quality</a:t>
            </a:r>
          </a:p>
          <a:p>
            <a:r>
              <a:rPr lang="en-US" dirty="0" smtClean="0"/>
              <a:t>Assurance</a:t>
            </a:r>
          </a:p>
          <a:p>
            <a:r>
              <a:rPr lang="en-US" dirty="0" smtClean="0"/>
              <a:t>– Configuration Management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228600" y="914400"/>
            <a:ext cx="4572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– Verification</a:t>
            </a:r>
          </a:p>
          <a:p>
            <a:r>
              <a:rPr lang="en-US" dirty="0" smtClean="0"/>
              <a:t>– Validation</a:t>
            </a:r>
          </a:p>
          <a:p>
            <a:r>
              <a:rPr lang="en-US" dirty="0" smtClean="0"/>
              <a:t>– Organizational Process Focus</a:t>
            </a:r>
          </a:p>
          <a:p>
            <a:r>
              <a:rPr lang="en-US" dirty="0" smtClean="0"/>
              <a:t>– Organizational Process Definition</a:t>
            </a:r>
          </a:p>
          <a:p>
            <a:r>
              <a:rPr lang="en-US" dirty="0" smtClean="0"/>
              <a:t>– Organizational Training</a:t>
            </a:r>
          </a:p>
          <a:p>
            <a:r>
              <a:rPr lang="en-US" dirty="0" smtClean="0"/>
              <a:t>– Risk Management</a:t>
            </a:r>
          </a:p>
          <a:p>
            <a:r>
              <a:rPr lang="en-US" dirty="0" smtClean="0"/>
              <a:t>– Integrated Teaming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/>
          </a:bodyPr>
          <a:lstStyle/>
          <a:p>
            <a:r>
              <a:rPr lang="en-US" dirty="0" smtClean="0"/>
              <a:t>References and Reading Papers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Requirements Engineering: Processes and Techniques’ by G. </a:t>
            </a:r>
            <a:r>
              <a:rPr lang="en-US" sz="2400" b="1" dirty="0" err="1" smtClean="0"/>
              <a:t>Kotonya</a:t>
            </a:r>
            <a:r>
              <a:rPr lang="en-US" sz="2400" b="1" dirty="0" smtClean="0"/>
              <a:t> and I. </a:t>
            </a:r>
            <a:r>
              <a:rPr lang="en-US" sz="2400" b="1" dirty="0" err="1" smtClean="0"/>
              <a:t>Sommerville</a:t>
            </a:r>
            <a:r>
              <a:rPr lang="en-US" sz="2400" b="1" dirty="0" smtClean="0"/>
              <a:t>, John Wiley &amp; Sons, 1998</a:t>
            </a:r>
          </a:p>
          <a:p>
            <a:r>
              <a:rPr lang="en-US" sz="2400" b="1" dirty="0" smtClean="0"/>
              <a:t>Requirements Engineering Process Models in Practice</a:t>
            </a:r>
          </a:p>
          <a:p>
            <a:r>
              <a:rPr lang="en-US" sz="2400" b="1" dirty="0" smtClean="0"/>
              <a:t>REQUIREMENTS ENGINEERING PROCESSES, TOOLS/TECHNOLOGIES, &amp;METHODOLOGIES</a:t>
            </a:r>
          </a:p>
          <a:p>
            <a:r>
              <a:rPr lang="en-US" sz="2400" b="1" dirty="0" smtClean="0"/>
              <a:t>An Effective Requirement Engineering Process Model for Software Development and Requirements Management </a:t>
            </a:r>
          </a:p>
          <a:p>
            <a:r>
              <a:rPr lang="en-US" sz="2400" b="1" dirty="0" smtClean="0"/>
              <a:t>REQUIREMENTS ENGINEERING  PROCESSES, TOOLS/TECHNOLOGIES, &amp; METHODOLOGIES </a:t>
            </a:r>
          </a:p>
          <a:p>
            <a:r>
              <a:rPr lang="en-US" sz="2400" b="1" dirty="0" smtClean="0"/>
              <a:t>Requirements Engineering Process Models in Practice</a:t>
            </a:r>
          </a:p>
          <a:p>
            <a:r>
              <a:rPr lang="en-US" sz="2400" b="1" dirty="0" smtClean="0"/>
              <a:t>STAR: A CASE Tool for Requirement Engineering</a:t>
            </a:r>
          </a:p>
          <a:p>
            <a:r>
              <a:rPr lang="en-US" sz="2400" b="1" dirty="0" smtClean="0"/>
              <a:t>Requirement Tools http://www.volere.co.uk/tools.htm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1656</TotalTime>
  <Words>1728</Words>
  <Application>Microsoft Office PowerPoint</Application>
  <PresentationFormat>On-screen Show (4:3)</PresentationFormat>
  <Paragraphs>313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PowerPoint Presentation</vt:lpstr>
      <vt:lpstr>PowerPoint Presentation</vt:lpstr>
      <vt:lpstr>Process</vt:lpstr>
      <vt:lpstr>Software Process</vt:lpstr>
      <vt:lpstr> Requirement Engineering Processes</vt:lpstr>
      <vt:lpstr>Inputs and outputs for RE</vt:lpstr>
      <vt:lpstr>RE Process – Inputs</vt:lpstr>
      <vt:lpstr>RE Process – Inputs</vt:lpstr>
      <vt:lpstr>RE Process – Inputs/Outputs</vt:lpstr>
      <vt:lpstr>Important Tasks for RE Process</vt:lpstr>
      <vt:lpstr>What is the requirements engineering process?</vt:lpstr>
      <vt:lpstr>RE Process Activities</vt:lpstr>
      <vt:lpstr>RE Process Activities</vt:lpstr>
      <vt:lpstr>  Benefits of high quality requirement process   </vt:lpstr>
      <vt:lpstr>RE Process Models</vt:lpstr>
      <vt:lpstr>Coarse-grain Activity Model(Linear RE Model)</vt:lpstr>
      <vt:lpstr>Coarse-grain Activity Model</vt:lpstr>
      <vt:lpstr>Linear Iterative RE Model</vt:lpstr>
      <vt:lpstr>Linear Iterative RE Model</vt:lpstr>
      <vt:lpstr>Spiral Model for RE</vt:lpstr>
      <vt:lpstr>Spiral Model for RE</vt:lpstr>
      <vt:lpstr>Role-action Models</vt:lpstr>
      <vt:lpstr>Role-Action Diagram for Software Prototyping</vt:lpstr>
      <vt:lpstr>V Model</vt:lpstr>
      <vt:lpstr>RE Process Variability</vt:lpstr>
      <vt:lpstr>Variability Factors</vt:lpstr>
      <vt:lpstr>Variability Factors</vt:lpstr>
      <vt:lpstr>RE Process Support</vt:lpstr>
      <vt:lpstr>RE Process Qualities</vt:lpstr>
      <vt:lpstr>CASE Tools for RE</vt:lpstr>
      <vt:lpstr>CASE Tools for RE</vt:lpstr>
      <vt:lpstr>Process Improvement</vt:lpstr>
      <vt:lpstr>Planning Process Improvement</vt:lpstr>
      <vt:lpstr>RE Process Problems</vt:lpstr>
      <vt:lpstr>Process Maturity</vt:lpstr>
      <vt:lpstr>RE Process Maturity Model</vt:lpstr>
      <vt:lpstr>References and Reading Papers</vt:lpstr>
    </vt:vector>
  </TitlesOfParts>
  <Company>ciit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Requirement Engineering</dc:title>
  <dc:creator>grasool</dc:creator>
  <cp:lastModifiedBy>ab</cp:lastModifiedBy>
  <cp:revision>146</cp:revision>
  <dcterms:created xsi:type="dcterms:W3CDTF">2011-09-14T17:32:29Z</dcterms:created>
  <dcterms:modified xsi:type="dcterms:W3CDTF">2024-02-27T06:25:47Z</dcterms:modified>
</cp:coreProperties>
</file>