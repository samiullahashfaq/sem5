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6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315" r:id="rId30"/>
    <p:sldId id="316" r:id="rId31"/>
    <p:sldId id="317" r:id="rId32"/>
    <p:sldId id="318" r:id="rId33"/>
    <p:sldId id="319" r:id="rId34"/>
    <p:sldId id="284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320" r:id="rId43"/>
    <p:sldId id="322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</p:sldIdLst>
  <p:sldSz cx="9144000" cy="6858000" type="screen4x3"/>
  <p:notesSz cx="6799263" cy="9929813"/>
  <p:embeddedFontLst>
    <p:embeddedFont>
      <p:font typeface="Gill Sans" panose="020B0502020104020203" pitchFamily="34" charset="-79"/>
      <p:regular r:id="rId67"/>
      <p:bold r:id="rId68"/>
    </p:embeddedFont>
    <p:embeddedFont>
      <p:font typeface="Raleway" pitchFamily="2" charset="77"/>
      <p:regular r:id="rId69"/>
      <p:bold r:id="rId70"/>
      <p:italic r:id="rId71"/>
      <p:boldItalic r:id="rId72"/>
    </p:embeddedFont>
    <p:embeddedFont>
      <p:font typeface="Source Sans Pro" panose="020B0503030403020204" pitchFamily="34" charset="0"/>
      <p:regular r:id="rId73"/>
      <p:bold r:id="rId74"/>
      <p:italic r:id="rId75"/>
      <p:boldItalic r:id="rId7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7" roundtripDataSignature="AMtx7mg0EDzNex1TZl+zv5Dr30BzkcfD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ED5C915-561B-422E-BCF6-B70CCCD228D2}">
  <a:tblStyle styleId="{6ED5C915-561B-422E-BCF6-B70CCCD228D2}" styleName="Table_0">
    <a:wholeTbl>
      <a:tcTxStyle b="off" i="off">
        <a:font>
          <a:latin typeface="Gill Sans MT"/>
          <a:ea typeface="Gill Sans MT"/>
          <a:cs typeface="Gill Sans MT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1C81C95F-0084-4141-9A7A-2DF9CB4D6EA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720"/>
  </p:normalViewPr>
  <p:slideViewPr>
    <p:cSldViewPr snapToGrid="0">
      <p:cViewPr varScale="1">
        <p:scale>
          <a:sx n="102" d="100"/>
          <a:sy n="102" d="100"/>
        </p:scale>
        <p:origin x="1824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font" Target="fonts/font2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8.fntdata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font" Target="fonts/font3.fntdata"/><Relationship Id="rId77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6.fntdata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4.fntdata"/><Relationship Id="rId75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7.fntdata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10.fntdata"/><Relationship Id="rId7" Type="http://schemas.openxmlformats.org/officeDocument/2006/relationships/slide" Target="slides/slide6.xml"/><Relationship Id="rId71" Type="http://schemas.openxmlformats.org/officeDocument/2006/relationships/font" Target="fonts/font5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23T17:04:42.840"/>
    </inkml:context>
    <inkml:brush xml:id="br0">
      <inkml:brushProperty name="width" value="0.3" units="cm"/>
      <inkml:brushProperty name="height" value="0.6" units="cm"/>
      <inkml:brushProperty name="color" value="#BF9DE3"/>
      <inkml:brushProperty name="tip" value="rectangle"/>
      <inkml:brushProperty name="rasterOp" value="maskPen"/>
    </inkml:brush>
  </inkml:definitions>
  <inkml:trace contextRef="#ctx0" brushRef="#br0">1 52,'51'14,"0"0,44 20,-25 4,-12-1,-11-7,-11-7,-4-6,2-2,6-5,6-3,7 0,1 1,-6 2,-11-3,-11 0,-6-3,-2-1,4-1,3-2,5 0,3 0,0 0,2 0,1 0,1-4,-2-3,-2-1,-3 0,-4 2,3 3,0 1,4-1,4 0,1-2,0-2,-2 1,2-1,4-1,6-1,4-4,-4 0,-7 2,-11 0,-9 2,-5-2,-4 1,15 3,49 10,9 13,14 7,-18-4,3 2,1 0,1 3,-1 0,-2 0,-12-2,-2 0,-7-2,-7 0,-7-3,17 3,-8-9,4-9,9-10,-9-1,-6-4,7-9,-19 4,6-3,38-13,11-1,-25 10,2-1,0 2,-1 1,0 2,-3 3,23-4,-10 7,12 5,-27 8,-16 2,-4 0,0 0,2 0,2 0,-2 0,-1 5,-3 5,0 8,0 6,-3-1,0 0,-7-5,-3-3,-5-4,-6-2,-3-3,16-2,26-2,31-2,-25-1,3 1,-1-2,1 0,-5-2,-2-2,-5-3,-3-1,35-10,-41 11,3 1,3 2,2 3,-1 2,1 3,-3 2,-2 2,36 11,-17 5,-16 0,-17-8,-10-9,-13-3,-5-3,5 2,28-5,30-13,17-5,-17 5,4-1,2 0,7-1,3-1,-1 3,-3 0,0 2,-8 3,2 5,-8 4,-13 1,-4 1,21 1,-32-2,-4 0,30-9,-20 3,5-1,16-2,5 1,3-1,0 1,-5 3,-3 2,-7 1,-4 3,34-1,-21 2,-22 0,-12 0,-9 0,-3 0,-3 0,-3 0,0 0,-5 0,-1 0,2-4,-3 3,3-3,0 4,0 0,5 2,3 4,2 6,2 2,3 0,1-4,0-3,-1-3,-5-1,-1-1,-2-2,0 0,0 0,-3 0,1 0,0 0,-1 0,0 0,-3-2,0-3,1-1,-1-2,-2 1,-2 2,1-2,1 4,0-4,0 3,1 0,-4 1,6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23T17:09:31.941"/>
    </inkml:context>
    <inkml:brush xml:id="br0">
      <inkml:brushProperty name="width" value="0.3" units="cm"/>
      <inkml:brushProperty name="height" value="0.6" units="cm"/>
      <inkml:brushProperty name="color" value="#BF9DE3"/>
      <inkml:brushProperty name="tip" value="rectangle"/>
      <inkml:brushProperty name="rasterOp" value="maskPen"/>
    </inkml:brush>
  </inkml:definitions>
  <inkml:trace contextRef="#ctx0" brushRef="#br0">1 131,'69'0,"4"0,-1 0,-11 0,-11 0,-10 0,1 0,3 0,1 0,2 0,0 0,-6 1,-4 2,-4 2,-2 1,0 1,-1 2,-1 0,2 0,1-1,3-1,4 1,3-2,5 1,0-1,0-3,-8-1,-11-2,12-3,37-10,1 1,10-1,-18 3,3 0,0 0,1 1,1 0,-2 2,23-2,-7 4,-31 4,-7 2,22 7,-30 5,-15 4,-8 1,-1-3,4-4,2-1,4-3,1 0,-1-1,1-1,-1 2,1-1,-3-2,0-1,0-3,3 0,2 0,1-1,-1-3,-3-1,-3 0,-2 1,-4 4,-1 0,-3 0,-1 0,1 0,0 0,5-4,3-3,3-2,2-5,0-4,0-2,0-2,3 1,-2 3,-1 4,-3 2,-5 3,-2 3,-3-1,-3 3,9-6,-4 1,4-2,-8 5,-4 0,10 2,-9 1,9 2,-7 11,-3-4,2 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23T17:18:44.298"/>
    </inkml:context>
    <inkml:brush xml:id="br0">
      <inkml:brushProperty name="width" value="0.3" units="cm"/>
      <inkml:brushProperty name="height" value="0.6" units="cm"/>
      <inkml:brushProperty name="color" value="#009688"/>
      <inkml:brushProperty name="tip" value="rectangle"/>
      <inkml:brushProperty name="rasterOp" value="maskPen"/>
    </inkml:brush>
  </inkml:definitions>
  <inkml:trace contextRef="#ctx0" brushRef="#br0">1 230,'86'3,"1"0,7 4,0 3,0 4,-1 2,4 2,-3 3,-12-1,-3 1,-9-1,-4 1,-16-3,-3-1,25 8,-13-11,-10-10,1-4,-10 0,-9 0,-11 0,-4 0,0 0,2 0,5 0,8-2,12-3,14-6,9-2,5-4,-9 0,-16 6,-13 3,-12 6,-3 2,1 0,4-3,5-3,2-2,1-1,3-3,14-2,22-4,-21 6,2 1,6 1,1 0,-2 2,0 2,-4 0,-3 1,23-1,-18 3,-10-1,-3-2,14-3,18-3,23-3,-43 8,1 1,1 1,-1 0,41 0,-19 5,-14 0,-10 0,-8 0,-4 0,-4 0,-8 0,0 0,-2 0,3 0,3 0,2 0,3 0,1 0,3 0,0 0,5 0,6 3,5 0,2 2,0 1,-1 0,-1-1,0-2,-4-1,-6-2,-4 0,1 0,2 0,5 0,5 0,0 0,5 0,5 0,2-3,2-2,0-6,-5-4,-5-4,-7 0,-6 0,-2 0,-1 2,2 2,1 1,-3 3,-2 1,-4 2,-5 1,-5 3,-2 2,-2 2,-3 0,0 0,-2-2,-1 0,3-1,0 1,0 2,-2 0,-4 0,1 0,-1 0,1 0,0 12,-5 5,-5 9,-3-2,-3-4,2-5,0-1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23T17:18:49.981"/>
    </inkml:context>
    <inkml:brush xml:id="br0">
      <inkml:brushProperty name="width" value="0.3" units="cm"/>
      <inkml:brushProperty name="height" value="0.6" units="cm"/>
      <inkml:brushProperty name="color" value="#009688"/>
      <inkml:brushProperty name="tip" value="rectangle"/>
      <inkml:brushProperty name="rasterOp" value="maskPen"/>
    </inkml:brush>
  </inkml:definitions>
  <inkml:trace contextRef="#ctx0" brushRef="#br0">0 0,'72'0,"0"0,5 0,-1 0,-6 0,-3 1,-6 0,-5 1,20 3,-24 3,-9-1,-1-2,6 0,2-2,7 1,2-1,-5 2,-6 0,-4 0,-4 2,1 2,2 1,2 0,2 1,6 0,1 0,4 0,-1 0,-4 0,0 1,-3 2,-1 2,-1 2,0-1,-1 0,-5-3,-5-3,-5-2,-1-4,21-3,28-2,-30-1,2-1,2 1,-1-1,28-1,-30 0,-21 1,-11-1,4-1,5-2,5 1,3 0,-2 0,0 1,1 0,8 0,16 1,15 0,14 3,6 0,-7 0,-15 0,-14 0,-12 0,-2 0,7 0,8 0,14-3,11 0,4-1,0 2,-9 2,-14 0,-13 0,-13 0,-8 0,-3 0,-3 0,-1 0,0 0,0 0,4 0,2 0,2 0,-3 0,-2 0,-1 0,2 0,4 0,6 0,2-1,0-2,-3-2,-6-1,0-1,-4 1,-4 1,-3 1,-5 0,0 2,5-3,-1 0,4 1,-4-3,1 0,2-2,-1 2,-3 3,-4 2,3 2,-2 0,3 0,-2 0,3-4,-2 3,7-5,-3 3,0 0,-3 1,-4 2,3 0,-1 0,1 0,-1 0,3 0,-2-1,5-1,-6-2,-3 0,4 0,-2 0,0 0,2-6,-6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23T17:20:46.765"/>
    </inkml:context>
    <inkml:brush xml:id="br0">
      <inkml:brushProperty name="width" value="0.3" units="cm"/>
      <inkml:brushProperty name="height" value="0.6" units="cm"/>
      <inkml:brushProperty name="color" value="#009688"/>
      <inkml:brushProperty name="tip" value="rectangle"/>
      <inkml:brushProperty name="rasterOp" value="maskPen"/>
    </inkml:brush>
  </inkml:definitions>
  <inkml:trace contextRef="#ctx0" brushRef="#br0">1 1,'60'0,"0"0,3 0,3 1,8 1,2 3,0 3,0 2,-4 2,0 2,7 4,-2 2,-4 0,-3-1,-6-3,-3 0,-9-4,-5-1,10-2,-19-5,3-3,34-6,-6-2,10-1,-9 1,6 0,3 0,-6 1,4 1,1-1,1 2,1-1,2 1,-1 1,0 0,-3 1,-1 0,0 1,-2 1,19 1,-2 2,-5 2,-16-1,-4 2,-2 0,18 5,-7 2,-19-1,-6 1,13 2,-29-5,-21-4,-8-1,20-1,53-9,-19-2,8-2,17 0,5-1,7 0,-1 2,-7 2,-3 2,-8 2,-4 1,-15 1,-3 0,29 0,-17 0,-10 0,-2-1,-9-4,-9-1,-8 1,3 2,22 3,-6 0,5 0,8 0,4 0,8-1,1-1,0-2,-2-1,-4-4,-2-2,0-3,-3-1,32-12,-22 8,-24 11,13 8,-4 0,5 0,7 0,2 0,-2 0,-2 0,-13 1,-6 1,2 5,-12 1,-1 2,3-4,7-4,2 0,-2-2,-4 3,-3-1,-4 3,-3 0,-3-1,-4 1,-4 0,-5 0,-4 0,-2 1,1-2,8-8,5-9,5-8,-2-3,-7 5,-10 10,-5 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23T17:22:19.248"/>
    </inkml:context>
    <inkml:brush xml:id="br0">
      <inkml:brushProperty name="width" value="0.3" units="cm"/>
      <inkml:brushProperty name="height" value="0.6" units="cm"/>
      <inkml:brushProperty name="color" value="#7F7F7F"/>
      <inkml:brushProperty name="tip" value="rectangle"/>
      <inkml:brushProperty name="rasterOp" value="maskPen"/>
    </inkml:brush>
  </inkml:definitions>
  <inkml:trace contextRef="#ctx0" brushRef="#br0">1 33,'60'0,"-2"0,-11-2,0-1,0 0,15-2,29-1,-34 3,2 0,7 0,1 0,1 1,-1 2,-7 3,-1 1,-2 3,-1 2,-4 2,-2 1,28 13,-25-8,-11-8,9-5,47-4,-26 0,5 0,10 0,1 0,-2 0,-4 0,-14 0,-4 0,25 0,-26 0,-6 0,9 0,18 0,-6 0,-11 0,3 0,0 1,14 1,-2 0,8 1,4 1,-16-1,4 1,0 0,1 1,3 1,1-1,-1 2,-3 0,8 2,-3 0,-5 1,16 4,-7 1,-16-3,-6 0,21 3,-24-6,-4-7,4-3,8-2,-4 0,-10 0,-9 2,-5 1,0 0,0 0,3 0,3 0,1 0,5 0,8 0,15-6,16-9,-44 4,0-1,3-2,0 0,-2 1,0 1,-4 4,-2 0,39-3,-22 4,-20 3,-11 2,-2 2,17 5,10 4,3 1,5 1,8-7,-28-2,4-1,7-1,1 0,5 0,1 0,1 0,0 0,-5 0,-1 0,-2 0,0 0,-4 0,-1 0,-3 0,-1 0,47 0,-11 0,-7 0,-9 0,-10 0,-9 0,-8-5,-2-10,-5-4,6 1,22 7,35 9,-36 2,3 0,6 0,0 0,-5-2,-2-1,-12 0,-3 0,26-4,-29 2,-16 4,-10 1,-2 0,-1-3,1-2,-3-2,-2 0,3-1,-2 3,4 0,0 1,-1 0,-1 0,-1 2,2 1,-3 1,3 0,-2 0,1 3,-5 6,-1 4,-5 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23T17:22:23.248"/>
    </inkml:context>
    <inkml:brush xml:id="br0">
      <inkml:brushProperty name="width" value="0.3" units="cm"/>
      <inkml:brushProperty name="height" value="0.6" units="cm"/>
      <inkml:brushProperty name="color" value="#7F7F7F"/>
      <inkml:brushProperty name="tip" value="rectangle"/>
      <inkml:brushProperty name="rasterOp" value="maskPen"/>
    </inkml:brush>
  </inkml:definitions>
  <inkml:trace contextRef="#ctx0" brushRef="#br0">0 68,'64'-4,"-10"1,-32-2,-1 0,3-2,8 0,14 0,5 2,-2 2,-11 0,-16 3,-4 0,-5 0,9-2,-4 0,9-1,-6 1,0 0,0-1,0 1,4 0,6 2,11 0,7 0,7 0,4 0,-2 0,-4 0,-9 0,-7 2,-9 3,-5 1,-3 3,-3-2,0 0,-2-3,-1-2,1 0,-2-2,5 0,-3 0,1 0,-1 0,-2-4,1 3,2-7,-1 3,0 0,-2 2,-1 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23T17:25:12.733"/>
    </inkml:context>
    <inkml:brush xml:id="br0">
      <inkml:brushProperty name="width" value="0.3" units="cm"/>
      <inkml:brushProperty name="height" value="0.6" units="cm"/>
      <inkml:brushProperty name="color" value="#7F7F7F"/>
      <inkml:brushProperty name="tip" value="rectangle"/>
      <inkml:brushProperty name="rasterOp" value="maskPen"/>
    </inkml:brush>
  </inkml:definitions>
  <inkml:trace contextRef="#ctx0" brushRef="#br0">1 49,'80'0,"-28"0,1 0,-2 0,2 0,14-2,4 0,4 0,1 0,3 0,1 0,8 0,-1 1,-10 1,-3 0,-12 0,-5 0,19 0,-39 0,-8-2,-6-6,14-1,31 0,29 4,-36 4,3 2,1 0,-1 3,-6 1,-2 3,-5 1,-3 2,32 16,-15 1,-7-3,-2-1,-2-4,-6-6,-9-7,-11-4,12-3,38 0,-15-1,7-1,20 0,6 0,-20 0,4 1,0-1,-1 1,0-1,0 2,-5 2,-1 1,-3 1,22 2,-8 3,-27 1,-7 1,24 9,-9-13,27-14,-5 0,10 0,-22 2,3 0,0 1,0 0,1 1,-2 1,27 2,-11 2,-38 1,-8 2,13 3,-7-1,26-7,-26-2,5-1,18-1,2-1,-6 0,-2 0,-10 1,-4 0,31-1,-40 8,-10 5,-9 5,-6 4,-5 0,-6-4,-2-2,0-1,6-1,-2 0,4-5,0-2,2-2,-1 1,-1-1,-5 0,5 0,0 0,-1 0,3 0,-5 0,1 0,7 0,-9-2,5-1,-6-1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23T17:26:07.323"/>
    </inkml:context>
    <inkml:brush xml:id="br0">
      <inkml:brushProperty name="width" value="0.3" units="cm"/>
      <inkml:brushProperty name="height" value="0.6" units="cm"/>
      <inkml:brushProperty name="color" value="#7F7F7F"/>
      <inkml:brushProperty name="tip" value="rectangle"/>
      <inkml:brushProperty name="rasterOp" value="maskPen"/>
    </inkml:brush>
  </inkml:definitions>
  <inkml:trace contextRef="#ctx0" brushRef="#br0">0 1,'0'0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23T17:26:07.323"/>
    </inkml:context>
    <inkml:brush xml:id="br0">
      <inkml:brushProperty name="width" value="0.3" units="cm"/>
      <inkml:brushProperty name="height" value="0.6" units="cm"/>
      <inkml:brushProperty name="color" value="#7F7F7F"/>
      <inkml:brushProperty name="tip" value="rectangle"/>
      <inkml:brushProperty name="rasterOp" value="maskPen"/>
    </inkml:brush>
  </inkml:definitions>
  <inkml:trace contextRef="#ctx0" brushRef="#br0">0 1,'0'0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23T17:34:06.002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0 85,'67'-4,"0"-1,-8-1,-6 0,-10 0,-9 3,-6 1,-2 2,3 0,7-3,9-5,6-1,-4-2,-9 4,-13 4,-6 1,-5 2,7 0,-6 0,12 0,-2-1,8-2,7 1,3-1,-3 2,-9 1,-7 0,-5 0,-1 0,0 0,1 0,2 0,2 0,2 0,2 0,2 0,2 0,2 0,0 0,1 0,-2 0,3 2,0 3,0 3,0 2,-2-1,-2 0,-3-2,-1 0,-3-2,0-1,0 3,-3 0,0 2,-3-2,1 0,-1-1,0-1,1-1,-1-2,-2 0,0 1,0-1,0 0,8-2,2 0,10 0,12 0,8-4,0-2,-13 0,-13 2,-12 4,0 0,2 0,5-2,17-1,12-2,4-1,-7 3,-15 1,-12 2,-7 0,-1 0,0 0,2 0,8 0,4 0,5 0,2 0,-1-1,2-1,2-3,3-1,4-1,3 1,-3 3,-1 2,-1 1,-1 0,0 0,-2 0,-3 0,-6 0,-5 0,-6 1,-7 2,0-1,0 0,0-1,2-1,-3 0,1 0,1 2,0 1,0 2,0 2,0 1,1 2,1 2,3 0,0 0,0-2,0-2,-3-3,1-2,-1-2,5-1,9-7,8-8,-3-2,-3 1,8 9,14 5,20 2,11 0,-11 0,-15 0,-15 0,-12 0,4 0,9 0,13 0,11 0,11 0,4 0,0 0,-1 0,-8 0,-6 4,-9 1,-9 3,-9 1,-8-1,-8 1,-6-2,-2-1,-2 0,0 0,1 0,-1 0,0 0,1-2,-1 0,0-1,0 0,3-1,3-2,7 0,12-10,16-16,4-10,9 1,11 13,6 16,-36 6,1 0,44 0,-18 0,-14 0,-11-3,8-2,9-4,9-3,1 1,-4 2,-12 3,-13 4,-13 2,-12 0,-6 0,-8 0,0 0,2 0,-1 1,2 1,-1 3,-3 2,0 1,0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23T17:36:55.870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1 35,'67'0,"-6"0,-19 0,-4 1,-4 1,0 1,1 0,-2 0,-7 0,-8-1,-3 0,2-2,-3 2,13-2,-14 0,9 0,-4 0,4 0,11 0,10 0,10 0,6 0,1 0,-5 0,-7-1,-7 0,-5 0,-2-1,-5 1,-1 0,-2 0,-1 1,1 0,-3-1,-1 0,0-2,6-2,-2 0,4 0,9 3,5 2,14 0,1 1,-3 1,0 1,-5 1,-3 0,-2 1,-6 0,-3 0,-3-2,-3 1,0-1,1-1,0 0,3-1,3 0,0 1,1-1,-4 0,-3-1,-2 0,-3 0,-3 0,1 0,2 0,20 0,41 1,16 2,1 2,-27 0,-32-1,-5 0,4 0,6 1,4-1,1 0,-4 0,-3-1,-6-1,-5 0,-2-1,-6 0,-4-1,-2 0,-1 0,0 0,1 0,-1 0,3-2,2-2,1-3,1-3,6 1,4 1,3 2,3 2,-9 0,-9 2,-10 1,-8 0,14-3,3-1,14-1,-6 1,-7 2,-5 1,-6 0,0-1,0 0,0 0,1 1,-2 0,-1 1,3 0,-1 1,3 0,-4 0,0 1,6 0,-2 1,5 1,-3-1,3 1,4 0,2 0,0-1,-1-1,-2 1,-2-1,-1 1,0-1,-5 1,-4 0,0 0,-5 1,11 1,-8-1,9 1,-6-2,3 0,-1 0,4-1,5 0,11-2,15-4,-4-1,-3 0,-3 1,-3 5,9 0,4 0,1 0,1 0,2 0,-7 0,-9 0,-10 1,-9 0,-4 0,-3 0,4-1,-6 0,8 0,1 0,6 0,5-1,4 0,-3-1,-2-1,-2 1,-2 1,-2 0,1 1,0 0,2 0,0 0,1 0,-3 0,0-1,1-2,4-6,-5 0,-4 1,-2 3,5 6,22-1,9 0,0 0,-7 0,-9 2,0 0,-1 1,-5 0,-7 0,-6 0,-3 0,2-1,3 0,6-1,7 1,3 0,2 0,0 1,-2-1,-4 0,-1 0,-1 1,0 0,2-1,-1-1,0 0,-1 0,-3 0,-2-1,-5 0,-2 0,-1 0,3 0,3 0,4 0,2 0,3-1,4-1,3-1,-1-1,0 1,-2 0,-5 0,-6 0,-5 0,-4 0,-2 0,1 0,-1-2,1 1,0-2,2-2,-4 2,-4 1,3 4,1 2,13 0,7-1,0 0,-3 0,-3 0,-5 0,-3 0,-1 0,-4 0,-1 0,2 0,-6 0,5 1,2 0,-2 0,5-1,-4 0,-1 0,1 0,0 0,1 0,2 0,2 0,3 1,-2 0,0 1,-4-1,-2 0,-1 1,0-1,-2 0,0-1,0 0,-2 0,10 0,-3 0,8 0,-2 0,3 0,2 0,5 0,0 0,-1 0,-5 0,-7 0,-3 0,-11 0,-3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23T17:39:04.770"/>
    </inkml:context>
    <inkml:brush xml:id="br0">
      <inkml:brushProperty name="width" value="0.3" units="cm"/>
      <inkml:brushProperty name="height" value="0.6" units="cm"/>
      <inkml:brushProperty name="color" value="#BF9DE3"/>
      <inkml:brushProperty name="tip" value="rectangle"/>
      <inkml:brushProperty name="rasterOp" value="maskPen"/>
    </inkml:brush>
  </inkml:definitions>
  <inkml:trace contextRef="#ctx0" brushRef="#br0">1 205,'68'5,"-12"2,-27 0,-11 1,-4-4,4-2,-1 3,6-3,-6 1,0-1,-3-2,7 0,-5 0,11 0,-3 2,0 1,2 1,-2 0,-3-1,0-2,-5-1,-1 0,2 0,4 0,6 0,2-2,-1-2,-1-1,-1-2,0 2,3 0,0 0,-1 0,-4 0,-3 3,-3 0,1 1,-1-1,0-1,0-2,-2 0,0-2,0-1,0-1,3-1,0 1,4-1,1-2,2 0,0-1,-2 0,2 2,1 0,0 1,-4 1,-2-1,-2 1,-1 2,0 1,-2 1,0 1,0-1,0 1,2-1,1 2,-1 1,0 2,1 0,-1 0,-2 0,0 0,-1 0,0 0,4 0,-4 6,-1-1,2 7,-8-3,6 1,-2 4,-1-5,3 2,5 2,-5-4,4 5,-3-3,-1 0,2-1,-3-1,-1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23T17:39:11.986"/>
    </inkml:context>
    <inkml:brush xml:id="br0">
      <inkml:brushProperty name="width" value="0.3" units="cm"/>
      <inkml:brushProperty name="height" value="0.6" units="cm"/>
      <inkml:brushProperty name="color" value="#BF9DE3"/>
      <inkml:brushProperty name="tip" value="rectangle"/>
      <inkml:brushProperty name="rasterOp" value="maskPen"/>
    </inkml:brush>
  </inkml:definitions>
  <inkml:trace contextRef="#ctx0" brushRef="#br0">1 174,'97'0,"-25"-2,6 0,-14 0,4-1,1 0,7 0,2 0,-1 1,-3-1,0 0,-2 1,28-1,-4 2,-8 1,-4 0,-12 1,-3 1,-13 0,-5 1,28 6,-26 4,-9-2,-11-1,-13-5,21-2,51-3,-23 0,11-2,3 1,13 0,3-1,0 1,0-1,-1 1,-4-1,-11 1,-4-1,-11 2,32 2,-40 1,-30-1,-12 0,12-2,47-6,-15-1,7-1,-6-1,4 1,2-1,5-1,2 0,0 1,1 2,-1 0,0 1,-2 1,-1 2,-1 0,22 2,-4 1,-8 1,-6 2,-14 0,-6 2,29 6,-27 0,-20-5,-9-3,17-3,32 0,9 1,14 1,-20 1,4 1,0 0,1 1,1 0,-2 0,-7 2,-2 0,-7 0,-5 2,-9-1,17 1,-21-5,9-6,-11-3,10-3,13-3,11-1,3-1,-13 3,3 0,1 1,1-1,0 1,2 0,-1 0,-2 2,17-1,-3 1,-9 3,-6 3,-9 2,29-1,-32 0,17 0,-15 1,8 1,21 3,7 2,-19 0,3 1,1 1,2 1,0 1,-1 1,-8 0,-1 0,-2-1,24 4,-6-3,-27-4,-4-3,-9-6,-1-4,8-9,5-4,2 1,7-2,3 0,10-1,4 0,0 2,1 2,1 2,-2 2,-8 2,-2 3,-7 3,0 4,-7 4,30 6,-43 0,-21 0,8-5,22-4,22 5,6 7,-13 5,-18 4,-18-3,-15-6,-7-5,-3-5,1-2,6-1,5 0,10 0,7 0,9-5,7-3,-1-1,-5-1,-8 4,-7 4,-5-1,-3 3,-4 0,-5 0,-2-1,-4-1,-1 0,-1-2,0 1,0 0,1 1,-3 1,0 1,-2 0,2 0,3 0,-4 0,0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23T17:39:18.021"/>
    </inkml:context>
    <inkml:brush xml:id="br0">
      <inkml:brushProperty name="width" value="0.3" units="cm"/>
      <inkml:brushProperty name="height" value="0.6" units="cm"/>
      <inkml:brushProperty name="color" value="#BF9DE3"/>
      <inkml:brushProperty name="tip" value="rectangle"/>
      <inkml:brushProperty name="rasterOp" value="maskPen"/>
    </inkml:brush>
  </inkml:definitions>
  <inkml:trace contextRef="#ctx0" brushRef="#br0">1 178,'92'-16,"6"-2,-43 7,0 0,0 1,-2 2,41-1,-19 4,-16 5,-15 0,-8 0,0 0,6 0,16-4,16-5,11-3,4-3,-9 3,-11 2,-17 5,-14 1,-6 1,-3 0,1 1,2 2,4 0,2-3,-1 1,-2-1,-2 1,-3 2,1 0,0 0,-1 0,1 0,-2 0,0 0,3 0,2 0,1 0,0 0,-3 0,-3 0,-2 0,-1 0,-1 0,-1 0,0 2,1 2,2 0,1 2,3-1,-2-1,0-2,-2-1,-1-1,4 0,2 0,2 0,1 0,-2 0,-1 0,-3 0,1 0,-1 0,-2 0,-1 0,-1 0,-1 0,-1 0,-2 0,-1 0,-2 0,1 0,1 0,2 0,-1 0,1 0,-1 0,5 0,3 0,4 0,4 0,-1 0,1 0,-2 0,1 3,1 5,1 5,-1 5,-3 1,-5 0,-5-3,-4-3,-2-5,-2-4,-3-2,3-1,0 2,3-1,0 2,-4-2,1 3,0-1,1-1,1-1,1-2,1 0,5 0,2 0,3 0,-4 0,-3 0,-3 0,-4 0,-1 0,3 0,-6 0,9 0,-7 0,3 0,0 0,-3 0,3 0,-1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23T17:40:41.921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47,'88'0,"4"3,-16 3,-11 2,-16-1,-16-2,-8-3,-1-2,4 0,12 0,13 0,16 0,11 0,5 0,-1 0,-5 0,-5 3,-5 4,-2 5,0 2,-9-1,-7-3,-15-2,-3-3,14-3,21-2,19 0,5 0,-9 0,-14 0,-13 0,-14 0,-1 0,5 0,7 0,13 0,4 0,-2 0,-7 0,-12 0,-11-2,-6-1,-2-3,5-4,7-3,7-3,8 4,3 2,1 5,-2 2,-8 1,-8 2,-6 4,-8 4,-2 5,-5 4,-8-5,36-4,42-5,-22-4,8 2,-11 1,4 2,-1 1,31 4,-4 3,-15 1,-6 2,-15 0,-10 0,-4 3,-13-8,-5-6,-3-4,-3 0,0 0,-1 0,-1 0,0-1,-1-3,1-2,3-4,1 0,2-3,2-1,0 0,3-3,1 0,0 1,1 2,1 2,4 4,1 3,1 3,2 2,1 0,3 0,0 0,-2 0,-2 0,-2-2,1-6,2-7,3-6,0 1,1 5,-1 7,-3 5,-2 2,-5 3,-4 3,-3 2,-2 5,-3 0,-2 0,1-3,-3-3,0-1,0-3,-3 0,-2-2,0 0,-1 0,2 0,1 2,1 2,-1 3,0 2,-1 0,-4-2,2 1,-2-1,5-2,-2-2,-1-3,0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23T17:40:46.887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 9,'95'0,"-23"0,7 0,-11 0,3 0,2 0,8 0,3 0,0 0,-2 0,1 0,-4 0,-9 0,-3 0,-2 0,28 1,-3 1,-10-1,-2 1,-6 0,-1-1,-1 1,-3-1,-8-1,-3 1,36 2,-24 0,-7-1,18-2,-11-3,9-1,-10 1,4 0,1 1,6-1,0 0,1 0,1 1,1 0,-2 1,-8 0,-2 1,-3 1,17-1,-4 0,-11 0,-4 0,23 0,-22 0,26 0,-19 0,7 0,-14 0,3-1,2 2,8-1,4 1,-2 1,-2 0,-2 1,-1 0,22 3,-4 0,-14 1,-5 0,-21-2,-4-1,14 1,-14-4,32-1,-18-1,8-2,-7 2,5-1,2 1,6-1,3 1,-2-1,-4 1,-1-1,-3 1,21 1,-8 0,-26 0,-6 0,13 0,-28 3,-9-1,-3 0,6 0,5-2,0 0,-1 0,-3 0,-3 0,-3 0,1 0,2 0,3 0,2 0,-2 0,-3 0,-6 0,-10 0,-6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23T17:42:53.238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 0,'104'5,"-9"0,-37 2,-14-1,-13-2,-10-2,-4 0,0-1,0-1,2 1,7-1,9 0,10 0,7 0,7 0,9 0,9 0,9 0,8 0,2 0,-5 1,-14 1,-19 1,-17 1,-13-1,-6-1,-8-1,6 0,16 0,20 0,41-1,-42 0,3 1,0 1,1 1,1 0,-1 0,-5 2,-1 0,49 5,-11 1,-21-1,-20 0,-12-4,-4-2,10-2,7-2,7 0,-3 0,-6 0,-5 0,-4 0,-5 0,-5 0,-7 0,-2 0,-1-1,0 0,-1 0,1 0,-1 1,1 0,-1 0,1 0,0 0,5 0,11 0,14 0,17 0,12-3,7-3,-1-3,-9-3,-10 1,-11 2,-9 2,-6 2,0 1,1-1,1 2,1 0,-2 1,-4 1,-2 0,-4 1,1 0,-1 0,-2 1,-1 2,-2 2,-1 2,0-1,-2-1,0-2,-6 0,-5-1,0 4,21-4,30 2,34-4,8 0,-8 0,-19 0,-24 0,-16 0,-11 0,0 0,8 0,11 0,8 0,7 0,-1 0,-1 0,-5 1,-4 0,-5 1,-9 0,-6-1,-7 0,-4-1,1 0,-1 0,1-2,-1-1,1-2,2-1,1 2,0 1,-1 1,-5 1,-1 0,1-2,-2 0,1-1,-2 1,-1-1,2 0,-1 1,-1-1,2 1,0 0,3-1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23T17:44:07.305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0 70,'51'4,"0"0,41 11,-21 5,-4 5,10-2,11 1,-38-12,2 0,5 1,0-1,-1 1,0-1,-4 0,-2 1,37 10,-19-4,-14-7,-9-6,-3-5,-1-7,-5-5,-7 0,-10 2,1 6,19-3,56-3,-31 4,3 0,2 0,0 1,-5 2,-6 1,16 1,-23 3,-14 2,-8 0,2-2,16-3,20-10,17-11,11-9,-4-3,-8 5,-11 10,-17 6,-5 6,9 3,22 2,-6 3,8 0,9 2,3 2,-29-2,1 1,0 1,32 2,-5 1,-23-2,-4-1,-3-2,-3-2,38 1,-22-3,-21 0,-14 0,-2 0,23-5,10-4,10-4,-15 3,4 0,1 0,4-1,1 0,0 1,-6 2,0 0,-5 2,3 1,-5 0,-10-1,-3 0,34-7,7 0,-39 6,4 2,13 1,3 1,11-1,2 1,5 0,1 1,2 4,-2 1,-3 2,-2 1,-1 3,-4 1,-16 1,-5-1,27 5,-26-7,-16-7,9-1,-3 0,-9 2,-8 3,-3 0,10 0,11 0,8 0,-2 2,-5 0,-11 0,-7-1,-7 0,-4-1,-3-3,-2 2,-5-2,-2 1,7-1,-5-2,8 0,-6 0,0 0,1 0,-1 0,-2 0,0 0,-1 0,1 0,5 0,1 0,-1 0,-1 0,-5 0,3-2,-4 0,5-1,-2 1,1 2,0 0,-1 0,-1 0,-1 0,0-2,4-2,-3 0,5-1,-5 1,2 0,-3 2,5-2,-7 1,5-1,0-1,1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23T17:46:08.906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0 43,'59'-1,"0"-1,9 0,3-2,7 0,1 0,1-1,-2 1,-12 1,-5 0,32 1,-27 2,-17 0,-2 0,6-2,3 0,3-1,-2 1,-2 2,-4 0,-5 0,-8 0,-10 0,-9 2,-3 0,41-1,47 1,-12 0,8 1,-27 0,0 0,-2 1,21 3,-5 2,-17-1,-9 1,-3 5,-9-3,2-2,5-2,1-3,-9-1,-16-1,-9 0,12-1,49 1,-5-3,8-1,14 0,6 0,-25 1,3 0,-1 0,-1-1,-1 1,-3 1,25-1,-5 2,-10-1,-7 0,20 0,-45 0,-21 0,23 0,34 0,-18 0,5 0,2-1,0 2,-13-1,-4 1,32 3,-55 2,-14 0,-5-1,-5-1,-1-2,0-1,0-1,1 0,4 0,1 0,2 0,6 0,1-1,3-2,-1-1,-2 1,-4 1,-4 0,-2 2,-5 0,-1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23T17:55:59.270"/>
    </inkml:context>
    <inkml:brush xml:id="br0">
      <inkml:brushProperty name="width" value="0.3" units="cm"/>
      <inkml:brushProperty name="height" value="0.6" units="cm"/>
      <inkml:brushProperty name="color" value="#BF9DE3"/>
      <inkml:brushProperty name="tip" value="rectangle"/>
      <inkml:brushProperty name="rasterOp" value="maskPen"/>
    </inkml:brush>
  </inkml:definitions>
  <inkml:trace contextRef="#ctx0" brushRef="#br0">1 131,'69'0,"4"0,-1 0,-11 0,-11 0,-10 0,1 0,3 0,1 0,2 0,0 0,-6 1,-4 2,-4 2,-2 1,0 1,-1 2,-1 0,2 0,1-1,3-1,4 1,3-2,5 1,0-1,0-3,-8-1,-11-2,12-3,37-10,1 1,10-1,-18 3,3 0,0 0,1 1,1 0,-2 2,23-2,-7 4,-31 4,-7 2,22 7,-30 5,-15 4,-8 1,-1-3,4-4,2-1,4-3,1 0,-1-1,1-1,-1 2,1-1,-3-2,0-1,0-3,3 0,2 0,1-1,-1-3,-3-1,-3 0,-2 1,-4 4,-1 0,-3 0,-1 0,1 0,0 0,5-4,3-3,3-2,2-5,0-4,0-2,0-2,3 1,-2 3,-1 4,-3 2,-5 3,-2 3,-3-1,-3 3,9-6,-4 1,4-2,-8 5,-4 0,10 2,-9 1,9 2,-7 11,-3-4,2 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23T17:55:59.271"/>
    </inkml:context>
    <inkml:brush xml:id="br0">
      <inkml:brushProperty name="width" value="0.3" units="cm"/>
      <inkml:brushProperty name="height" value="0.6" units="cm"/>
      <inkml:brushProperty name="color" value="#009688"/>
      <inkml:brushProperty name="tip" value="rectangle"/>
      <inkml:brushProperty name="rasterOp" value="maskPen"/>
    </inkml:brush>
  </inkml:definitions>
  <inkml:trace contextRef="#ctx0" brushRef="#br0">1 1,'60'0,"0"0,3 0,3 1,8 1,2 3,0 3,0 2,-4 2,0 2,7 4,-2 2,-4 0,-3-1,-6-3,-3 0,-9-4,-5-1,10-2,-19-5,3-3,34-6,-6-2,10-1,-9 1,6 0,3 0,-6 1,4 1,1-1,1 2,1-1,2 1,-1 1,0 0,-3 1,-1 0,0 1,-2 1,19 1,-2 2,-5 2,-16-1,-4 2,-2 0,18 5,-7 2,-19-1,-6 1,13 2,-29-5,-21-4,-8-1,20-1,53-9,-19-2,8-2,17 0,5-1,7 0,-1 2,-7 2,-3 2,-8 2,-4 1,-15 1,-3 0,29 0,-17 0,-10 0,-2-1,-9-4,-9-1,-8 1,3 2,22 3,-6 0,5 0,8 0,4 0,8-1,1-1,0-2,-2-1,-4-4,-2-2,0-3,-3-1,32-12,-22 8,-24 11,13 8,-4 0,5 0,7 0,2 0,-2 0,-2 0,-13 1,-6 1,2 5,-12 1,-1 2,3-4,7-4,2 0,-2-2,-4 3,-3-1,-4 3,-3 0,-3-1,-4 1,-4 0,-5 0,-4 0,-2 1,1-2,8-8,5-9,5-8,-2-3,-7 5,-10 10,-5 3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23T17:55:59.272"/>
    </inkml:context>
    <inkml:brush xml:id="br0">
      <inkml:brushProperty name="width" value="0.3" units="cm"/>
      <inkml:brushProperty name="height" value="0.6" units="cm"/>
      <inkml:brushProperty name="color" value="#7F7F7F"/>
      <inkml:brushProperty name="tip" value="rectangle"/>
      <inkml:brushProperty name="rasterOp" value="maskPen"/>
    </inkml:brush>
  </inkml:definitions>
  <inkml:trace contextRef="#ctx0" brushRef="#br0">1 49,'80'0,"-28"0,1 0,-2 0,2 0,14-2,4 0,4 0,1 0,3 0,1 0,8 0,-1 1,-10 1,-3 0,-12 0,-5 0,19 0,-39 0,-8-2,-6-6,14-1,31 0,29 4,-36 4,3 2,1 0,-1 3,-6 1,-2 3,-5 1,-3 2,32 16,-15 1,-7-3,-2-1,-2-4,-6-6,-9-7,-11-4,12-3,38 0,-15-1,7-1,20 0,6 0,-20 0,4 1,0-1,-1 1,0-1,0 2,-5 2,-1 1,-3 1,22 2,-8 3,-27 1,-7 1,24 9,-9-13,27-14,-5 0,10 0,-22 2,3 0,0 1,0 0,1 1,-2 1,27 2,-11 2,-38 1,-8 2,13 3,-7-1,26-7,-26-2,5-1,18-1,2-1,-6 0,-2 0,-10 1,-4 0,31-1,-40 8,-10 5,-9 5,-6 4,-5 0,-6-4,-2-2,0-1,6-1,-2 0,4-5,0-2,2-2,-1 1,-1-1,-5 0,5 0,0 0,-1 0,3 0,-5 0,1 0,7 0,-9-2,5-1,-6-1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23T17:26:07.323"/>
    </inkml:context>
    <inkml:brush xml:id="br0">
      <inkml:brushProperty name="width" value="0.3" units="cm"/>
      <inkml:brushProperty name="height" value="0.6" units="cm"/>
      <inkml:brushProperty name="color" value="#7F7F7F"/>
      <inkml:brushProperty name="tip" value="rectangle"/>
      <inkml:brushProperty name="rasterOp" value="maskPen"/>
    </inkml:brush>
  </inkml:definitions>
  <inkml:trace contextRef="#ctx0" brushRef="#br0">0 1,'0'0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23T17:59:10.982"/>
    </inkml:context>
    <inkml:brush xml:id="br0">
      <inkml:brushProperty name="width" value="0.3" units="cm"/>
      <inkml:brushProperty name="height" value="0.6" units="cm"/>
      <inkml:brushProperty name="color" value="#7F7F7F"/>
      <inkml:brushProperty name="tip" value="rectangle"/>
      <inkml:brushProperty name="rasterOp" value="maskPen"/>
    </inkml:brush>
  </inkml:definitions>
  <inkml:trace contextRef="#ctx0" brushRef="#br0">0 1,'0'0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23T17:59:10.983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1 35,'66'0,"-6"0,-18 0,-5 1,-3 1,-1 1,1 0,-2 0,-5 0,-10-1,-2 0,2-2,-3 2,12-2,-13 0,9 0,-5 0,5 0,11 0,9 0,10 0,6 0,1 0,-4 0,-8-1,-6 0,-6 0,-2-1,-4 1,-1 0,-3 0,0 1,0 0,-2-1,-2 0,2-2,4-2,-2 0,5 0,8 3,6 2,13 0,2 1,-5 1,2 1,-6 1,-3 0,-2 1,-5 0,-4 0,-2-2,-4 1,1-1,0-1,1 0,3-1,2 0,1 1,0-1,-3 0,-4-1,-2 0,-2 0,-4 0,2 0,2 0,19 0,41 1,16 2,0 2,-26 0,-32-1,-5 0,4 0,7 1,3-1,1 0,-3 0,-4-1,-6-1,-4 0,-3-1,-6 0,-3-1,-2 0,-1 0,-1 0,2 0,-1 0,2-2,3-2,0-3,2-3,6 1,3 1,4 2,2 2,-9 0,-9 2,-9 1,-8 0,14-3,3-1,13-1,-6 1,-6 2,-6 1,-5 0,0-1,0 0,-1 0,3 1,-4 0,0 1,2 0,1 1,1 0,-3 0,0 1,6 0,-3 1,6 1,-4-1,4 1,4 0,1 0,1-1,-2-1,-2 1,-1-1,-1 1,0-1,-6 1,-3 0,0 0,-5 1,11 1,-9-1,10 1,-6-2,2 0,0 0,3-1,6 0,10-2,15-4,-2-1,-5 0,-3 1,-3 5,9 0,5 0,0 0,1 0,2 0,-6 0,-10 0,-9 1,-9 0,-5 0,-3 0,5-1,-6 0,8 0,0 0,7 0,5-1,3 0,-2-1,-3-1,-1 1,-3 1,-1 0,0 1,1 0,1 0,1 0,0 0,-2 0,0-1,0-2,4-6,-3 0,-6 1,-1 3,5 6,21-1,8 0,1 0,-6 0,-10 2,1 0,-1 1,-6 0,-7 0,-5 0,-4 0,3-1,3 0,6-1,6 1,3 0,3 0,-1 1,-1-1,-5 0,0 0,-2 1,0 0,3-1,-2-1,1 0,-2 0,-2 0,-2-1,-6 0,-2 0,0 0,3 0,3 0,3 0,2 0,4-1,4-1,2-1,-1-1,1 1,-3 0,-4 0,-7 0,-5 0,-3 0,-2 0,1 0,-1-2,0 1,0-2,3-2,-3 2,-6 1,4 4,0 2,14 0,7-1,-1 0,-2 0,-4 0,-5 0,-1 0,-3 0,-3 0,-2 0,4 0,-8 0,6 1,1 0,-1 0,5-1,-5 0,1 0,-1 0,0 0,2 0,2 0,1 0,4 1,-2 0,-1 1,-3-1,-3 0,0 1,0-1,-2 0,-1-1,1 0,-2 0,10 0,-4 0,10 0,-4 0,3 0,3 0,4 0,0 0,0 0,-6 0,-5 0,-5 0,-10 0,-3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23T17:59:10.984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 0,'103'5,"-10"0,-36 2,-13-1,-14-2,-9-2,-4 0,-1-1,1-1,1 1,9-1,7 0,10 0,8 0,6 0,9 0,8 0,10 0,8 0,1 0,-4 1,-14 1,-18 1,-18 1,-13-1,-5-1,-8-1,5 0,16 0,21 0,39-1,-40 0,1 1,2 1,0 1,1 0,0 0,-6 2,-1 0,48 5,-10 1,-21-1,-20 0,-12-4,-3-2,9-2,8-2,6 0,-3 0,-6 0,-4 0,-5 0,-4 0,-6 0,-6 0,-2 0,-1-1,-1 0,0 0,0 0,1 1,-1 0,0 0,0 0,1 0,5 0,10 0,14 0,18 0,10-3,8-3,-2-3,-7-3,-11 1,-12 2,-7 2,-6 2,-1 1,1-1,2 2,0 0,-2 1,-3 1,-3 0,-3 1,0 0,0 0,-3 1,0 2,-2 2,-1 2,-1-1,-1-1,-1-2,-5 0,-5-1,-1 4,22-4,29 2,34-4,8 0,-8 0,-20 0,-23 0,-15 0,-11 0,-2 0,10 0,10 0,9 0,6 0,-1 0,-1 0,-5 1,-3 0,-6 1,-8 0,-7-1,-6 0,-4-1,0 0,0 0,0-2,1-1,-1-2,3-1,0 2,1 1,-2 1,-4 1,-1 0,1-2,-2 0,1-1,-3 1,0-1,2 0,-1 1,-1-1,1 1,1 0,2-1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23T17:59:10.985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0 43,'58'-1,"0"-1,9 0,3-2,7 0,1 0,1-1,-2 1,-13 1,-3 0,31 1,-27 2,-17 0,-2 0,6-2,3 0,4-1,-3 1,-2 2,-4 0,-5 0,-7 0,-10 0,-10 2,-2 0,40-1,47 1,-13 0,9 1,-28 0,2 0,-3 1,21 3,-6 2,-16-1,-9 1,-2 5,-10-3,2-2,5-2,2-3,-10-1,-16-1,-8 0,11-1,49 1,-6-3,9-1,14 0,5 0,-24 1,3 0,-1 0,-2-1,0 1,-2 1,22-1,-3 2,-10-1,-7 0,20 0,-46 0,-19 0,22 0,34 0,-19 0,6 0,3-1,-2 2,-12-1,-4 1,32 3,-55 2,-13 0,-6-1,-4-1,-1-2,-1-1,1-1,1 0,3 0,2 0,2 0,5 0,2-1,3-2,-2-1,-2 1,-3 1,-4 0,-3 2,-4 0,-1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23T17:59:10.986"/>
    </inkml:context>
    <inkml:brush xml:id="br0">
      <inkml:brushProperty name="width" value="0.3" units="cm"/>
      <inkml:brushProperty name="height" value="0.6" units="cm"/>
      <inkml:brushProperty name="color" value="#BF9DE3"/>
      <inkml:brushProperty name="tip" value="rectangle"/>
      <inkml:brushProperty name="rasterOp" value="maskPen"/>
    </inkml:brush>
  </inkml:definitions>
  <inkml:trace contextRef="#ctx0" brushRef="#br0">1 65,'68'0,"4"0,-2 0,-9 0,-12 0,-9 0,0 0,3 0,1 0,3 0,-1 0,-5 1,-5 0,-3 2,-2 0,-1 0,-1 2,0-1,1 1,2-1,2-1,5 1,2-1,6 1,-1-2,0 0,-7-1,-12-1,13-1,35-6,2 1,10 0,-18 1,3-1,0 2,1-1,1 1,-3 0,24 0,-7 1,-31 3,-6 0,21 4,-30 3,-15 1,-7 1,-1-2,3-1,3-1,3-1,2-1,-1 0,0 0,0 0,0 0,-2-1,0-1,-1-1,4 0,2 0,0 0,-1-2,-2-1,-3 1,-3 0,-3 2,-2 0,-2 0,-1 0,1 0,0 0,4-2,4-1,2-2,3-2,0-2,-1-1,1-1,2 1,-1 1,-2 2,-2 1,-5 1,-2 2,-4 0,-2 1,9-3,-5 1,5-2,-8 3,-4 0,9 1,-8 1,9 0,-7 6,-3-2,2 3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23T17:59:10.987"/>
    </inkml:context>
    <inkml:brush xml:id="br0">
      <inkml:brushProperty name="width" value="0.3" units="cm"/>
      <inkml:brushProperty name="height" value="0.6" units="cm"/>
      <inkml:brushProperty name="color" value="#009688"/>
      <inkml:brushProperty name="tip" value="rectangle"/>
      <inkml:brushProperty name="rasterOp" value="maskPen"/>
    </inkml:brush>
  </inkml:definitions>
  <inkml:trace contextRef="#ctx0" brushRef="#br0">1 0,'59'0,"0"0,4 0,1 1,9 0,2 2,0 1,0 2,-4 0,0 2,6 2,0 1,-6 0,-1-1,-7-1,-3 0,-9-2,-5-1,10-1,-18-3,2-2,34-3,-6 0,10-1,-9 0,6 0,3 0,-6 1,3 0,2 0,1 0,1 1,2 0,-1 0,0 0,-4 1,0 0,0 0,-2 1,18 1,-1 1,-5 0,-16 1,-4 0,-2 0,17 3,-6 1,-19 0,-6 0,14 1,-30-2,-20-3,-8 0,20-1,51-5,-17-1,6 0,19-2,3 1,8 0,-1 0,-8 2,-2 1,-9 0,-3 2,-14 0,-4 0,29 0,-18 0,-8 0,-3-1,-8-1,-10-1,-7 0,2 1,22 2,-6 0,5 0,9 0,2 0,9-1,2 0,-2-1,0-1,-6-2,-1-1,0-1,-2-2,30-5,-21 3,-24 7,13 4,-4 0,6 0,6 0,1 0,0 0,-3 0,-13 0,-6 2,2 1,-12 2,-1 0,4-2,7-1,1-1,-2-1,-4 1,-3 1,-3 0,-3 1,-4-1,-4 1,-3 0,-5 0,-4-1,-3 1,3 0,6-6,6-4,5-4,-4-3,-4 4,-12 5,-4 2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23T17:59:10.988"/>
    </inkml:context>
    <inkml:brush xml:id="br0">
      <inkml:brushProperty name="width" value="0.3" units="cm"/>
      <inkml:brushProperty name="height" value="0.6" units="cm"/>
      <inkml:brushProperty name="color" value="#7F7F7F"/>
      <inkml:brushProperty name="tip" value="rectangle"/>
      <inkml:brushProperty name="rasterOp" value="maskPen"/>
    </inkml:brush>
  </inkml:definitions>
  <inkml:trace contextRef="#ctx0" brushRef="#br0">1 20,'78'0,"-26"0,0 0,-1 0,1 0,14 0,4-1,3 0,2 0,3 0,1 1,7-1,0 0,-9 1,-4 0,-12 0,-5 0,19 0,-39 0,-7-1,-7-2,15-1,30 1,28 0,-34 3,2 0,0 1,0 0,-5 2,-3 0,-5 1,-2 0,30 8,-14-1,-7 0,-1-1,-3-2,-5-2,-10-3,-10-2,10-1,39 0,-15 0,7-1,20 0,6 0,-20 1,3-1,1 1,-1-1,0 0,-1 1,-4 1,-1 0,-2 1,21 0,-9 2,-26 0,-6 1,22 3,-7-5,25-6,-5 1,12-2,-24 2,4 0,0 0,0 1,1 0,-2 0,26 1,-10 1,-38 0,-8 1,13 1,-6 0,24-3,-24-1,4 0,18 0,2-2,-6 1,-3 0,-9 0,-4 1,31-1,-40 3,-9 2,-9 3,-6 1,-6 0,-5-2,-2 0,0-1,5 0,-1 0,4-2,0-1,1-1,0 0,-1 0,-5 0,5 0,0 0,-1 0,1 0,-2 0,0 0,6 0,-8-1,5 0,-6-1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23T18:01:26.077"/>
    </inkml:context>
    <inkml:brush xml:id="br0">
      <inkml:brushProperty name="width" value="0.3" units="cm"/>
      <inkml:brushProperty name="height" value="0.6" units="cm"/>
      <inkml:brushProperty name="color" value="#0069AF"/>
      <inkml:brushProperty name="tip" value="rectangle"/>
      <inkml:brushProperty name="rasterOp" value="maskPen"/>
    </inkml:brush>
  </inkml:definitions>
  <inkml:trace contextRef="#ctx0" brushRef="#br0">0 52,'82'-2,"-1"-1,15 1,5 0,-19 1,3-1,1 1,0 0,1 0,-2 3,-3 1,-2 3,-1 2,-8 2,-1 3,-4 2,19 9,-6 4,-9 2,-4 0,-15-6,-5-2,15 5,-22-13,-16-11,4-8,23-13,20-11,22-5,-37 19,2 3,3 3,3 4,3 2,0 1,-3 2,-3 0,40 0,-31 2,-25 1,-12 0,-1-1,11-2,16 0,5 0,23 0,-32-2,6 1,2-1,7 1,4 0,12-1,4 1,1 0,5 2,1 1,-1 2,-3 1,-1 3,-7 0,9 6,-8 1,-19 1,-4-2,-10-6,0-5,9-8,5-5,20-6,11-2,-6 4,8 0,2 2,-22 3,1 1,1 1,-3 1,20 1,-3 2,-4 1,-15 3,-5 1,-8 2,33 8,-45-1,-23-5,16-5,41-9,-21 0,8 0,-2 3,6-1,0 1,2 0,1 0,-3 1,-5 2,-3 1,-3 0,15 1,-9 0,4-1,10-13,-22 1,7-1,23-2,10 0,-13 5,6 1,-1 2,-2 3,-1 3,-3 1,-12 3,-2 1,-6 2,9 2,-13 3,-15 9,-27-7,-10-4,-4-3,3 6,-2 1,3 0,2-2,-1-6,11-1,5-1,12-2,10 0,6 0,4 0,-2 0,-1 0,-5-1,-1-3,2-3,1-4,-1-1,-4 1,-8 2,-9 2,-7 2,-8 3,-3 0,-2 2,-1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23T18:01:30.964"/>
    </inkml:context>
    <inkml:brush xml:id="br0">
      <inkml:brushProperty name="width" value="0.3" units="cm"/>
      <inkml:brushProperty name="height" value="0.6" units="cm"/>
      <inkml:brushProperty name="color" value="#0069AF"/>
      <inkml:brushProperty name="tip" value="rectangle"/>
      <inkml:brushProperty name="rasterOp" value="maskPen"/>
    </inkml:brush>
  </inkml:definitions>
  <inkml:trace contextRef="#ctx0" brushRef="#br0">1 199,'49'-9,"1"-1,8-4,3-2,12-5,4-1,11 1,3 0,5 3,2 2,-30 8,0 2,-1 1,22 0,-4 2,-16 1,-5 1,28 1,-51 0,-13 0,-5 0,7 0,20 0,16 0,27 0,-37 0,1 0,3 0,1 0,1 1,-1 0,-8 2,-2 0,32 5,-20 3,-15-1,-10-2,-9-4,-6-2,-6-2,3 0,19 0,10 1,10 2,22 2,7 1,-23 0,3 0,0 2,1-1,1 2,-3 0,13 5,-5 0,-12-2,-6 0,31 8,-34-7,-20-7,-13-4,-2-2,16 0,48 0,-11 0,16 0,6 0,-5 0,5 0,3 0,1 0,-15 1,1 0,1 0,0 0,-1 1,18 1,0 0,-4 0,-7 2,-3 1,-8 1,-6 1,1 3,-10-1,8 2,-52-7,-25-6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23T18:02:05.694"/>
    </inkml:context>
    <inkml:brush xml:id="br0">
      <inkml:brushProperty name="width" value="0.3" units="cm"/>
      <inkml:brushProperty name="height" value="0.6" units="cm"/>
      <inkml:brushProperty name="color" value="#0069AF"/>
      <inkml:brushProperty name="tip" value="rectangle"/>
      <inkml:brushProperty name="rasterOp" value="maskPen"/>
    </inkml:brush>
  </inkml:definitions>
  <inkml:trace contextRef="#ctx0" brushRef="#br0">0 99,'74'-2,"0"-1,-4 3,0 1,-1 4,-1 1,-11 1,-4 0,32 10,-11-3,1-2,-25-3,2 2,3 1,0 0,-5 0,-3 1,26 8,-40-10,-15-6,-7-5,23-4,21-4,-7 1,5 2,6-1,1 1,3 0,-2 2,-8 1,-2 2,28 0,-26 0,-17 0,-7-3,4-3,11-7,14-2,12 1,7 5,1 6,-6 2,-17 1,-20 0,-16-2,-2 0,19 0,34 0,-5-1,7-1,8 0,0 0,-3-1,-2-1,-10 0,-7-2,12-7,-10-6,-10 0,-11 6,-2 6,6 7,45 1,-32 1,3 0,1 1,-1 2,-6 1,-5 2,5 7,-22 2,-14-6,-3-4,-1-3,6-2,4 0,2 0,-1 0,-5 0,-6 0,3 0,3 0,-1 0,1-2,-6 0,2-2,-1-3,1 2,4-3,5 0,12 1,8-1,3 1,-1 2,-6 2,-8 0,-7 0,-4-1,-4 0,-3 1,-2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23T18:02:54.244"/>
    </inkml:context>
    <inkml:brush xml:id="br0">
      <inkml:brushProperty name="width" value="0.3" units="cm"/>
      <inkml:brushProperty name="height" value="0.6" units="cm"/>
      <inkml:brushProperty name="color" value="#BF9DE3"/>
      <inkml:brushProperty name="tip" value="rectangle"/>
      <inkml:brushProperty name="rasterOp" value="maskPen"/>
    </inkml:brush>
  </inkml:definitions>
  <inkml:trace contextRef="#ctx0" brushRef="#br0">1 22,'86'0,"-29"3,4 4,20 9,6 5,-24-3,2 2,-1 1,3 5,1 1,-2 1,-3 0,-1 1,-2-2,24 9,-4-4,-12-6,-3-3,30 3,-27-21,9-23,-18 1,7-2,20-5,7-2,-20 9,4-1,0 3,2 1,0 3,0 0,-2 3,-1 2,0 1,-5 2,-2 1,-1 1,22 0,-4 2,-8 2,-4 2,-10 0,-5 3,37 8,-31 0,-29-5,-16-5,0-3,35-9,36-17,-10 1,10-3,-12 2,5-2,3 1,-13 6,2 0,0 1,2 1,1 1,2 1,0 1,-2 2,18 0,-2 2,-2 3,-12 4,-2 2,-3 2,18 2,-5 4,-15 2,-7 2,-17 0,-3 0,45 6,-29-14,9-3,7-1,10-2,2 2,-16 1,3 1,0 0,0 2,0 2,1 0,-2 2,-2 2,12 2,-2 2,-10 3,-5 6,-10 1,24 12,-37-17,-15-10,27-20,13-3,12-2,-17 5,4 0,2 0,7 1,1 0,-1 1,-4 4,-2 0,-5 3,6 4,-7 1,-13 1,-7 1,15 3,-32 0,-9-6,27-13,26-4,15-2,-16 4,6 1,1 0,11-1,2 1,0 2,1 2,-1 1,-5 5,13 5,-8 5,-11 2,-5 4,-18 1,-5 3,17 16,-29-7,-15-9,-12-5,-5-6,5-5,1-2,4 0,-4 0,0 0,-5 0,13 0,-10 0,6-1,-4-2,-8 0,4-1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23T18:03:02.094"/>
    </inkml:context>
    <inkml:brush xml:id="br0">
      <inkml:brushProperty name="width" value="0.3" units="cm"/>
      <inkml:brushProperty name="height" value="0.6" units="cm"/>
      <inkml:brushProperty name="color" value="#BF9DE3"/>
      <inkml:brushProperty name="tip" value="rectangle"/>
      <inkml:brushProperty name="rasterOp" value="maskPen"/>
    </inkml:brush>
  </inkml:definitions>
  <inkml:trace contextRef="#ctx0" brushRef="#br0">0 35,'98'0,"-45"0,0 0,2 0,-2 0,45 3,-29 1,-16 1,6 0,5-3,7-2,-2 2,-22 1,-9 2,-12 0,-5-2,-3 0,1 0,3-1,5-1,7-1,1 0,3 0,0 0,2 0,4 0,3 0,3-2,1-2,3-4,-1 0,-2 1,-5-1,-5 2,-6-1,-3 2,-5 2,-1 1,0 2,2-1,2-1,3-1,1-2,1 1,-2 1,-3 1,-1 2,0 0,3 0,0 0,0 0,-3 0,-5 0,-3 0,0 0,1 0,-1 2,0 1,-3 1,0 2,1-2,-1 0,0-2,1-1,0-1,2 0,1 0,0 0,0 0,2 0,0 0,0 0,3 0,0 0,2-2,3-1,0-1,-2-1,-2 3,-4 0,-2 2,1 0,0 0,2 1,-2 4,-2 9,-4 6,-4 1,-5-2,-7-4,-3-1,4 2,21-6,20-3,15-6,-2-1,-15-2,-12-1,-11-1,-2-2,3-2,7-3,7-2,6 1,-1 2,0 3,-3 2,2 2,4 1,3 1,1 1,-4 0,-9 0,-7 0,-5 0,-4 0,0 0,0 0,0 0,2 0,0 0,0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23T18:04:12.894"/>
    </inkml:context>
    <inkml:brush xml:id="br0">
      <inkml:brushProperty name="width" value="0.3" units="cm"/>
      <inkml:brushProperty name="height" value="0.6" units="cm"/>
      <inkml:brushProperty name="color" value="#009688"/>
      <inkml:brushProperty name="tip" value="rectangle"/>
      <inkml:brushProperty name="rasterOp" value="maskPen"/>
    </inkml:brush>
  </inkml:definitions>
  <inkml:trace contextRef="#ctx0" brushRef="#br0">0 0,'80'0,"-28"2,2 2,5 1,2 3,7 2,0 3,-6 3,-1 3,-6-1,-3 2,-2 1,-1-1,32 14,-18-13,-15-11,-15-8,3-2,-1 0,0 0,13-4,23-4,-22 2,3 1,10 0,2 0,1 2,-1 1,-3 1,-2 1,-5 0,-3 0,36 5,-6 4,5 4,-36-7,2-1,3-1,2-1,0-1,0-1,-4-2,-1 0,0-2,2 0,5 0,3-1,6 1,2 0,6 1,1 1,-3 0,0 2,-4-1,1 1,1 2,1 1,-3 1,0 1,-4-1,-4 1,34 2,-18-5,8-12,-37 0,2-1,13-2,0 0,-8 1,-3 0,25-1,-27 10,-24 2,2 0,5-1,8-2,1-2,-2-3,-5 0,-4 0,1 1,7 2,14 2,12 0,11 3,5 0,-3 0,-7 0,-8 0,-9 0,-5 0,-6 0,-3 0,0 0,-3 0,1-8,-2-6,-3-8,-3-1,-2 5,-5 6,-5 6,-9 3,-3 3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23T18:04:17.011"/>
    </inkml:context>
    <inkml:brush xml:id="br0">
      <inkml:brushProperty name="width" value="0.3" units="cm"/>
      <inkml:brushProperty name="height" value="0.6" units="cm"/>
      <inkml:brushProperty name="color" value="#009688"/>
      <inkml:brushProperty name="tip" value="rectangle"/>
      <inkml:brushProperty name="rasterOp" value="maskPen"/>
    </inkml:brush>
  </inkml:definitions>
  <inkml:trace contextRef="#ctx0" brushRef="#br0">1 111,'80'0,"0"0,15 0,2 0,-30 0,0 0,0 0,3 0,2 0,-3 1,23 0,-4 2,-14 0,-4 2,-8-1,-4 1,29 2,-28-3,-14-3,19-6,-10-1,7-2,21-2,8-1,-14 1,4 1,0 0,2 1,0 1,0 0,-1 2,-1 1,-1 0,-5 2,-1 0,-3 1,16 0,-6 2,-11-1,-4 0,25 0,-17 0,1 0,-4 0,-8 0,-20 0,-22 0,2 0,10 0,21-3,25-3,21-3,-43 4,1 0,-1 2,-1 0,44 1,-21 2,-25 0,-22 2,-14 2,-10 2,-37 12,8-11,-29 9,14-9,-3 1,5 1,7-1,11-3,4 1,0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23T18:05:02.912"/>
    </inkml:context>
    <inkml:brush xml:id="br0">
      <inkml:brushProperty name="width" value="0.3" units="cm"/>
      <inkml:brushProperty name="height" value="0.6" units="cm"/>
      <inkml:brushProperty name="color" value="#7F7F7F"/>
      <inkml:brushProperty name="tip" value="rectangle"/>
      <inkml:brushProperty name="rasterOp" value="maskPen"/>
    </inkml:brush>
  </inkml:definitions>
  <inkml:trace contextRef="#ctx0" brushRef="#br0">1 79,'62'0,"0"0,7 1,-1 1,0 3,0 3,3 4,-1 3,-7 3,-2 3,-5 2,-2 2,-7-1,-3 0,29 14,-17-12,-15-15,-8-9,9-6,10-6,25-5,-26 6,3 0,6 0,2 1,5 1,-1 2,-4 1,-3 1,33 0,-23 3,-18 0,-7 0,10-4,16-8,10-7,-6 0,4 4,-25 6,8 0,15 1,11 0,4 0,-13 1,4 0,1 1,0 0,2 0,2 0,-2 1,-1 1,18-1,-3 2,-10 2,-9 1,-10 2,30 3,-47 0,-24 0,36-6,-1-7,9-3,23-2,6 0,-22 4,3 0,-1 0,-5 1,-1 1,-3 2,17 2,-8 1,-18 2,-6 0,11 0,-27 0,26 0,-9 0,8 0,27 0,7 0,-26 0,3 0,-1 2,1 2,0 1,-1 2,-8 1,-1 3,-3 0,18 7,-4 2,-11 0,-4-2,24 4,-29-12,-4-8,12-10,16-3,-34 4,2 1,41-4,-14 7,-17 1,-22 2,-12 0,-7 0,-1 0,1 0,4 0,1 0,-2 1,-6 1,-3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347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1342" y="0"/>
            <a:ext cx="2946347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31599"/>
            <a:ext cx="2946347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1342" y="9431599"/>
            <a:ext cx="2946347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2" name="Google Shape;7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8" name="Google Shape;7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" name="Google Shape;8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0" name="Google Shape;9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392fadabb0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392fadabb0_0_55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300" cy="4468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g3392fadabb0_0_55:notes"/>
          <p:cNvSpPr txBox="1">
            <a:spLocks noGrp="1"/>
          </p:cNvSpPr>
          <p:nvPr>
            <p:ph type="sldNum" idx="12"/>
          </p:nvPr>
        </p:nvSpPr>
        <p:spPr>
          <a:xfrm>
            <a:off x="3851342" y="9431599"/>
            <a:ext cx="2946300" cy="496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0" name="Google Shape;11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" name="Google Shape;12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1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" name="Google Shape;13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3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1" name="Google Shape;15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5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6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9" name="Google Shape;16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6" name="Google Shape;17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3" name="Google Shape;18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9" name="Google Shape;18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5" name="Google Shape;19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2" name="Google Shape;20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2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8" name="Google Shape;20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3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4" name="Google Shape;21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4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1" name="Google Shape;22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5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7" name="Google Shape;22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392fadabb0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392fadabb0_0_65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300" cy="4468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g3392fadabb0_0_65:notes"/>
          <p:cNvSpPr txBox="1">
            <a:spLocks noGrp="1"/>
          </p:cNvSpPr>
          <p:nvPr>
            <p:ph type="sldNum" idx="12"/>
          </p:nvPr>
        </p:nvSpPr>
        <p:spPr>
          <a:xfrm>
            <a:off x="3851342" y="9431599"/>
            <a:ext cx="2946300" cy="496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0" name="Google Shape;24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7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6" name="Google Shape;24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0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4" name="Google Shape;26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1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1" name="Google Shape;27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2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7" name="Google Shape;277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3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4" name="Google Shape;284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4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1" name="Google Shape;291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5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8" name="Google Shape;298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6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4" name="Google Shape;304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>
          <a:extLst>
            <a:ext uri="{FF2B5EF4-FFF2-40B4-BE49-F238E27FC236}">
              <a16:creationId xmlns:a16="http://schemas.microsoft.com/office/drawing/2014/main" id="{CD5E163F-B89E-12EE-BE4E-BB30771E9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6:notes">
            <a:extLst>
              <a:ext uri="{FF2B5EF4-FFF2-40B4-BE49-F238E27FC236}">
                <a16:creationId xmlns:a16="http://schemas.microsoft.com/office/drawing/2014/main" id="{9D691388-D151-6354-F5B3-0C1750491B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4" name="Google Shape;304;p36:notes">
            <a:extLst>
              <a:ext uri="{FF2B5EF4-FFF2-40B4-BE49-F238E27FC236}">
                <a16:creationId xmlns:a16="http://schemas.microsoft.com/office/drawing/2014/main" id="{72D23000-A646-52C0-8EF6-1100F483B2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6575156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7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0" name="Google Shape;310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2855d404b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00" cy="3724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g22855d404b0_0_0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300" cy="44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7" name="Google Shape;317;g22855d404b0_0_0:notes"/>
          <p:cNvSpPr txBox="1">
            <a:spLocks noGrp="1"/>
          </p:cNvSpPr>
          <p:nvPr>
            <p:ph type="sldNum" idx="12"/>
          </p:nvPr>
        </p:nvSpPr>
        <p:spPr>
          <a:xfrm>
            <a:off x="3851342" y="9431599"/>
            <a:ext cx="2946300" cy="4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/>
              <a:t>45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8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2" name="Google Shape;322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9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8" name="Google Shape;328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0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4" name="Google Shape;334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1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1" name="Google Shape;341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2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7" name="Google Shape;347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3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4" name="Google Shape;354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4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0" name="Google Shape;360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5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6" name="Google Shape;366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6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2" name="Google Shape;372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7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8" name="Google Shape;378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8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4" name="Google Shape;384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9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0" name="Google Shape;390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0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6" name="Google Shape;396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1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2" name="Google Shape;402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2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8" name="Google Shape;408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3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4" name="Google Shape;414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4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0" name="Google Shape;420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5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7" name="Google Shape;427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6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3" name="Google Shape;433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392fadabb0_0_4"/>
          <p:cNvSpPr/>
          <p:nvPr/>
        </p:nvSpPr>
        <p:spPr>
          <a:xfrm>
            <a:off x="80700" y="3534800"/>
            <a:ext cx="8982600" cy="3215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g3392fadabb0_0_4"/>
          <p:cNvSpPr txBox="1">
            <a:spLocks noGrp="1"/>
          </p:cNvSpPr>
          <p:nvPr>
            <p:ph type="ctrTitle"/>
          </p:nvPr>
        </p:nvSpPr>
        <p:spPr>
          <a:xfrm>
            <a:off x="485875" y="352633"/>
            <a:ext cx="8183700" cy="196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6" name="Google Shape;16;g3392fadabb0_0_4"/>
          <p:cNvSpPr txBox="1">
            <a:spLocks noGrp="1"/>
          </p:cNvSpPr>
          <p:nvPr>
            <p:ph type="subTitle" idx="1"/>
          </p:nvPr>
        </p:nvSpPr>
        <p:spPr>
          <a:xfrm>
            <a:off x="485875" y="2317433"/>
            <a:ext cx="8183700" cy="114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7" name="Google Shape;17;g3392fadabb0_0_4"/>
          <p:cNvSpPr txBox="1">
            <a:spLocks noGrp="1"/>
          </p:cNvSpPr>
          <p:nvPr>
            <p:ph type="sldNum" idx="12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392fadabb0_0_9"/>
          <p:cNvSpPr/>
          <p:nvPr/>
        </p:nvSpPr>
        <p:spPr>
          <a:xfrm>
            <a:off x="80700" y="3534800"/>
            <a:ext cx="8982600" cy="3215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g3392fadabb0_0_9"/>
          <p:cNvSpPr txBox="1">
            <a:spLocks noGrp="1"/>
          </p:cNvSpPr>
          <p:nvPr>
            <p:ph type="title"/>
          </p:nvPr>
        </p:nvSpPr>
        <p:spPr>
          <a:xfrm>
            <a:off x="485875" y="2286000"/>
            <a:ext cx="8183700" cy="10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g3392fadabb0_0_9"/>
          <p:cNvSpPr txBox="1">
            <a:spLocks noGrp="1"/>
          </p:cNvSpPr>
          <p:nvPr>
            <p:ph type="sldNum" idx="12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392fadabb0_0_13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g3392fadabb0_0_13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g3392fadabb0_0_13"/>
          <p:cNvSpPr txBox="1">
            <a:spLocks noGrp="1"/>
          </p:cNvSpPr>
          <p:nvPr>
            <p:ph type="sldNum" idx="12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392fadabb0_0_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g3392fadabb0_0_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g3392fadabb0_0_17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g3392fadabb0_0_17"/>
          <p:cNvSpPr txBox="1">
            <a:spLocks noGrp="1"/>
          </p:cNvSpPr>
          <p:nvPr>
            <p:ph type="sldNum" idx="12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392fadabb0_0_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g3392fadabb0_0_22"/>
          <p:cNvSpPr txBox="1">
            <a:spLocks noGrp="1"/>
          </p:cNvSpPr>
          <p:nvPr>
            <p:ph type="sldNum" idx="12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392fadabb0_0_25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" name="Google Shape;36;g3392fadabb0_0_25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g3392fadabb0_0_25"/>
          <p:cNvSpPr txBox="1">
            <a:spLocks noGrp="1"/>
          </p:cNvSpPr>
          <p:nvPr>
            <p:ph type="sldNum" idx="12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2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392fadabb0_0_29"/>
          <p:cNvSpPr txBox="1">
            <a:spLocks noGrp="1"/>
          </p:cNvSpPr>
          <p:nvPr>
            <p:ph type="title"/>
          </p:nvPr>
        </p:nvSpPr>
        <p:spPr>
          <a:xfrm>
            <a:off x="490250" y="701800"/>
            <a:ext cx="56040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g3392fadabb0_0_29"/>
          <p:cNvSpPr txBox="1">
            <a:spLocks noGrp="1"/>
          </p:cNvSpPr>
          <p:nvPr>
            <p:ph type="sldNum" idx="12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392fadabb0_0_32"/>
          <p:cNvSpPr/>
          <p:nvPr/>
        </p:nvSpPr>
        <p:spPr>
          <a:xfrm>
            <a:off x="4636800" y="107600"/>
            <a:ext cx="4426500" cy="66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g3392fadabb0_0_32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g3392fadabb0_0_32"/>
          <p:cNvSpPr txBox="1">
            <a:spLocks noGrp="1"/>
          </p:cNvSpPr>
          <p:nvPr>
            <p:ph type="title"/>
          </p:nvPr>
        </p:nvSpPr>
        <p:spPr>
          <a:xfrm>
            <a:off x="265500" y="1575600"/>
            <a:ext cx="4045200" cy="204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5" name="Google Shape;45;g3392fadabb0_0_32"/>
          <p:cNvSpPr txBox="1">
            <a:spLocks noGrp="1"/>
          </p:cNvSpPr>
          <p:nvPr>
            <p:ph type="subTitle" idx="1"/>
          </p:nvPr>
        </p:nvSpPr>
        <p:spPr>
          <a:xfrm>
            <a:off x="265500" y="3692001"/>
            <a:ext cx="4045200" cy="17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6" name="Google Shape;46;g3392fadabb0_0_32"/>
          <p:cNvSpPr txBox="1">
            <a:spLocks noGrp="1"/>
          </p:cNvSpPr>
          <p:nvPr>
            <p:ph type="body" idx="2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g3392fadabb0_0_32"/>
          <p:cNvSpPr txBox="1">
            <a:spLocks noGrp="1"/>
          </p:cNvSpPr>
          <p:nvPr>
            <p:ph type="sldNum" idx="12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392fadabb0_0_39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>
            <a:endParaRPr/>
          </a:p>
        </p:txBody>
      </p:sp>
      <p:sp>
        <p:nvSpPr>
          <p:cNvPr id="50" name="Google Shape;50;g3392fadabb0_0_39"/>
          <p:cNvSpPr txBox="1">
            <a:spLocks noGrp="1"/>
          </p:cNvSpPr>
          <p:nvPr>
            <p:ph type="sldNum" idx="12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392fadabb0_0_42"/>
          <p:cNvSpPr/>
          <p:nvPr/>
        </p:nvSpPr>
        <p:spPr>
          <a:xfrm>
            <a:off x="80700" y="3534800"/>
            <a:ext cx="8982600" cy="3215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g3392fadabb0_0_42"/>
          <p:cNvSpPr txBox="1">
            <a:spLocks noGrp="1"/>
          </p:cNvSpPr>
          <p:nvPr>
            <p:ph type="title" hasCustomPrompt="1"/>
          </p:nvPr>
        </p:nvSpPr>
        <p:spPr>
          <a:xfrm>
            <a:off x="311700" y="990668"/>
            <a:ext cx="8520600" cy="267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g3392fadabb0_0_42"/>
          <p:cNvSpPr txBox="1">
            <a:spLocks noGrp="1"/>
          </p:cNvSpPr>
          <p:nvPr>
            <p:ph type="body" idx="1"/>
          </p:nvPr>
        </p:nvSpPr>
        <p:spPr>
          <a:xfrm>
            <a:off x="311700" y="3793576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g3392fadabb0_0_42"/>
          <p:cNvSpPr txBox="1">
            <a:spLocks noGrp="1"/>
          </p:cNvSpPr>
          <p:nvPr>
            <p:ph type="sldNum" idx="12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92fadabb0_0_47"/>
          <p:cNvSpPr txBox="1">
            <a:spLocks noGrp="1"/>
          </p:cNvSpPr>
          <p:nvPr>
            <p:ph type="sldNum" idx="12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392fadabb0_0_49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g3392fadabb0_0_49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2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marL="914400" lvl="1" indent="-342900" algn="l" rtl="0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61" name="Google Shape;61;g3392fadabb0_0_49"/>
          <p:cNvSpPr txBox="1">
            <a:spLocks noGrp="1"/>
          </p:cNvSpPr>
          <p:nvPr>
            <p:ph type="dt" idx="10"/>
          </p:nvPr>
        </p:nvSpPr>
        <p:spPr>
          <a:xfrm>
            <a:off x="3581400" y="630555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g3392fadabb0_0_49"/>
          <p:cNvSpPr txBox="1">
            <a:spLocks noGrp="1"/>
          </p:cNvSpPr>
          <p:nvPr>
            <p:ph type="ftr" idx="11"/>
          </p:nvPr>
        </p:nvSpPr>
        <p:spPr>
          <a:xfrm>
            <a:off x="5715000" y="6305550"/>
            <a:ext cx="2895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g3392fadabb0_0_49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lum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392fadabb0_0_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" name="Google Shape;11;g3392fadabb0_0_0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12" name="Google Shape;12;g3392fadabb0_0_0"/>
          <p:cNvSpPr txBox="1">
            <a:spLocks noGrp="1"/>
          </p:cNvSpPr>
          <p:nvPr>
            <p:ph type="sldNum" idx="12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ara.muneeb@cuilahore.edu.p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11" Type="http://schemas.openxmlformats.org/officeDocument/2006/relationships/image" Target="../media/image24.svg"/><Relationship Id="rId5" Type="http://schemas.openxmlformats.org/officeDocument/2006/relationships/image" Target="../media/image18.sv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30.png"/><Relationship Id="rId18" Type="http://schemas.openxmlformats.org/officeDocument/2006/relationships/customXml" Target="../ink/ink9.xml"/><Relationship Id="rId3" Type="http://schemas.openxmlformats.org/officeDocument/2006/relationships/image" Target="../media/image25.png"/><Relationship Id="rId7" Type="http://schemas.openxmlformats.org/officeDocument/2006/relationships/image" Target="../media/image27.png"/><Relationship Id="rId12" Type="http://schemas.openxmlformats.org/officeDocument/2006/relationships/customXml" Target="../ink/ink6.xml"/><Relationship Id="rId17" Type="http://schemas.openxmlformats.org/officeDocument/2006/relationships/image" Target="../media/image32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3.xml"/><Relationship Id="rId11" Type="http://schemas.openxmlformats.org/officeDocument/2006/relationships/image" Target="../media/image29.png"/><Relationship Id="rId5" Type="http://schemas.openxmlformats.org/officeDocument/2006/relationships/image" Target="../media/image26.png"/><Relationship Id="rId15" Type="http://schemas.openxmlformats.org/officeDocument/2006/relationships/image" Target="../media/image31.png"/><Relationship Id="rId10" Type="http://schemas.openxmlformats.org/officeDocument/2006/relationships/customXml" Target="../ink/ink5.xml"/><Relationship Id="rId19" Type="http://schemas.openxmlformats.org/officeDocument/2006/relationships/image" Target="../media/image33.png"/><Relationship Id="rId4" Type="http://schemas.openxmlformats.org/officeDocument/2006/relationships/customXml" Target="../ink/ink2.xml"/><Relationship Id="rId9" Type="http://schemas.openxmlformats.org/officeDocument/2006/relationships/image" Target="../media/image28.png"/><Relationship Id="rId14" Type="http://schemas.openxmlformats.org/officeDocument/2006/relationships/customXml" Target="../ink/ink7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.xml"/><Relationship Id="rId13" Type="http://schemas.openxmlformats.org/officeDocument/2006/relationships/image" Target="../media/image38.png"/><Relationship Id="rId18" Type="http://schemas.openxmlformats.org/officeDocument/2006/relationships/customXml" Target="../ink/ink18.xml"/><Relationship Id="rId26" Type="http://schemas.openxmlformats.org/officeDocument/2006/relationships/customXml" Target="../ink/ink22.xml"/><Relationship Id="rId3" Type="http://schemas.openxmlformats.org/officeDocument/2006/relationships/image" Target="../media/image33.png"/><Relationship Id="rId21" Type="http://schemas.openxmlformats.org/officeDocument/2006/relationships/image" Target="../media/image42.png"/><Relationship Id="rId7" Type="http://schemas.openxmlformats.org/officeDocument/2006/relationships/image" Target="../media/image35.png"/><Relationship Id="rId12" Type="http://schemas.openxmlformats.org/officeDocument/2006/relationships/customXml" Target="../ink/ink15.xml"/><Relationship Id="rId17" Type="http://schemas.openxmlformats.org/officeDocument/2006/relationships/image" Target="../media/image40.png"/><Relationship Id="rId25" Type="http://schemas.openxmlformats.org/officeDocument/2006/relationships/image" Target="../media/image26.png"/><Relationship Id="rId2" Type="http://schemas.openxmlformats.org/officeDocument/2006/relationships/customXml" Target="../ink/ink10.xml"/><Relationship Id="rId16" Type="http://schemas.openxmlformats.org/officeDocument/2006/relationships/customXml" Target="../ink/ink17.xml"/><Relationship Id="rId20" Type="http://schemas.openxmlformats.org/officeDocument/2006/relationships/customXml" Target="../ink/ink19.xml"/><Relationship Id="rId29" Type="http://schemas.openxmlformats.org/officeDocument/2006/relationships/image" Target="../media/image32.png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12.xml"/><Relationship Id="rId11" Type="http://schemas.openxmlformats.org/officeDocument/2006/relationships/image" Target="../media/image37.png"/><Relationship Id="rId24" Type="http://schemas.openxmlformats.org/officeDocument/2006/relationships/customXml" Target="../ink/ink21.xml"/><Relationship Id="rId5" Type="http://schemas.openxmlformats.org/officeDocument/2006/relationships/image" Target="../media/image34.png"/><Relationship Id="rId15" Type="http://schemas.openxmlformats.org/officeDocument/2006/relationships/image" Target="../media/image39.png"/><Relationship Id="rId23" Type="http://schemas.openxmlformats.org/officeDocument/2006/relationships/image" Target="../media/image43.png"/><Relationship Id="rId28" Type="http://schemas.openxmlformats.org/officeDocument/2006/relationships/customXml" Target="../ink/ink23.xml"/><Relationship Id="rId10" Type="http://schemas.openxmlformats.org/officeDocument/2006/relationships/customXml" Target="../ink/ink14.xml"/><Relationship Id="rId19" Type="http://schemas.openxmlformats.org/officeDocument/2006/relationships/image" Target="../media/image41.png"/><Relationship Id="rId4" Type="http://schemas.openxmlformats.org/officeDocument/2006/relationships/customXml" Target="../ink/ink11.xml"/><Relationship Id="rId9" Type="http://schemas.openxmlformats.org/officeDocument/2006/relationships/image" Target="../media/image36.png"/><Relationship Id="rId14" Type="http://schemas.openxmlformats.org/officeDocument/2006/relationships/customXml" Target="../ink/ink16.xml"/><Relationship Id="rId22" Type="http://schemas.openxmlformats.org/officeDocument/2006/relationships/customXml" Target="../ink/ink20.xml"/><Relationship Id="rId27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customXml" Target="../ink/ink30.xml"/><Relationship Id="rId18" Type="http://schemas.openxmlformats.org/officeDocument/2006/relationships/image" Target="../media/image47.png"/><Relationship Id="rId26" Type="http://schemas.openxmlformats.org/officeDocument/2006/relationships/image" Target="../media/image51.png"/><Relationship Id="rId3" Type="http://schemas.openxmlformats.org/officeDocument/2006/relationships/image" Target="../media/image33.png"/><Relationship Id="rId21" Type="http://schemas.openxmlformats.org/officeDocument/2006/relationships/customXml" Target="../ink/ink34.xml"/><Relationship Id="rId7" Type="http://schemas.openxmlformats.org/officeDocument/2006/relationships/customXml" Target="../ink/ink27.xml"/><Relationship Id="rId12" Type="http://schemas.openxmlformats.org/officeDocument/2006/relationships/image" Target="../media/image26.png"/><Relationship Id="rId17" Type="http://schemas.openxmlformats.org/officeDocument/2006/relationships/customXml" Target="../ink/ink32.xml"/><Relationship Id="rId25" Type="http://schemas.openxmlformats.org/officeDocument/2006/relationships/customXml" Target="../ink/ink36.xml"/><Relationship Id="rId2" Type="http://schemas.openxmlformats.org/officeDocument/2006/relationships/customXml" Target="../ink/ink24.xml"/><Relationship Id="rId16" Type="http://schemas.openxmlformats.org/officeDocument/2006/relationships/image" Target="../media/image32.png"/><Relationship Id="rId20" Type="http://schemas.openxmlformats.org/officeDocument/2006/relationships/image" Target="../media/image48.png"/><Relationship Id="rId29" Type="http://schemas.openxmlformats.org/officeDocument/2006/relationships/customXml" Target="../ink/ink3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4.png"/><Relationship Id="rId11" Type="http://schemas.openxmlformats.org/officeDocument/2006/relationships/customXml" Target="../ink/ink29.xml"/><Relationship Id="rId24" Type="http://schemas.openxmlformats.org/officeDocument/2006/relationships/image" Target="../media/image50.png"/><Relationship Id="rId32" Type="http://schemas.openxmlformats.org/officeDocument/2006/relationships/image" Target="../media/image54.png"/><Relationship Id="rId5" Type="http://schemas.openxmlformats.org/officeDocument/2006/relationships/customXml" Target="../ink/ink26.xml"/><Relationship Id="rId15" Type="http://schemas.openxmlformats.org/officeDocument/2006/relationships/customXml" Target="../ink/ink31.xml"/><Relationship Id="rId23" Type="http://schemas.openxmlformats.org/officeDocument/2006/relationships/customXml" Target="../ink/ink35.xml"/><Relationship Id="rId28" Type="http://schemas.openxmlformats.org/officeDocument/2006/relationships/image" Target="../media/image52.png"/><Relationship Id="rId10" Type="http://schemas.openxmlformats.org/officeDocument/2006/relationships/image" Target="../media/image46.png"/><Relationship Id="rId19" Type="http://schemas.openxmlformats.org/officeDocument/2006/relationships/customXml" Target="../ink/ink33.xml"/><Relationship Id="rId31" Type="http://schemas.openxmlformats.org/officeDocument/2006/relationships/customXml" Target="../ink/ink39.xml"/><Relationship Id="rId4" Type="http://schemas.openxmlformats.org/officeDocument/2006/relationships/customXml" Target="../ink/ink25.xml"/><Relationship Id="rId9" Type="http://schemas.openxmlformats.org/officeDocument/2006/relationships/customXml" Target="../ink/ink28.xml"/><Relationship Id="rId14" Type="http://schemas.openxmlformats.org/officeDocument/2006/relationships/image" Target="../media/image29.png"/><Relationship Id="rId22" Type="http://schemas.openxmlformats.org/officeDocument/2006/relationships/image" Target="../media/image49.png"/><Relationship Id="rId27" Type="http://schemas.openxmlformats.org/officeDocument/2006/relationships/customXml" Target="../ink/ink37.xml"/><Relationship Id="rId30" Type="http://schemas.openxmlformats.org/officeDocument/2006/relationships/image" Target="../media/image53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svg"/><Relationship Id="rId7" Type="http://schemas.openxmlformats.org/officeDocument/2006/relationships/image" Target="../media/image64.sv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3.png"/><Relationship Id="rId11" Type="http://schemas.openxmlformats.org/officeDocument/2006/relationships/image" Target="../media/image68.svg"/><Relationship Id="rId5" Type="http://schemas.openxmlformats.org/officeDocument/2006/relationships/image" Target="../media/image62.sv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sv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"/>
          <p:cNvSpPr txBox="1">
            <a:spLocks noGrp="1"/>
          </p:cNvSpPr>
          <p:nvPr>
            <p:ph type="ctrTitle"/>
          </p:nvPr>
        </p:nvSpPr>
        <p:spPr>
          <a:xfrm>
            <a:off x="485875" y="352633"/>
            <a:ext cx="8183700" cy="19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Data Analysis, Interpretation and Presentation</a:t>
            </a:r>
            <a:endParaRPr/>
          </a:p>
        </p:txBody>
      </p:sp>
      <p:sp>
        <p:nvSpPr>
          <p:cNvPr id="69" name="Google Shape;69;p1"/>
          <p:cNvSpPr txBox="1">
            <a:spLocks noGrp="1"/>
          </p:cNvSpPr>
          <p:nvPr>
            <p:ph type="subTitle" idx="1"/>
          </p:nvPr>
        </p:nvSpPr>
        <p:spPr>
          <a:xfrm>
            <a:off x="1432560" y="3733800"/>
            <a:ext cx="740664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/>
          <a:p>
            <a:pPr marL="27432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80"/>
              <a:buNone/>
            </a:pPr>
            <a:r>
              <a:rPr lang="en-GB"/>
              <a:t>Sara Muneeb</a:t>
            </a:r>
            <a:endParaRPr/>
          </a:p>
          <a:p>
            <a:pPr marL="27432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80"/>
              <a:buNone/>
            </a:pPr>
            <a:r>
              <a:rPr lang="en-GB" u="sng">
                <a:solidFill>
                  <a:schemeClr val="hlink"/>
                </a:solidFill>
                <a:hlinkClick r:id="rId3"/>
              </a:rPr>
              <a:t>sara.muneeb@cuilahore.edu.pk</a:t>
            </a:r>
            <a:endParaRPr/>
          </a:p>
          <a:p>
            <a:pPr marL="27432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80"/>
              <a:buNone/>
            </a:pPr>
            <a:r>
              <a:rPr lang="en-GB"/>
              <a:t>Computer Science Department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Introduction </a:t>
            </a:r>
            <a:endParaRPr/>
          </a:p>
        </p:txBody>
      </p:sp>
      <p:sp>
        <p:nvSpPr>
          <p:cNvPr id="75" name="Google Shape;75;p2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83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GB"/>
              <a:t>Qualitative and quantitative </a:t>
            </a:r>
            <a:endParaRPr/>
          </a:p>
          <a:p>
            <a:pPr marL="365760" lvl="0" indent="-28346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GB"/>
              <a:t>Mix methods</a:t>
            </a:r>
            <a:endParaRPr/>
          </a:p>
          <a:p>
            <a:pPr marL="365760" lvl="0" indent="-28346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GB"/>
              <a:t>Ratio, averages, percentages</a:t>
            </a:r>
            <a:endParaRPr/>
          </a:p>
          <a:p>
            <a:pPr marL="365760" lvl="0" indent="-28346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GB"/>
              <a:t>Data cleansing</a:t>
            </a:r>
            <a:endParaRPr/>
          </a:p>
          <a:p>
            <a:pPr marL="365760" lvl="0" indent="-28346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GB"/>
              <a:t>Investigator beliefs and biases</a:t>
            </a:r>
            <a:endParaRPr/>
          </a:p>
          <a:p>
            <a:pPr marL="365760" lvl="0" indent="-28346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GB"/>
              <a:t>Claims that go beyond data </a:t>
            </a:r>
            <a:endParaRPr/>
          </a:p>
          <a:p>
            <a:pPr marL="365760" lvl="0" indent="-28346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GB"/>
              <a:t>Support conclusion by results</a:t>
            </a:r>
            <a:endParaRPr/>
          </a:p>
          <a:p>
            <a:pPr marL="365760" lvl="0" indent="-12090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Qualitative Data</a:t>
            </a:r>
            <a:endParaRPr/>
          </a:p>
        </p:txBody>
      </p:sp>
      <p:sp>
        <p:nvSpPr>
          <p:cNvPr id="81" name="Google Shape;81;p3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08000" indent="-457200" algn="just">
              <a:spcBef>
                <a:spcPts val="0"/>
              </a:spcBef>
              <a:buSzPts val="2800"/>
            </a:pPr>
            <a:r>
              <a:rPr lang="en-GB" sz="2800" dirty="0"/>
              <a:t>Qualitative data is in the form of words and images, and it includes descriptions, quotes from interviewees, vignettes of activity, and photos.</a:t>
            </a:r>
            <a:endParaRPr dirty="0"/>
          </a:p>
          <a:p>
            <a:pPr marL="914400" indent="-457200" algn="just"/>
            <a:endParaRPr sz="2800" dirty="0"/>
          </a:p>
          <a:p>
            <a:pPr marL="508000" indent="-457200" algn="just">
              <a:buSzPts val="2800"/>
            </a:pPr>
            <a:r>
              <a:rPr lang="en-GB" sz="2800" dirty="0"/>
              <a:t>Qualitative analysis focuses on the nature of something and can be represented by themes, patterns, and stories.</a:t>
            </a:r>
            <a:endParaRPr dirty="0"/>
          </a:p>
          <a:p>
            <a:pPr marL="914400" lvl="1" indent="-355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GB" sz="2000" dirty="0"/>
              <a:t>For example, in describing the same population, a qualitative analysis might conclude that the average person is tall, thin, and middle-aged.</a:t>
            </a:r>
            <a:endParaRPr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Quantitative Data</a:t>
            </a:r>
            <a:endParaRPr/>
          </a:p>
        </p:txBody>
      </p:sp>
      <p:sp>
        <p:nvSpPr>
          <p:cNvPr id="87" name="Google Shape;87;p4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064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GB" sz="2800"/>
              <a:t>Quantitative data is in the form of numbers, or data that can easily be translated into numbers.</a:t>
            </a:r>
            <a:endParaRPr/>
          </a:p>
          <a:p>
            <a:pPr marL="45720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800"/>
          </a:p>
          <a:p>
            <a:pPr marL="457200" lvl="0" indent="-40640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Char char="●"/>
            </a:pPr>
            <a:r>
              <a:rPr lang="en-GB" sz="2800"/>
              <a:t>Quantitative analysis uses numerical methods to ascertain the magnitude, amount, or size of something (the attributes, behavior, or strength of opinion of the participants). </a:t>
            </a:r>
            <a:endParaRPr/>
          </a:p>
          <a:p>
            <a:pPr marL="914400" lvl="1" indent="-355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GB" sz="2000"/>
              <a:t>For example, in describing a population, a quantitative analysis might conclude that the average person is 5 feet 11 inches tall, weighs 180 pounds, and is 45 years old.</a:t>
            </a:r>
            <a:endParaRPr/>
          </a:p>
          <a:p>
            <a:pPr marL="45720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"/>
          <p:cNvSpPr txBox="1">
            <a:spLocks noGrp="1"/>
          </p:cNvSpPr>
          <p:nvPr>
            <p:ph type="title"/>
          </p:nvPr>
        </p:nvSpPr>
        <p:spPr>
          <a:xfrm>
            <a:off x="64003" y="46046"/>
            <a:ext cx="50250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1</a:t>
            </a:r>
            <a:r>
              <a:rPr lang="en-GB" baseline="30000"/>
              <a:t>st</a:t>
            </a:r>
            <a:r>
              <a:rPr lang="en-GB"/>
              <a:t> Step in Analyzing Data </a:t>
            </a:r>
            <a:endParaRPr/>
          </a:p>
        </p:txBody>
      </p:sp>
      <p:pic>
        <p:nvPicPr>
          <p:cNvPr id="93" name="Google Shape;93;p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017675" y="811950"/>
            <a:ext cx="7217700" cy="595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392fadabb0_0_55"/>
          <p:cNvSpPr txBox="1"/>
          <p:nvPr/>
        </p:nvSpPr>
        <p:spPr>
          <a:xfrm>
            <a:off x="1065750" y="1340075"/>
            <a:ext cx="6952500" cy="1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 b="1" dirty="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Why perform any </a:t>
            </a:r>
            <a:endParaRPr sz="3300" b="1" dirty="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 b="1" dirty="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Analysis</a:t>
            </a:r>
            <a:endParaRPr sz="3300" b="1" dirty="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 b="1" dirty="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Right after Data Collection  ?</a:t>
            </a:r>
            <a:endParaRPr sz="3300" b="1" dirty="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0" name="Google Shape;100;g3392fadabb0_0_55"/>
          <p:cNvSpPr/>
          <p:nvPr/>
        </p:nvSpPr>
        <p:spPr>
          <a:xfrm>
            <a:off x="1065750" y="3544075"/>
            <a:ext cx="3060000" cy="1440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Get initial expressions of data</a:t>
            </a:r>
            <a:endParaRPr sz="18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1" name="Google Shape;101;g3392fadabb0_0_55"/>
          <p:cNvSpPr/>
          <p:nvPr/>
        </p:nvSpPr>
        <p:spPr>
          <a:xfrm>
            <a:off x="5186825" y="3544075"/>
            <a:ext cx="3060000" cy="1440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To see some overall patterns or trends illustrated by data</a:t>
            </a:r>
            <a:endParaRPr sz="18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Quantitative Analysis</a:t>
            </a:r>
            <a:endParaRPr/>
          </a:p>
        </p:txBody>
      </p:sp>
      <p:sp>
        <p:nvSpPr>
          <p:cNvPr id="107" name="Google Shape;107;p6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31521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60"/>
              <a:buChar char="⚫"/>
            </a:pPr>
            <a:r>
              <a:rPr lang="en-GB" sz="2300"/>
              <a:t>Percentages</a:t>
            </a:r>
            <a:endParaRPr sz="2300"/>
          </a:p>
          <a:p>
            <a:pPr marL="603504" lvl="2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GB" sz="1900"/>
              <a:t>Percentages are useful for standardizing the data, particularly to compare two or more large sets of responses.</a:t>
            </a:r>
            <a:endParaRPr sz="1900"/>
          </a:p>
          <a:p>
            <a:pPr marL="365760" lvl="0" indent="-31521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60"/>
              <a:buChar char="⚫"/>
            </a:pPr>
            <a:r>
              <a:rPr lang="en-GB" sz="2300"/>
              <a:t>Averages</a:t>
            </a:r>
            <a:endParaRPr sz="2300"/>
          </a:p>
          <a:p>
            <a:pPr marL="603504" lvl="2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GB" sz="1900" b="1"/>
              <a:t>Mean</a:t>
            </a:r>
            <a:r>
              <a:rPr lang="en-GB" sz="1900"/>
              <a:t> refers to the commonly understood interpretation of average</a:t>
            </a:r>
            <a:endParaRPr sz="1900"/>
          </a:p>
          <a:p>
            <a:pPr marL="603504" lvl="2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GB" sz="1900" b="1"/>
              <a:t>Median</a:t>
            </a:r>
            <a:r>
              <a:rPr lang="en-GB" sz="1900"/>
              <a:t> is the middle value of the data when the numbers are ranked. </a:t>
            </a:r>
            <a:endParaRPr sz="1900"/>
          </a:p>
          <a:p>
            <a:pPr marL="603504" lvl="2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GB" sz="1900" b="1"/>
              <a:t>Mode</a:t>
            </a:r>
            <a:r>
              <a:rPr lang="en-GB" sz="1900"/>
              <a:t> is the most commonly occurring number</a:t>
            </a:r>
            <a:endParaRPr sz="1900"/>
          </a:p>
          <a:p>
            <a:pPr marL="365760" lvl="0" indent="-12090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endParaRPr sz="23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How Question Design Affects Data Analysis</a:t>
            </a:r>
            <a:endParaRPr/>
          </a:p>
        </p:txBody>
      </p:sp>
      <p:sp>
        <p:nvSpPr>
          <p:cNvPr id="113" name="Google Shape;113;p7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82296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GB"/>
              <a:t>Example : http://memorymirror.com/</a:t>
            </a:r>
            <a:endParaRPr/>
          </a:p>
        </p:txBody>
      </p:sp>
      <p:pic>
        <p:nvPicPr>
          <p:cNvPr id="114" name="Google Shape;114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59738" y="2297196"/>
            <a:ext cx="7499350" cy="3951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How Question Design Affects Data Analysis</a:t>
            </a:r>
            <a:endParaRPr/>
          </a:p>
        </p:txBody>
      </p:sp>
      <p:sp>
        <p:nvSpPr>
          <p:cNvPr id="120" name="Google Shape;120;p8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25196" indent="-342900">
              <a:spcBef>
                <a:spcPts val="0"/>
              </a:spcBef>
              <a:buSzPts val="2560"/>
            </a:pPr>
            <a:r>
              <a:rPr lang="en-GB" sz="2200">
                <a:latin typeface="Source Sans Pro"/>
                <a:ea typeface="Source Sans Pro"/>
                <a:cs typeface="Source Sans Pro"/>
                <a:sym typeface="Source Sans Pro"/>
              </a:rPr>
              <a:t>Questions: “How do you feel about this new app?”</a:t>
            </a:r>
            <a:endParaRPr sz="220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889254" lvl="2" indent="-285750">
              <a:spcBef>
                <a:spcPts val="444"/>
              </a:spcBef>
              <a:buSzPts val="2400"/>
            </a:pPr>
            <a:r>
              <a:rPr lang="en-GB" sz="1800"/>
              <a:t>Responses to this will be varied and may include that it is cool, impressive, realistic, clunky, technically complex, and so on. </a:t>
            </a:r>
            <a:endParaRPr sz="1800"/>
          </a:p>
          <a:p>
            <a:pPr marL="889254" lvl="2" indent="-285750">
              <a:spcBef>
                <a:spcPts val="444"/>
              </a:spcBef>
              <a:buSzPts val="2400"/>
            </a:pPr>
            <a:endParaRPr sz="1800"/>
          </a:p>
          <a:p>
            <a:pPr marL="889254" lvl="2" indent="-285750">
              <a:spcBef>
                <a:spcPts val="444"/>
              </a:spcBef>
              <a:buSzPts val="2400"/>
            </a:pPr>
            <a:endParaRPr sz="1800"/>
          </a:p>
          <a:p>
            <a:pPr marL="889254" lvl="2" indent="-285750">
              <a:spcBef>
                <a:spcPts val="444"/>
              </a:spcBef>
              <a:buSzPts val="2400"/>
            </a:pPr>
            <a:endParaRPr sz="1800"/>
          </a:p>
          <a:p>
            <a:pPr marL="425196" indent="-342900">
              <a:buSzPts val="2560"/>
            </a:pPr>
            <a:r>
              <a:rPr lang="en-GB" sz="2200">
                <a:latin typeface="Source Sans Pro"/>
                <a:ea typeface="Source Sans Pro"/>
                <a:cs typeface="Source Sans Pro"/>
                <a:sym typeface="Source Sans Pro"/>
              </a:rPr>
              <a:t>Alternative Question:  “In your experience, are virtual try-on holographs realistic, clunky, or distorted?”</a:t>
            </a:r>
            <a:endParaRPr sz="220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889254" lvl="2" indent="-285750">
              <a:spcBef>
                <a:spcPts val="444"/>
              </a:spcBef>
              <a:buSzPts val="2400"/>
            </a:pPr>
            <a:r>
              <a:rPr lang="en-GB" sz="1800"/>
              <a:t>This clearly reduces the number of options and the responses would be recorded as “realistic,” “clunky,” or “distorted.”</a:t>
            </a:r>
            <a:endParaRPr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How Question Design Affects Data Analysis</a:t>
            </a:r>
            <a:endParaRPr/>
          </a:p>
        </p:txBody>
      </p:sp>
      <p:pic>
        <p:nvPicPr>
          <p:cNvPr id="126" name="Google Shape;126;p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325880" y="3200400"/>
            <a:ext cx="7499350" cy="2228857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9"/>
          <p:cNvSpPr txBox="1"/>
          <p:nvPr/>
        </p:nvSpPr>
        <p:spPr>
          <a:xfrm>
            <a:off x="1325880" y="2514600"/>
            <a:ext cx="74980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Simple table, initial analysis of this data might look like the following:</a:t>
            </a:r>
            <a:endParaRPr sz="18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8" name="Google Shape;128;p9"/>
          <p:cNvSpPr txBox="1"/>
          <p:nvPr/>
        </p:nvSpPr>
        <p:spPr>
          <a:xfrm>
            <a:off x="1325880" y="5694925"/>
            <a:ext cx="56083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** Protect participants’ privacy by anonymizing the name</a:t>
            </a:r>
            <a:endParaRPr sz="18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How Question Design Affects Data Analysis</a:t>
            </a:r>
            <a:endParaRPr/>
          </a:p>
        </p:txBody>
      </p:sp>
      <p:sp>
        <p:nvSpPr>
          <p:cNvPr id="134" name="Google Shape;134;p10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82296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None/>
            </a:pPr>
            <a:r>
              <a:rPr lang="en-GB" sz="2800"/>
              <a:t>Another alternative that might be used in a questionnaire is to phrase the question in terms of a </a:t>
            </a:r>
            <a:r>
              <a:rPr lang="en-GB" sz="2800" b="1"/>
              <a:t>Likert scale</a:t>
            </a:r>
            <a:r>
              <a:rPr lang="en-GB" sz="2800"/>
              <a:t>.</a:t>
            </a:r>
            <a:endParaRPr/>
          </a:p>
          <a:p>
            <a:pPr marL="82296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endParaRPr/>
          </a:p>
          <a:p>
            <a:pPr marL="82296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endParaRPr/>
          </a:p>
        </p:txBody>
      </p:sp>
      <p:pic>
        <p:nvPicPr>
          <p:cNvPr id="135" name="Google Shape;135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9933" y="3200400"/>
            <a:ext cx="7907867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Basic Tools for Collation and Analysis</a:t>
            </a:r>
            <a:endParaRPr/>
          </a:p>
        </p:txBody>
      </p:sp>
      <p:sp>
        <p:nvSpPr>
          <p:cNvPr id="141" name="Google Shape;141;p11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 dirty="0"/>
          </a:p>
          <a:p>
            <a:pPr marL="457200" lvl="0" indent="-3390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40"/>
              <a:buChar char="⚫"/>
            </a:pPr>
            <a:r>
              <a:rPr lang="en-GB" sz="2100" dirty="0"/>
              <a:t>Examples of Quantitative Analysis:</a:t>
            </a:r>
            <a:endParaRPr sz="2100" dirty="0"/>
          </a:p>
          <a:p>
            <a:pPr marL="914400" lvl="1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◦"/>
            </a:pPr>
            <a:r>
              <a:rPr lang="en-GB" sz="1700" dirty="0"/>
              <a:t>A/B testing</a:t>
            </a:r>
            <a:endParaRPr sz="1700" dirty="0"/>
          </a:p>
          <a:p>
            <a:pPr marL="914400" lvl="1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◦"/>
            </a:pPr>
            <a:r>
              <a:rPr lang="en-GB" sz="1700" dirty="0"/>
              <a:t>T-test analysis</a:t>
            </a:r>
            <a:endParaRPr sz="1700" dirty="0"/>
          </a:p>
          <a:p>
            <a:pPr marL="914400" lvl="1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◦"/>
            </a:pPr>
            <a:r>
              <a:rPr lang="en-GB" sz="1700" dirty="0"/>
              <a:t>Z-test analysis</a:t>
            </a:r>
            <a:endParaRPr sz="1700" dirty="0"/>
          </a:p>
          <a:p>
            <a:pPr marL="914400" lvl="1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◦"/>
            </a:pPr>
            <a:r>
              <a:rPr lang="en-GB" sz="1700" dirty="0"/>
              <a:t>Chi-square test analysis</a:t>
            </a:r>
            <a:endParaRPr sz="1700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 dirty="0"/>
          </a:p>
          <a:p>
            <a:pPr marL="457200" lvl="0" indent="-3390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40"/>
              <a:buChar char="⚫"/>
            </a:pPr>
            <a:r>
              <a:rPr lang="en-GB" sz="2100" dirty="0"/>
              <a:t>Excel and Google Sheets</a:t>
            </a:r>
            <a:endParaRPr sz="2100" dirty="0"/>
          </a:p>
          <a:p>
            <a:pPr marL="914400" lvl="1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◦"/>
            </a:pPr>
            <a:r>
              <a:rPr lang="en-GB" sz="1700" dirty="0"/>
              <a:t>offers a variety of numerical manipulations and graphical representations.</a:t>
            </a:r>
            <a:endParaRPr sz="17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3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Presentations</a:t>
            </a:r>
            <a:endParaRPr/>
          </a:p>
        </p:txBody>
      </p:sp>
      <p:pic>
        <p:nvPicPr>
          <p:cNvPr id="147" name="Google Shape;147;p1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438400" y="1905000"/>
            <a:ext cx="5335839" cy="480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3"/>
          <p:cNvSpPr txBox="1"/>
          <p:nvPr/>
        </p:nvSpPr>
        <p:spPr>
          <a:xfrm>
            <a:off x="1435608" y="1422718"/>
            <a:ext cx="656539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Example: Data gathered during a study of a photo sharing app</a:t>
            </a:r>
            <a:endParaRPr sz="18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Presentations</a:t>
            </a:r>
            <a:endParaRPr/>
          </a:p>
        </p:txBody>
      </p:sp>
      <p:pic>
        <p:nvPicPr>
          <p:cNvPr id="154" name="Google Shape;154;p1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435100" y="1833414"/>
            <a:ext cx="7499350" cy="40293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5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Presentation </a:t>
            </a:r>
            <a:endParaRPr/>
          </a:p>
        </p:txBody>
      </p:sp>
      <p:pic>
        <p:nvPicPr>
          <p:cNvPr id="160" name="Google Shape;160;p1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093912" y="1900237"/>
            <a:ext cx="6181725" cy="389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Outliers</a:t>
            </a:r>
            <a:endParaRPr/>
          </a:p>
        </p:txBody>
      </p:sp>
      <p:sp>
        <p:nvSpPr>
          <p:cNvPr id="166" name="Google Shape;166;p12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⚫"/>
            </a:pPr>
            <a:r>
              <a:rPr lang="en-GB" sz="2400"/>
              <a:t>Outliers : values that are significantly different from the majority, and hence not common.</a:t>
            </a:r>
            <a:endParaRPr/>
          </a:p>
          <a:p>
            <a:pPr marL="45720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-38100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⚫"/>
            </a:pPr>
            <a:r>
              <a:rPr lang="en-GB" sz="2400"/>
              <a:t>Outliers are usually removed from the main data set because they distort the general patterns. </a:t>
            </a:r>
            <a:endParaRPr/>
          </a:p>
          <a:p>
            <a:pPr marL="45720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-38100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⚫"/>
            </a:pPr>
            <a:r>
              <a:rPr lang="en-GB" sz="2400"/>
              <a:t>However, outliers may also be interesting cases to investigate further in case there are special circumstances surrounding those users and their session.</a:t>
            </a:r>
            <a:endParaRPr sz="2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6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Presentation </a:t>
            </a:r>
            <a:endParaRPr/>
          </a:p>
        </p:txBody>
      </p:sp>
      <p:pic>
        <p:nvPicPr>
          <p:cNvPr id="172" name="Google Shape;172;p1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555750" y="1919287"/>
            <a:ext cx="7258050" cy="385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6"/>
          <p:cNvSpPr txBox="1"/>
          <p:nvPr/>
        </p:nvSpPr>
        <p:spPr>
          <a:xfrm>
            <a:off x="1555750" y="5781992"/>
            <a:ext cx="72072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Using a scatter diagram helps to identify outliers in your data quite quickly</a:t>
            </a:r>
            <a:endParaRPr sz="18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Example 1</a:t>
            </a:r>
            <a:endParaRPr/>
          </a:p>
        </p:txBody>
      </p:sp>
      <p:sp>
        <p:nvSpPr>
          <p:cNvPr id="179" name="Google Shape;179;p17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82296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None/>
            </a:pPr>
            <a:r>
              <a:rPr lang="en-GB" sz="2800"/>
              <a:t>The data in the following table represents the time taken for a group of users to select and buy an item from an online shopping website</a:t>
            </a:r>
            <a:endParaRPr/>
          </a:p>
          <a:p>
            <a:pPr marL="82296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</a:pPr>
            <a:endParaRPr sz="2800"/>
          </a:p>
          <a:p>
            <a:pPr marL="82296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None/>
            </a:pPr>
            <a:endParaRPr sz="1900"/>
          </a:p>
          <a:p>
            <a:pPr marL="82296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None/>
            </a:pPr>
            <a:endParaRPr sz="1900"/>
          </a:p>
          <a:p>
            <a:pPr marL="82296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None/>
            </a:pPr>
            <a:endParaRPr sz="1900"/>
          </a:p>
        </p:txBody>
      </p:sp>
      <p:graphicFrame>
        <p:nvGraphicFramePr>
          <p:cNvPr id="180" name="Google Shape;180;p17"/>
          <p:cNvGraphicFramePr/>
          <p:nvPr/>
        </p:nvGraphicFramePr>
        <p:xfrm>
          <a:off x="1435608" y="3581400"/>
          <a:ext cx="7498000" cy="1463060"/>
        </p:xfrm>
        <a:graphic>
          <a:graphicData uri="http://schemas.openxmlformats.org/drawingml/2006/table">
            <a:tbl>
              <a:tblPr firstRow="1" bandRow="1">
                <a:noFill/>
                <a:tableStyleId>{6ED5C915-561B-422E-BCF6-B70CCCD228D2}</a:tableStyleId>
              </a:tblPr>
              <a:tblGrid>
                <a:gridCol w="37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4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4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4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4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49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749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74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749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749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749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749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749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749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749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7490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7490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User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C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D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G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H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I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J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K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L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M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N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O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P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Q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R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S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Time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15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10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12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10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14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13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11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18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14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17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20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15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18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24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12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16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18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20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26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Example 1 – Bar Graph</a:t>
            </a:r>
            <a:endParaRPr/>
          </a:p>
        </p:txBody>
      </p:sp>
      <p:pic>
        <p:nvPicPr>
          <p:cNvPr id="186" name="Google Shape;186;p1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435100" y="2127326"/>
            <a:ext cx="7499350" cy="34415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Example 1 – Scatter Diagram</a:t>
            </a:r>
            <a:endParaRPr/>
          </a:p>
        </p:txBody>
      </p:sp>
      <p:pic>
        <p:nvPicPr>
          <p:cNvPr id="192" name="Google Shape;192;p1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435100" y="2074897"/>
            <a:ext cx="7499350" cy="35464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0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Example 2</a:t>
            </a:r>
            <a:endParaRPr/>
          </a:p>
        </p:txBody>
      </p:sp>
      <p:sp>
        <p:nvSpPr>
          <p:cNvPr id="198" name="Google Shape;198;p20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82296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lang="en-GB" sz="2400"/>
              <a:t>The following question was asked in a questionnaire to evaluate two different smartphone designs:</a:t>
            </a:r>
            <a:endParaRPr/>
          </a:p>
          <a:p>
            <a:pPr marL="82296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endParaRPr/>
          </a:p>
        </p:txBody>
      </p:sp>
      <p:pic>
        <p:nvPicPr>
          <p:cNvPr id="199" name="Google Shape;199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33600" y="2590800"/>
            <a:ext cx="6007893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Example 2 – Phone 1</a:t>
            </a:r>
            <a:endParaRPr/>
          </a:p>
        </p:txBody>
      </p:sp>
      <p:pic>
        <p:nvPicPr>
          <p:cNvPr id="205" name="Google Shape;205;p2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435100" y="2264118"/>
            <a:ext cx="7499350" cy="31679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Example 2 – Phone 2</a:t>
            </a:r>
            <a:endParaRPr/>
          </a:p>
        </p:txBody>
      </p:sp>
      <p:pic>
        <p:nvPicPr>
          <p:cNvPr id="211" name="Google Shape;211;p2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435100" y="2253997"/>
            <a:ext cx="7499350" cy="31882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Example 2 – Bar Graph</a:t>
            </a:r>
            <a:endParaRPr/>
          </a:p>
        </p:txBody>
      </p:sp>
      <p:pic>
        <p:nvPicPr>
          <p:cNvPr id="217" name="Google Shape;217;p2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951037" y="1928812"/>
            <a:ext cx="6467475" cy="383857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3"/>
          <p:cNvSpPr txBox="1"/>
          <p:nvPr/>
        </p:nvSpPr>
        <p:spPr>
          <a:xfrm>
            <a:off x="1956117" y="5792787"/>
            <a:ext cx="646239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 graphical comparison of two smartphone designs according to whether they are perceived as modern or dated.</a:t>
            </a:r>
            <a:endParaRPr sz="18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4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Qualitative Analysis</a:t>
            </a:r>
            <a:endParaRPr/>
          </a:p>
        </p:txBody>
      </p:sp>
      <p:sp>
        <p:nvSpPr>
          <p:cNvPr id="224" name="Google Shape;224;p24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82296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GB" dirty="0"/>
              <a:t>Gain an overall impression of the data and to start looking for interesting features, topics, repeated observations, or things that stands out.</a:t>
            </a:r>
            <a:endParaRPr dirty="0"/>
          </a:p>
          <a:p>
            <a:pPr marL="82296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endParaRPr dirty="0"/>
          </a:p>
          <a:p>
            <a:pPr marL="82296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rPr lang="en-GB" dirty="0"/>
              <a:t>It is important to confirm and re-confirm findings to make sure that initial impressions don’t bias analysis.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Qualitative Analysis </a:t>
            </a:r>
            <a:endParaRPr/>
          </a:p>
        </p:txBody>
      </p:sp>
      <p:sp>
        <p:nvSpPr>
          <p:cNvPr id="230" name="Google Shape;230;p25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82296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GB" sz="2100"/>
              <a:t>Three basic approaches to qualitative analysis</a:t>
            </a:r>
            <a:endParaRPr sz="2100"/>
          </a:p>
          <a:p>
            <a:pPr marL="596646" lvl="0" indent="-5334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60"/>
              <a:buFont typeface="Gill Sans"/>
              <a:buAutoNum type="arabicPeriod"/>
            </a:pPr>
            <a:r>
              <a:rPr lang="en-GB" sz="2100"/>
              <a:t>identifying themes</a:t>
            </a:r>
            <a:endParaRPr sz="2100"/>
          </a:p>
          <a:p>
            <a:pPr marL="596646" lvl="0" indent="-5334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60"/>
              <a:buFont typeface="Gill Sans"/>
              <a:buAutoNum type="arabicPeriod"/>
            </a:pPr>
            <a:r>
              <a:rPr lang="en-GB" sz="2100"/>
              <a:t>categorizing data</a:t>
            </a:r>
            <a:endParaRPr sz="2100"/>
          </a:p>
          <a:p>
            <a:pPr marL="596646" lvl="0" indent="-5334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60"/>
              <a:buFont typeface="Gill Sans"/>
              <a:buAutoNum type="arabicPeriod"/>
            </a:pPr>
            <a:r>
              <a:rPr lang="en-GB" sz="2100"/>
              <a:t>analyzing critical incidents</a:t>
            </a:r>
            <a:endParaRPr sz="2100"/>
          </a:p>
          <a:p>
            <a:pPr marL="603504" lvl="2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GB" sz="1700"/>
              <a:t>Critical incident analysis is a way to isolate subsets of data for more detailed analysis, perhaps by identifying themes or applying categories.</a:t>
            </a:r>
            <a:endParaRPr sz="17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392fadabb0_0_65"/>
          <p:cNvSpPr txBox="1">
            <a:spLocks noGrp="1"/>
          </p:cNvSpPr>
          <p:nvPr>
            <p:ph type="title" idx="4294967295"/>
          </p:nvPr>
        </p:nvSpPr>
        <p:spPr>
          <a:xfrm>
            <a:off x="2797729" y="511122"/>
            <a:ext cx="37638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43333"/>
              <a:buFont typeface="Gill Sans"/>
              <a:buNone/>
            </a:pPr>
            <a:r>
              <a:rPr lang="en-GB"/>
              <a:t>Qualitative Analysis </a:t>
            </a:r>
            <a:endParaRPr/>
          </a:p>
        </p:txBody>
      </p:sp>
      <p:graphicFrame>
        <p:nvGraphicFramePr>
          <p:cNvPr id="237" name="Google Shape;237;g3392fadabb0_0_65"/>
          <p:cNvGraphicFramePr/>
          <p:nvPr>
            <p:extLst>
              <p:ext uri="{D42A27DB-BD31-4B8C-83A1-F6EECF244321}">
                <p14:modId xmlns:p14="http://schemas.microsoft.com/office/powerpoint/2010/main" val="3908251754"/>
              </p:ext>
            </p:extLst>
          </p:nvPr>
        </p:nvGraphicFramePr>
        <p:xfrm>
          <a:off x="1181100" y="2514600"/>
          <a:ext cx="7239000" cy="518130"/>
        </p:xfrm>
        <a:graphic>
          <a:graphicData uri="http://schemas.openxmlformats.org/drawingml/2006/table">
            <a:tbl>
              <a:tblPr>
                <a:noFill/>
                <a:tableStyleId>{1C81C95F-0084-4141-9A7A-2DF9CB4D6EAC}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 b="1" u="sng" dirty="0"/>
                        <a:t>Inductive</a:t>
                      </a:r>
                      <a:endParaRPr sz="2200" b="1" u="sng" dirty="0"/>
                    </a:p>
                  </a:txBody>
                  <a:tcPr marL="91425" marR="91425" marT="91425" marB="91425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 b="1" u="sng" dirty="0"/>
                        <a:t>Deductive</a:t>
                      </a:r>
                      <a:endParaRPr sz="2200" b="1" u="sng" dirty="0"/>
                    </a:p>
                  </a:txBody>
                  <a:tcPr marL="91425" marR="91425" marT="91425" marB="91425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1E7BE62-875E-B078-F4E1-34DAA20D13F0}"/>
              </a:ext>
            </a:extLst>
          </p:cNvPr>
          <p:cNvCxnSpPr/>
          <p:nvPr/>
        </p:nvCxnSpPr>
        <p:spPr>
          <a:xfrm>
            <a:off x="4759890" y="2680570"/>
            <a:ext cx="0" cy="2054268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472E0CB-F5DA-E65B-ADAF-89CC19E1AD13}"/>
              </a:ext>
            </a:extLst>
          </p:cNvPr>
          <p:cNvGrpSpPr/>
          <p:nvPr/>
        </p:nvGrpSpPr>
        <p:grpSpPr>
          <a:xfrm>
            <a:off x="2931090" y="1215024"/>
            <a:ext cx="3757809" cy="1287050"/>
            <a:chOff x="2931090" y="1215024"/>
            <a:chExt cx="3757809" cy="1287050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28436DA7-FA2A-94E6-4C83-DA8664C74070}"/>
                </a:ext>
              </a:extLst>
            </p:cNvPr>
            <p:cNvCxnSpPr>
              <a:cxnSpLocks/>
            </p:cNvCxnSpPr>
            <p:nvPr/>
          </p:nvCxnSpPr>
          <p:spPr>
            <a:xfrm>
              <a:off x="2943616" y="2016690"/>
              <a:ext cx="0" cy="48538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EDAD8696-302C-93CC-ED6F-6A259CDF730D}"/>
                </a:ext>
              </a:extLst>
            </p:cNvPr>
            <p:cNvCxnSpPr>
              <a:cxnSpLocks/>
            </p:cNvCxnSpPr>
            <p:nvPr/>
          </p:nvCxnSpPr>
          <p:spPr>
            <a:xfrm>
              <a:off x="6676373" y="2016690"/>
              <a:ext cx="0" cy="48538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E8C6D24-F243-6346-B094-103C60679ADB}"/>
                </a:ext>
              </a:extLst>
            </p:cNvPr>
            <p:cNvCxnSpPr/>
            <p:nvPr/>
          </p:nvCxnSpPr>
          <p:spPr>
            <a:xfrm>
              <a:off x="2931090" y="2029216"/>
              <a:ext cx="375780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322EC54-54FF-8851-A796-9D02952652DD}"/>
                </a:ext>
              </a:extLst>
            </p:cNvPr>
            <p:cNvCxnSpPr/>
            <p:nvPr/>
          </p:nvCxnSpPr>
          <p:spPr>
            <a:xfrm>
              <a:off x="4759890" y="1215024"/>
              <a:ext cx="0" cy="81419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33C179F6-59B7-E1BC-9028-4F495A10819B}"/>
              </a:ext>
            </a:extLst>
          </p:cNvPr>
          <p:cNvSpPr txBox="1"/>
          <p:nvPr/>
        </p:nvSpPr>
        <p:spPr>
          <a:xfrm>
            <a:off x="801665" y="3418676"/>
            <a:ext cx="36402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ctr" rtl="0" fontAlgn="t">
              <a:buClr>
                <a:srgbClr val="000000"/>
              </a:buClr>
              <a:buSzPts val="2200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Themes or categories are developed by going through the data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791433-6A7C-1D69-0C84-F9C606004B09}"/>
              </a:ext>
            </a:extLst>
          </p:cNvPr>
          <p:cNvSpPr txBox="1"/>
          <p:nvPr/>
        </p:nvSpPr>
        <p:spPr>
          <a:xfrm>
            <a:off x="4998708" y="3526398"/>
            <a:ext cx="38154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Established categories are applied to the data</a:t>
            </a:r>
            <a:endParaRPr lang="en-US" sz="14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6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Identify Themes</a:t>
            </a:r>
            <a:endParaRPr/>
          </a:p>
        </p:txBody>
      </p:sp>
      <p:sp>
        <p:nvSpPr>
          <p:cNvPr id="243" name="Google Shape;243;p26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82296" indent="0">
              <a:spcBef>
                <a:spcPts val="0"/>
              </a:spcBef>
              <a:buSzPts val="2560"/>
              <a:buNone/>
            </a:pPr>
            <a:r>
              <a:rPr lang="en-GB" dirty="0"/>
              <a:t>Theme</a:t>
            </a:r>
            <a:endParaRPr dirty="0"/>
          </a:p>
          <a:p>
            <a:pPr marL="603504" lvl="2" indent="0">
              <a:spcBef>
                <a:spcPts val="480"/>
              </a:spcBef>
              <a:buClr>
                <a:srgbClr val="000000"/>
              </a:buClr>
              <a:buSzPts val="2400"/>
              <a:buNone/>
            </a:pPr>
            <a:r>
              <a:rPr lang="en-GB" sz="1400" dirty="0"/>
              <a:t>A pattern of some kind </a:t>
            </a:r>
            <a:endParaRPr sz="1400" dirty="0"/>
          </a:p>
          <a:p>
            <a:pPr marL="603504" lvl="2" indent="0">
              <a:spcBef>
                <a:spcPts val="480"/>
              </a:spcBef>
              <a:buClr>
                <a:srgbClr val="000000"/>
              </a:buClr>
              <a:buSzPts val="2400"/>
              <a:buNone/>
            </a:pPr>
            <a:r>
              <a:rPr lang="en-GB" sz="1400" dirty="0"/>
              <a:t>e.g. a particular topic coming up again and again when going through interviews</a:t>
            </a:r>
            <a:r>
              <a:rPr lang="en-GB" sz="10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Clr>
                <a:schemeClr val="dk2"/>
              </a:buClr>
              <a:buSzPts val="1100"/>
              <a:buNone/>
            </a:pPr>
            <a:endParaRPr sz="11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3504" lvl="2" indent="0">
              <a:spcBef>
                <a:spcPts val="480"/>
              </a:spcBef>
              <a:buSzPts val="2400"/>
              <a:buNone/>
            </a:pPr>
            <a:endParaRPr dirty="0"/>
          </a:p>
          <a:p>
            <a:pPr marL="603504" lvl="2" indent="0">
              <a:spcBef>
                <a:spcPts val="480"/>
              </a:spcBef>
              <a:buSzPts val="2400"/>
              <a:buNone/>
            </a:pPr>
            <a:endParaRPr dirty="0"/>
          </a:p>
          <a:p>
            <a:pPr marL="82296" indent="0">
              <a:buSzPts val="2560"/>
              <a:buNone/>
            </a:pPr>
            <a:r>
              <a:rPr lang="en-GB" dirty="0"/>
              <a:t>Thematic Analysis</a:t>
            </a:r>
            <a:endParaRPr dirty="0"/>
          </a:p>
          <a:p>
            <a:pPr marL="603504" lvl="2" indent="0">
              <a:spcBef>
                <a:spcPts val="480"/>
              </a:spcBef>
              <a:buSzPts val="2400"/>
              <a:buNone/>
            </a:pPr>
            <a:r>
              <a:rPr lang="en-GB" dirty="0"/>
              <a:t>widely used analytical technique that aims to identify, analyse, and report patterns in the data.</a:t>
            </a:r>
          </a:p>
          <a:p>
            <a:pPr marL="603504" lvl="2" indent="0">
              <a:spcBef>
                <a:spcPts val="480"/>
              </a:spcBef>
              <a:buSzPts val="2400"/>
              <a:buNone/>
            </a:pPr>
            <a:r>
              <a:rPr lang="en-GB" dirty="0"/>
              <a:t>Themes should be relevant to the study goal</a:t>
            </a:r>
          </a:p>
          <a:p>
            <a:pPr marL="603504" lvl="2" indent="0">
              <a:spcBef>
                <a:spcPts val="480"/>
              </a:spcBef>
              <a:buSzPts val="2400"/>
              <a:buNone/>
            </a:pPr>
            <a:endParaRPr dirty="0"/>
          </a:p>
          <a:p>
            <a:pPr marL="603504" lvl="2" indent="0">
              <a:spcBef>
                <a:spcPts val="480"/>
              </a:spcBef>
              <a:buSzPts val="2400"/>
              <a:buNone/>
            </a:pPr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97BAF-54BB-4E32-8C9D-BBE1A5715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68112"/>
            <a:ext cx="8520600" cy="831300"/>
          </a:xfrm>
        </p:spPr>
        <p:txBody>
          <a:bodyPr/>
          <a:lstStyle/>
          <a:p>
            <a:r>
              <a:rPr lang="en-US" dirty="0"/>
              <a:t>Conducting Thematic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01F9B5-F419-1765-C7B3-FF9057B53F58}"/>
              </a:ext>
            </a:extLst>
          </p:cNvPr>
          <p:cNvSpPr/>
          <p:nvPr/>
        </p:nvSpPr>
        <p:spPr>
          <a:xfrm>
            <a:off x="0" y="3835145"/>
            <a:ext cx="9144000" cy="80683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</a:schemeClr>
              </a:gs>
              <a:gs pos="100000">
                <a:schemeClr val="bg2"/>
              </a:gs>
            </a:gsLst>
            <a:lin ang="10800000" scaled="1"/>
            <a:tileRect/>
          </a:gradFill>
          <a:ln w="12700">
            <a:miter lim="400000"/>
          </a:ln>
          <a:effectLst/>
        </p:spPr>
        <p:txBody>
          <a:bodyPr lIns="28575" tIns="28575" rIns="28575" bIns="28575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100">
              <a:solidFill>
                <a:srgbClr val="FFFFFF"/>
              </a:solidFill>
            </a:endParaRPr>
          </a:p>
        </p:txBody>
      </p:sp>
      <p:sp>
        <p:nvSpPr>
          <p:cNvPr id="4" name="Shape">
            <a:extLst>
              <a:ext uri="{FF2B5EF4-FFF2-40B4-BE49-F238E27FC236}">
                <a16:creationId xmlns:a16="http://schemas.microsoft.com/office/drawing/2014/main" id="{E25BF2DA-46B4-45A3-5DF8-A16FEF4CC588}"/>
              </a:ext>
            </a:extLst>
          </p:cNvPr>
          <p:cNvSpPr/>
          <p:nvPr/>
        </p:nvSpPr>
        <p:spPr>
          <a:xfrm>
            <a:off x="628650" y="2106748"/>
            <a:ext cx="1376645" cy="15900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39" h="21408" extrusionOk="0">
                <a:moveTo>
                  <a:pt x="10284" y="7"/>
                </a:moveTo>
                <a:cubicBezTo>
                  <a:pt x="4706" y="205"/>
                  <a:pt x="194" y="4142"/>
                  <a:pt x="6" y="8965"/>
                </a:cubicBezTo>
                <a:cubicBezTo>
                  <a:pt x="-161" y="13263"/>
                  <a:pt x="3056" y="16911"/>
                  <a:pt x="7526" y="18121"/>
                </a:cubicBezTo>
                <a:cubicBezTo>
                  <a:pt x="8132" y="18284"/>
                  <a:pt x="8654" y="18627"/>
                  <a:pt x="9010" y="19096"/>
                </a:cubicBezTo>
                <a:lnTo>
                  <a:pt x="10723" y="21408"/>
                </a:lnTo>
                <a:lnTo>
                  <a:pt x="12436" y="19096"/>
                </a:lnTo>
                <a:cubicBezTo>
                  <a:pt x="12791" y="18627"/>
                  <a:pt x="13313" y="18284"/>
                  <a:pt x="13919" y="18121"/>
                </a:cubicBezTo>
                <a:cubicBezTo>
                  <a:pt x="18285" y="16947"/>
                  <a:pt x="21439" y="13425"/>
                  <a:pt x="21439" y="9272"/>
                </a:cubicBezTo>
                <a:cubicBezTo>
                  <a:pt x="21418" y="4034"/>
                  <a:pt x="16384" y="-192"/>
                  <a:pt x="10284" y="7"/>
                </a:cubicBezTo>
                <a:close/>
              </a:path>
            </a:pathLst>
          </a:custGeom>
          <a:solidFill>
            <a:schemeClr val="tx2"/>
          </a:solidFill>
          <a:ln w="12700">
            <a:miter lim="400000"/>
          </a:ln>
          <a:effectLst/>
        </p:spPr>
        <p:txBody>
          <a:bodyPr lIns="28575" tIns="28575" rIns="28575" bIns="28575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2100" dirty="0">
              <a:solidFill>
                <a:srgbClr val="FFFFFF"/>
              </a:solidFill>
            </a:endParaRPr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EBE8C256-A2A3-189A-5BF2-02EF26579880}"/>
              </a:ext>
            </a:extLst>
          </p:cNvPr>
          <p:cNvSpPr/>
          <p:nvPr/>
        </p:nvSpPr>
        <p:spPr>
          <a:xfrm>
            <a:off x="2256163" y="2106748"/>
            <a:ext cx="1376645" cy="15900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39" h="21408" extrusionOk="0">
                <a:moveTo>
                  <a:pt x="10284" y="7"/>
                </a:moveTo>
                <a:cubicBezTo>
                  <a:pt x="4706" y="205"/>
                  <a:pt x="194" y="4142"/>
                  <a:pt x="6" y="8965"/>
                </a:cubicBezTo>
                <a:cubicBezTo>
                  <a:pt x="-161" y="13263"/>
                  <a:pt x="3056" y="16911"/>
                  <a:pt x="7526" y="18121"/>
                </a:cubicBezTo>
                <a:cubicBezTo>
                  <a:pt x="8132" y="18284"/>
                  <a:pt x="8654" y="18627"/>
                  <a:pt x="9010" y="19096"/>
                </a:cubicBezTo>
                <a:lnTo>
                  <a:pt x="10723" y="21408"/>
                </a:lnTo>
                <a:lnTo>
                  <a:pt x="12436" y="19096"/>
                </a:lnTo>
                <a:cubicBezTo>
                  <a:pt x="12791" y="18627"/>
                  <a:pt x="13313" y="18284"/>
                  <a:pt x="13919" y="18121"/>
                </a:cubicBezTo>
                <a:cubicBezTo>
                  <a:pt x="18285" y="16947"/>
                  <a:pt x="21439" y="13425"/>
                  <a:pt x="21439" y="9272"/>
                </a:cubicBezTo>
                <a:cubicBezTo>
                  <a:pt x="21439" y="4034"/>
                  <a:pt x="16405" y="-192"/>
                  <a:pt x="10284" y="7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</a:schemeClr>
          </a:solidFill>
          <a:ln w="12700">
            <a:miter lim="400000"/>
          </a:ln>
          <a:effectLst/>
        </p:spPr>
        <p:txBody>
          <a:bodyPr lIns="28575" tIns="28575" rIns="28575" bIns="28575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2100">
              <a:solidFill>
                <a:srgbClr val="FFFFFF"/>
              </a:solidFill>
            </a:endParaRPr>
          </a:p>
        </p:txBody>
      </p:sp>
      <p:sp>
        <p:nvSpPr>
          <p:cNvPr id="6" name="Shape">
            <a:extLst>
              <a:ext uri="{FF2B5EF4-FFF2-40B4-BE49-F238E27FC236}">
                <a16:creationId xmlns:a16="http://schemas.microsoft.com/office/drawing/2014/main" id="{26A22BCC-A5CE-7497-91FD-5C5F152AEE5A}"/>
              </a:ext>
            </a:extLst>
          </p:cNvPr>
          <p:cNvSpPr/>
          <p:nvPr/>
        </p:nvSpPr>
        <p:spPr>
          <a:xfrm>
            <a:off x="3883678" y="2106748"/>
            <a:ext cx="1376645" cy="15900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39" h="21408" extrusionOk="0">
                <a:moveTo>
                  <a:pt x="10284" y="7"/>
                </a:moveTo>
                <a:cubicBezTo>
                  <a:pt x="4706" y="205"/>
                  <a:pt x="194" y="4142"/>
                  <a:pt x="6" y="8965"/>
                </a:cubicBezTo>
                <a:cubicBezTo>
                  <a:pt x="-161" y="13263"/>
                  <a:pt x="3056" y="16911"/>
                  <a:pt x="7526" y="18121"/>
                </a:cubicBezTo>
                <a:cubicBezTo>
                  <a:pt x="8132" y="18284"/>
                  <a:pt x="8654" y="18627"/>
                  <a:pt x="9010" y="19096"/>
                </a:cubicBezTo>
                <a:lnTo>
                  <a:pt x="10723" y="21408"/>
                </a:lnTo>
                <a:lnTo>
                  <a:pt x="12436" y="19096"/>
                </a:lnTo>
                <a:cubicBezTo>
                  <a:pt x="12791" y="18627"/>
                  <a:pt x="13313" y="18284"/>
                  <a:pt x="13919" y="18121"/>
                </a:cubicBezTo>
                <a:cubicBezTo>
                  <a:pt x="18285" y="16947"/>
                  <a:pt x="21439" y="13425"/>
                  <a:pt x="21439" y="9272"/>
                </a:cubicBezTo>
                <a:cubicBezTo>
                  <a:pt x="21439" y="4034"/>
                  <a:pt x="16405" y="-192"/>
                  <a:pt x="10284" y="7"/>
                </a:cubicBez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  <a:effectLst/>
        </p:spPr>
        <p:txBody>
          <a:bodyPr lIns="28575" tIns="28575" rIns="28575" bIns="28575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2100">
              <a:solidFill>
                <a:srgbClr val="FFFFFF"/>
              </a:solidFill>
            </a:endParaRPr>
          </a:p>
        </p:txBody>
      </p:sp>
      <p:sp>
        <p:nvSpPr>
          <p:cNvPr id="7" name="Shape">
            <a:extLst>
              <a:ext uri="{FF2B5EF4-FFF2-40B4-BE49-F238E27FC236}">
                <a16:creationId xmlns:a16="http://schemas.microsoft.com/office/drawing/2014/main" id="{EC0D2D9A-B8A0-201D-1DD5-C14C020EB107}"/>
              </a:ext>
            </a:extLst>
          </p:cNvPr>
          <p:cNvSpPr/>
          <p:nvPr/>
        </p:nvSpPr>
        <p:spPr>
          <a:xfrm>
            <a:off x="5511192" y="2106748"/>
            <a:ext cx="1376645" cy="15900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39" h="21408" extrusionOk="0">
                <a:moveTo>
                  <a:pt x="10284" y="7"/>
                </a:moveTo>
                <a:cubicBezTo>
                  <a:pt x="4706" y="205"/>
                  <a:pt x="194" y="4142"/>
                  <a:pt x="6" y="8965"/>
                </a:cubicBezTo>
                <a:cubicBezTo>
                  <a:pt x="-161" y="13263"/>
                  <a:pt x="3056" y="16911"/>
                  <a:pt x="7526" y="18121"/>
                </a:cubicBezTo>
                <a:cubicBezTo>
                  <a:pt x="8132" y="18284"/>
                  <a:pt x="8654" y="18627"/>
                  <a:pt x="9010" y="19096"/>
                </a:cubicBezTo>
                <a:lnTo>
                  <a:pt x="10723" y="21408"/>
                </a:lnTo>
                <a:lnTo>
                  <a:pt x="12436" y="19096"/>
                </a:lnTo>
                <a:cubicBezTo>
                  <a:pt x="12791" y="18627"/>
                  <a:pt x="13313" y="18284"/>
                  <a:pt x="13919" y="18121"/>
                </a:cubicBezTo>
                <a:cubicBezTo>
                  <a:pt x="18285" y="16947"/>
                  <a:pt x="21439" y="13425"/>
                  <a:pt x="21439" y="9272"/>
                </a:cubicBezTo>
                <a:cubicBezTo>
                  <a:pt x="21439" y="4034"/>
                  <a:pt x="16405" y="-192"/>
                  <a:pt x="10284" y="7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12700">
            <a:miter lim="400000"/>
          </a:ln>
          <a:effectLst/>
        </p:spPr>
        <p:txBody>
          <a:bodyPr lIns="28575" tIns="28575" rIns="28575" bIns="28575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2100" dirty="0">
              <a:solidFill>
                <a:srgbClr val="FFFFFF"/>
              </a:solidFill>
            </a:endParaRPr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72BE2FE4-F942-4C55-DF52-A7DA6341618C}"/>
              </a:ext>
            </a:extLst>
          </p:cNvPr>
          <p:cNvSpPr/>
          <p:nvPr/>
        </p:nvSpPr>
        <p:spPr>
          <a:xfrm>
            <a:off x="7138705" y="2106748"/>
            <a:ext cx="1376645" cy="15900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39" h="21408" extrusionOk="0">
                <a:moveTo>
                  <a:pt x="10284" y="7"/>
                </a:moveTo>
                <a:cubicBezTo>
                  <a:pt x="4706" y="205"/>
                  <a:pt x="194" y="4142"/>
                  <a:pt x="6" y="8965"/>
                </a:cubicBezTo>
                <a:cubicBezTo>
                  <a:pt x="-161" y="13263"/>
                  <a:pt x="3056" y="16911"/>
                  <a:pt x="7526" y="18121"/>
                </a:cubicBezTo>
                <a:cubicBezTo>
                  <a:pt x="8132" y="18284"/>
                  <a:pt x="8654" y="18627"/>
                  <a:pt x="9010" y="19096"/>
                </a:cubicBezTo>
                <a:lnTo>
                  <a:pt x="10723" y="21408"/>
                </a:lnTo>
                <a:lnTo>
                  <a:pt x="12436" y="19096"/>
                </a:lnTo>
                <a:cubicBezTo>
                  <a:pt x="12791" y="18627"/>
                  <a:pt x="13313" y="18284"/>
                  <a:pt x="13919" y="18121"/>
                </a:cubicBezTo>
                <a:cubicBezTo>
                  <a:pt x="18285" y="16947"/>
                  <a:pt x="21439" y="13425"/>
                  <a:pt x="21439" y="9272"/>
                </a:cubicBezTo>
                <a:cubicBezTo>
                  <a:pt x="21439" y="4034"/>
                  <a:pt x="16405" y="-192"/>
                  <a:pt x="10284" y="7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 w="12700">
            <a:miter lim="400000"/>
          </a:ln>
          <a:effectLst/>
        </p:spPr>
        <p:txBody>
          <a:bodyPr lIns="28575" tIns="28575" rIns="28575" bIns="28575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2100">
              <a:solidFill>
                <a:srgbClr val="FFFFFF"/>
              </a:solidFill>
            </a:endParaRPr>
          </a:p>
        </p:txBody>
      </p:sp>
      <p:pic>
        <p:nvPicPr>
          <p:cNvPr id="9" name="Graphic 8" descr="Research with solid fill">
            <a:extLst>
              <a:ext uri="{FF2B5EF4-FFF2-40B4-BE49-F238E27FC236}">
                <a16:creationId xmlns:a16="http://schemas.microsoft.com/office/drawing/2014/main" id="{D3A8DA35-3D11-58F0-20A4-C7A0F82B40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23518" y="2401616"/>
            <a:ext cx="786910" cy="786910"/>
          </a:xfrm>
          <a:prstGeom prst="rect">
            <a:avLst/>
          </a:prstGeom>
          <a:effectLst/>
        </p:spPr>
      </p:pic>
      <p:sp>
        <p:nvSpPr>
          <p:cNvPr id="11" name="TextBox 20">
            <a:extLst>
              <a:ext uri="{FF2B5EF4-FFF2-40B4-BE49-F238E27FC236}">
                <a16:creationId xmlns:a16="http://schemas.microsoft.com/office/drawing/2014/main" id="{995E56D8-5DA7-D6B8-780E-0F9DC9B737AD}"/>
              </a:ext>
            </a:extLst>
          </p:cNvPr>
          <p:cNvSpPr txBox="1"/>
          <p:nvPr/>
        </p:nvSpPr>
        <p:spPr>
          <a:xfrm>
            <a:off x="668834" y="4185241"/>
            <a:ext cx="1296275" cy="553998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500" b="1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/>
            <a:r>
              <a:rPr lang="en-US" sz="1500" b="1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Collect Data</a:t>
            </a:r>
          </a:p>
        </p:txBody>
      </p:sp>
      <p:pic>
        <p:nvPicPr>
          <p:cNvPr id="13" name="Graphic 12" descr="Scroll with solid fill">
            <a:extLst>
              <a:ext uri="{FF2B5EF4-FFF2-40B4-BE49-F238E27FC236}">
                <a16:creationId xmlns:a16="http://schemas.microsoft.com/office/drawing/2014/main" id="{C10216D4-280B-D22C-D28E-474521EF2C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551032" y="2401616"/>
            <a:ext cx="786910" cy="786910"/>
          </a:xfrm>
          <a:prstGeom prst="rect">
            <a:avLst/>
          </a:prstGeom>
          <a:effectLst/>
        </p:spPr>
      </p:pic>
      <p:pic>
        <p:nvPicPr>
          <p:cNvPr id="17" name="Graphic 16" descr="Morse Code with solid fill">
            <a:extLst>
              <a:ext uri="{FF2B5EF4-FFF2-40B4-BE49-F238E27FC236}">
                <a16:creationId xmlns:a16="http://schemas.microsoft.com/office/drawing/2014/main" id="{7473B926-1992-8055-CC27-13D0BF951F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4178546" y="2401616"/>
            <a:ext cx="786910" cy="786910"/>
          </a:xfrm>
          <a:prstGeom prst="rect">
            <a:avLst/>
          </a:prstGeom>
          <a:effectLst/>
        </p:spPr>
      </p:pic>
      <p:sp>
        <p:nvSpPr>
          <p:cNvPr id="15" name="TextBox 23">
            <a:extLst>
              <a:ext uri="{FF2B5EF4-FFF2-40B4-BE49-F238E27FC236}">
                <a16:creationId xmlns:a16="http://schemas.microsoft.com/office/drawing/2014/main" id="{6E0C1A0D-8335-A9D3-E7CA-56EDC9156908}"/>
              </a:ext>
            </a:extLst>
          </p:cNvPr>
          <p:cNvSpPr txBox="1"/>
          <p:nvPr/>
        </p:nvSpPr>
        <p:spPr>
          <a:xfrm>
            <a:off x="2296348" y="4813338"/>
            <a:ext cx="1296275" cy="1015663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500" b="1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</a:p>
          <a:p>
            <a:pPr algn="ctr"/>
            <a:r>
              <a:rPr lang="en-US" sz="1500" b="1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Familiarize yourself with data</a:t>
            </a:r>
          </a:p>
        </p:txBody>
      </p:sp>
      <p:sp>
        <p:nvSpPr>
          <p:cNvPr id="19" name="TextBox 26">
            <a:extLst>
              <a:ext uri="{FF2B5EF4-FFF2-40B4-BE49-F238E27FC236}">
                <a16:creationId xmlns:a16="http://schemas.microsoft.com/office/drawing/2014/main" id="{E6A08C6C-FDE4-673A-9ED6-51246C64B3AC}"/>
              </a:ext>
            </a:extLst>
          </p:cNvPr>
          <p:cNvSpPr txBox="1"/>
          <p:nvPr/>
        </p:nvSpPr>
        <p:spPr>
          <a:xfrm>
            <a:off x="3923862" y="4179877"/>
            <a:ext cx="1296275" cy="784830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500" b="1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</a:p>
          <a:p>
            <a:pPr algn="ctr"/>
            <a:r>
              <a:rPr lang="en-US" sz="1500" b="1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Generate Initial codes</a:t>
            </a:r>
          </a:p>
        </p:txBody>
      </p:sp>
      <p:sp>
        <p:nvSpPr>
          <p:cNvPr id="23" name="TextBox 29">
            <a:extLst>
              <a:ext uri="{FF2B5EF4-FFF2-40B4-BE49-F238E27FC236}">
                <a16:creationId xmlns:a16="http://schemas.microsoft.com/office/drawing/2014/main" id="{C660D71A-443B-A5C7-85F4-ACA4B6F04673}"/>
              </a:ext>
            </a:extLst>
          </p:cNvPr>
          <p:cNvSpPr txBox="1"/>
          <p:nvPr/>
        </p:nvSpPr>
        <p:spPr>
          <a:xfrm>
            <a:off x="5551376" y="4881333"/>
            <a:ext cx="1296275" cy="784830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500" b="1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</a:p>
          <a:p>
            <a:pPr algn="ctr"/>
            <a:r>
              <a:rPr lang="en-US" sz="1500" b="1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Identify</a:t>
            </a:r>
          </a:p>
          <a:p>
            <a:pPr algn="ctr"/>
            <a:r>
              <a:rPr lang="en-US" sz="1500" b="1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Themes</a:t>
            </a:r>
          </a:p>
        </p:txBody>
      </p:sp>
      <p:pic>
        <p:nvPicPr>
          <p:cNvPr id="21" name="Graphic 20" descr="Branching diagram with solid fill">
            <a:extLst>
              <a:ext uri="{FF2B5EF4-FFF2-40B4-BE49-F238E27FC236}">
                <a16:creationId xmlns:a16="http://schemas.microsoft.com/office/drawing/2014/main" id="{2C47FD45-7502-4D25-A7AA-1DDD0208B30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5806060" y="2401616"/>
            <a:ext cx="786910" cy="786910"/>
          </a:xfrm>
          <a:prstGeom prst="rect">
            <a:avLst/>
          </a:prstGeom>
          <a:effectLst/>
        </p:spPr>
      </p:pic>
      <p:pic>
        <p:nvPicPr>
          <p:cNvPr id="25" name="Graphic 24" descr="Filter with solid fill">
            <a:extLst>
              <a:ext uri="{FF2B5EF4-FFF2-40B4-BE49-F238E27FC236}">
                <a16:creationId xmlns:a16="http://schemas.microsoft.com/office/drawing/2014/main" id="{FA52251D-8F60-AE7A-B32F-C343B3B91F6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7433574" y="2401616"/>
            <a:ext cx="786910" cy="786910"/>
          </a:xfrm>
          <a:prstGeom prst="rect">
            <a:avLst/>
          </a:prstGeom>
          <a:effectLst/>
        </p:spPr>
      </p:pic>
      <p:sp>
        <p:nvSpPr>
          <p:cNvPr id="27" name="TextBox 32">
            <a:extLst>
              <a:ext uri="{FF2B5EF4-FFF2-40B4-BE49-F238E27FC236}">
                <a16:creationId xmlns:a16="http://schemas.microsoft.com/office/drawing/2014/main" id="{E00A2D18-F7AD-9318-6013-A7C9B1897C67}"/>
              </a:ext>
            </a:extLst>
          </p:cNvPr>
          <p:cNvSpPr txBox="1"/>
          <p:nvPr/>
        </p:nvSpPr>
        <p:spPr>
          <a:xfrm>
            <a:off x="7178890" y="4124408"/>
            <a:ext cx="1296275" cy="1015663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500" b="1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5</a:t>
            </a:r>
          </a:p>
          <a:p>
            <a:pPr algn="ctr"/>
            <a:r>
              <a:rPr lang="en-US" sz="1500" b="1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Review and Refine Themes</a:t>
            </a:r>
          </a:p>
        </p:txBody>
      </p:sp>
    </p:spTree>
    <p:extLst>
      <p:ext uri="{BB962C8B-B14F-4D97-AF65-F5344CB8AC3E}">
        <p14:creationId xmlns:p14="http://schemas.microsoft.com/office/powerpoint/2010/main" val="3474586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1" grpId="0"/>
      <p:bldP spid="15" grpId="0"/>
      <p:bldP spid="19" grpId="0"/>
      <p:bldP spid="23" grpId="0"/>
      <p:bldP spid="2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0D5C59-066D-8A75-3088-66C7C3E0CB19}"/>
              </a:ext>
            </a:extLst>
          </p:cNvPr>
          <p:cNvSpPr txBox="1"/>
          <p:nvPr/>
        </p:nvSpPr>
        <p:spPr>
          <a:xfrm>
            <a:off x="212943" y="726509"/>
            <a:ext cx="4684734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1" i="0" u="none" strike="noStrike" dirty="0">
                <a:solidFill>
                  <a:srgbClr val="000000"/>
                </a:solidFill>
                <a:effectLst/>
              </a:rPr>
              <a:t>Interview 1 – Alice (Pet Owner, Age 32)</a:t>
            </a:r>
          </a:p>
          <a:p>
            <a:pPr algn="l"/>
            <a:r>
              <a:rPr lang="en-US" sz="1600" b="1" i="0" u="none" strike="noStrike" dirty="0">
                <a:solidFill>
                  <a:srgbClr val="000000"/>
                </a:solidFill>
                <a:effectLst/>
              </a:rPr>
              <a:t>Interviewer: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 Can you describe your experience using our website?</a:t>
            </a:r>
            <a:br>
              <a:rPr lang="en-US" sz="16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sz="1600" b="1" i="0" u="none" strike="noStrike" dirty="0">
                <a:solidFill>
                  <a:srgbClr val="000000"/>
                </a:solidFill>
                <a:effectLst/>
              </a:rPr>
              <a:t>Alice: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 It looks nice, but it was a bit hard to find the exact pet food I wanted. </a:t>
            </a:r>
          </a:p>
          <a:p>
            <a:pPr algn="l"/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The search results weren’t very relevant.</a:t>
            </a:r>
          </a:p>
          <a:p>
            <a:pPr algn="l"/>
            <a:r>
              <a:rPr lang="en-US" sz="1600" b="1" i="0" u="none" strike="noStrike" dirty="0">
                <a:solidFill>
                  <a:srgbClr val="000000"/>
                </a:solidFill>
                <a:effectLst/>
              </a:rPr>
              <a:t>Interviewer: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 What do you mean by "not relevant"?</a:t>
            </a:r>
            <a:br>
              <a:rPr lang="en-US" sz="16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sz="1600" b="1" i="0" u="none" strike="noStrike" dirty="0">
                <a:solidFill>
                  <a:srgbClr val="000000"/>
                </a:solidFill>
                <a:effectLst/>
              </a:rPr>
              <a:t>Alice: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 Well, I searched for "organic dog food," but I got a mix of cat and bird food as well. It was frustrating.</a:t>
            </a:r>
          </a:p>
          <a:p>
            <a:pPr algn="l"/>
            <a:r>
              <a:rPr lang="en-US" sz="1600" b="1" i="0" u="none" strike="noStrike" dirty="0">
                <a:solidFill>
                  <a:srgbClr val="000000"/>
                </a:solidFill>
                <a:effectLst/>
              </a:rPr>
              <a:t>Interviewer: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 How was the checkout process for you?</a:t>
            </a:r>
            <a:br>
              <a:rPr lang="en-US" sz="16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sz="1600" b="1" i="0" u="none" strike="noStrike" dirty="0">
                <a:solidFill>
                  <a:srgbClr val="000000"/>
                </a:solidFill>
                <a:effectLst/>
              </a:rPr>
              <a:t>Alice: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 It took too long. I had to enter my address twice for some reason. I almost gave up.</a:t>
            </a:r>
          </a:p>
          <a:p>
            <a:pPr algn="l"/>
            <a:r>
              <a:rPr lang="en-US" sz="1600" b="1" i="0" u="none" strike="noStrike" dirty="0">
                <a:solidFill>
                  <a:srgbClr val="000000"/>
                </a:solidFill>
                <a:effectLst/>
              </a:rPr>
              <a:t>Interviewer: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 Anything else that bothered you?</a:t>
            </a:r>
            <a:br>
              <a:rPr lang="en-US" sz="16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sz="1600" b="1" i="0" u="none" strike="noStrike" dirty="0">
                <a:solidFill>
                  <a:srgbClr val="000000"/>
                </a:solidFill>
                <a:effectLst/>
              </a:rPr>
              <a:t>Alice: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 Yes, the images took forever to load on my phone.</a:t>
            </a:r>
          </a:p>
          <a:p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BD3E72-ACC8-DF6B-6814-ED4BF56BBB2B}"/>
              </a:ext>
            </a:extLst>
          </p:cNvPr>
          <p:cNvSpPr txBox="1"/>
          <p:nvPr/>
        </p:nvSpPr>
        <p:spPr>
          <a:xfrm>
            <a:off x="676405" y="5849653"/>
            <a:ext cx="253025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Interview transcript of a user regarding feedback of an online pet store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1AB91F4-41B2-38D4-C770-C4727A7890D2}"/>
                  </a:ext>
                </a:extLst>
              </p14:cNvPr>
              <p14:cNvContentPartPr/>
              <p14:nvPr/>
            </p14:nvContentPartPr>
            <p14:xfrm>
              <a:off x="348416" y="2086387"/>
              <a:ext cx="3591720" cy="1720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1AB91F4-41B2-38D4-C770-C4727A7890D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4776" y="1978747"/>
                <a:ext cx="3699360" cy="38772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48C3DAAD-6A6C-968D-5331-50443998DEED}"/>
              </a:ext>
            </a:extLst>
          </p:cNvPr>
          <p:cNvSpPr txBox="1"/>
          <p:nvPr/>
        </p:nvSpPr>
        <p:spPr>
          <a:xfrm>
            <a:off x="5999967" y="1064713"/>
            <a:ext cx="2931090" cy="30416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u="sng" dirty="0"/>
              <a:t>Codes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/>
              <a:t>Search issues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/>
              <a:t>Redundant steps on checkout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/>
              <a:t>Slow loading for images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endParaRPr lang="en-US" dirty="0"/>
          </a:p>
          <a:p>
            <a:pPr marL="342900" indent="-342900">
              <a:lnSpc>
                <a:spcPct val="200000"/>
              </a:lnSpc>
              <a:buAutoNum type="arabicPeriod"/>
            </a:pPr>
            <a:endParaRPr lang="en-US" dirty="0"/>
          </a:p>
          <a:p>
            <a:pPr marL="342900" indent="-342900">
              <a:lnSpc>
                <a:spcPct val="200000"/>
              </a:lnSpc>
              <a:buAutoNum type="arabicPeriod"/>
            </a:pP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431CA3D-F85D-1639-0632-FDAA6185A8E1}"/>
                  </a:ext>
                </a:extLst>
              </p14:cNvPr>
              <p14:cNvContentPartPr/>
              <p14:nvPr/>
            </p14:nvContentPartPr>
            <p14:xfrm>
              <a:off x="6224873" y="1742424"/>
              <a:ext cx="1284480" cy="918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431CA3D-F85D-1639-0632-FDAA6185A8E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71233" y="1634424"/>
                <a:ext cx="1392120" cy="30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4DB9DB19-2C30-11DB-AAAB-CB54F318A82D}"/>
                  </a:ext>
                </a:extLst>
              </p14:cNvPr>
              <p14:cNvContentPartPr/>
              <p14:nvPr/>
            </p14:nvContentPartPr>
            <p14:xfrm>
              <a:off x="2385656" y="3978187"/>
              <a:ext cx="2216880" cy="1735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4DB9DB19-2C30-11DB-AAAB-CB54F318A82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32016" y="3870547"/>
                <a:ext cx="2324520" cy="38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FCDCEF12-D263-CAA7-AB86-0D70C874A9CE}"/>
                  </a:ext>
                </a:extLst>
              </p14:cNvPr>
              <p14:cNvContentPartPr/>
              <p14:nvPr/>
            </p14:nvContentPartPr>
            <p14:xfrm>
              <a:off x="332216" y="4299307"/>
              <a:ext cx="1962000" cy="1069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FCDCEF12-D263-CAA7-AB86-0D70C874A9C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8216" y="4191307"/>
                <a:ext cx="2069640" cy="32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B497328-1E01-DF18-85CA-CA1ABA8CC985}"/>
                  </a:ext>
                </a:extLst>
              </p14:cNvPr>
              <p14:cNvContentPartPr/>
              <p14:nvPr/>
            </p14:nvContentPartPr>
            <p14:xfrm>
              <a:off x="6119216" y="2205907"/>
              <a:ext cx="2696040" cy="831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B497328-1E01-DF18-85CA-CA1ABA8CC98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065576" y="2098267"/>
                <a:ext cx="280368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560FD6F-684A-4772-1093-AA8CDFC5178C}"/>
                  </a:ext>
                </a:extLst>
              </p14:cNvPr>
              <p14:cNvContentPartPr/>
              <p14:nvPr/>
            </p14:nvContentPartPr>
            <p14:xfrm>
              <a:off x="1416176" y="4787467"/>
              <a:ext cx="3316320" cy="943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560FD6F-684A-4772-1093-AA8CDFC5178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362536" y="4679467"/>
                <a:ext cx="3423960" cy="30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6F32D75-5253-6506-F9A6-A7E884950A80}"/>
                  </a:ext>
                </a:extLst>
              </p14:cNvPr>
              <p14:cNvContentPartPr/>
              <p14:nvPr/>
            </p14:nvContentPartPr>
            <p14:xfrm>
              <a:off x="334736" y="5023267"/>
              <a:ext cx="506880" cy="2448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6F32D75-5253-6506-F9A6-A7E884950A8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80736" y="4915627"/>
                <a:ext cx="61452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7A0D703B-C766-7647-56E5-9A55B5727234}"/>
                  </a:ext>
                </a:extLst>
              </p14:cNvPr>
              <p14:cNvContentPartPr/>
              <p14:nvPr/>
            </p14:nvContentPartPr>
            <p14:xfrm>
              <a:off x="6101936" y="2613427"/>
              <a:ext cx="2270880" cy="1098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7A0D703B-C766-7647-56E5-9A55B572723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048296" y="2505427"/>
                <a:ext cx="2378520" cy="32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72D01EFE-7D41-526C-D084-70EFD93D5CD8}"/>
                  </a:ext>
                </a:extLst>
              </p14:cNvPr>
              <p14:cNvContentPartPr/>
              <p14:nvPr/>
            </p14:nvContentPartPr>
            <p14:xfrm>
              <a:off x="9724256" y="1183867"/>
              <a:ext cx="360" cy="3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72D01EFE-7D41-526C-D084-70EFD93D5CD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670256" y="1076227"/>
                <a:ext cx="10800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74075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43692-970F-DFAF-7224-6B0DFD2FD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D49471-5508-0A2C-BCDE-E0FEDBBB6640}"/>
              </a:ext>
            </a:extLst>
          </p:cNvPr>
          <p:cNvSpPr txBox="1"/>
          <p:nvPr/>
        </p:nvSpPr>
        <p:spPr>
          <a:xfrm>
            <a:off x="212943" y="726509"/>
            <a:ext cx="468473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1" i="0" u="none" strike="noStrike" dirty="0">
                <a:solidFill>
                  <a:srgbClr val="000000"/>
                </a:solidFill>
                <a:effectLst/>
              </a:rPr>
              <a:t>Interview 2 – James (Dog Trainer, Age 45)</a:t>
            </a:r>
          </a:p>
          <a:p>
            <a:pPr algn="l"/>
            <a:r>
              <a:rPr lang="en-US" sz="1600" b="1" i="0" u="none" strike="noStrike" dirty="0">
                <a:solidFill>
                  <a:srgbClr val="000000"/>
                </a:solidFill>
                <a:effectLst/>
              </a:rPr>
              <a:t>Interviewer: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 How was your experience finding products on our site?</a:t>
            </a:r>
            <a:br>
              <a:rPr lang="en-US" sz="16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sz="1600" b="1" i="0" u="none" strike="noStrike" dirty="0">
                <a:solidFill>
                  <a:srgbClr val="000000"/>
                </a:solidFill>
                <a:effectLst/>
              </a:rPr>
              <a:t>James: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 Honestly, it was a bit confusing. The categories didn’t make sense, and I had to click through a lot of pages.</a:t>
            </a:r>
          </a:p>
          <a:p>
            <a:pPr algn="l"/>
            <a:r>
              <a:rPr lang="en-US" sz="1600" b="1" i="0" u="none" strike="noStrike" dirty="0">
                <a:solidFill>
                  <a:srgbClr val="000000"/>
                </a:solidFill>
                <a:effectLst/>
              </a:rPr>
              <a:t>Interviewer: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 Did you use the search function?</a:t>
            </a:r>
            <a:br>
              <a:rPr lang="en-US" sz="16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sz="1600" b="1" i="0" u="none" strike="noStrike" dirty="0">
                <a:solidFill>
                  <a:srgbClr val="000000"/>
                </a:solidFill>
                <a:effectLst/>
              </a:rPr>
              <a:t>James: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 Yes, but it wasn’t helpful. When I searched for "grain-free dog treats," I got a mix of random products.</a:t>
            </a:r>
          </a:p>
          <a:p>
            <a:pPr algn="l"/>
            <a:r>
              <a:rPr lang="en-US" sz="1600" b="1" i="0" u="none" strike="noStrike" dirty="0">
                <a:solidFill>
                  <a:srgbClr val="000000"/>
                </a:solidFill>
                <a:effectLst/>
              </a:rPr>
              <a:t>Interviewer: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 How did you find the checkout process?</a:t>
            </a:r>
            <a:br>
              <a:rPr lang="en-US" sz="16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sz="1600" b="1" i="0" u="none" strike="noStrike" dirty="0">
                <a:solidFill>
                  <a:srgbClr val="000000"/>
                </a:solidFill>
                <a:effectLst/>
              </a:rPr>
              <a:t>James: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 It was okay, but I didn’t like that I was forced to create an account. I just wanted to buy something quickly.</a:t>
            </a:r>
          </a:p>
          <a:p>
            <a:pPr algn="l"/>
            <a:r>
              <a:rPr lang="en-US" sz="1600" b="1" i="0" u="none" strike="noStrike" dirty="0">
                <a:solidFill>
                  <a:srgbClr val="000000"/>
                </a:solidFill>
                <a:effectLst/>
              </a:rPr>
              <a:t>Interviewer: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 Any technical issues?</a:t>
            </a:r>
            <a:br>
              <a:rPr lang="en-US" sz="16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sz="1600" b="1" i="0" u="none" strike="noStrike" dirty="0">
                <a:solidFill>
                  <a:srgbClr val="000000"/>
                </a:solidFill>
                <a:effectLst/>
              </a:rPr>
              <a:t>James: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 Some buttons didn’t look clickable. I wasn’t sure if I was supposed to tap them or not.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3F8569-6C93-8E6E-A8A7-CD7868DC1E67}"/>
              </a:ext>
            </a:extLst>
          </p:cNvPr>
          <p:cNvSpPr txBox="1"/>
          <p:nvPr/>
        </p:nvSpPr>
        <p:spPr>
          <a:xfrm>
            <a:off x="676405" y="5849653"/>
            <a:ext cx="253025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Interview transcript of a user regarding feedback of an online pet store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249C85-AF40-48C3-7104-50669B32187C}"/>
              </a:ext>
            </a:extLst>
          </p:cNvPr>
          <p:cNvSpPr txBox="1"/>
          <p:nvPr/>
        </p:nvSpPr>
        <p:spPr>
          <a:xfrm>
            <a:off x="5989600" y="2480151"/>
            <a:ext cx="3417445" cy="4334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endParaRPr lang="en-US" dirty="0"/>
          </a:p>
          <a:p>
            <a:pPr>
              <a:lnSpc>
                <a:spcPct val="200000"/>
              </a:lnSpc>
            </a:pPr>
            <a:r>
              <a:rPr lang="en-US" dirty="0"/>
              <a:t>4. Confusion navigation / organization</a:t>
            </a:r>
          </a:p>
          <a:p>
            <a:pPr>
              <a:lnSpc>
                <a:spcPct val="200000"/>
              </a:lnSpc>
            </a:pPr>
            <a:r>
              <a:rPr lang="en-US" dirty="0"/>
              <a:t>5. Forced account creation</a:t>
            </a:r>
          </a:p>
          <a:p>
            <a:pPr>
              <a:lnSpc>
                <a:spcPct val="200000"/>
              </a:lnSpc>
            </a:pPr>
            <a:r>
              <a:rPr lang="en-US" dirty="0"/>
              <a:t>6. Unclear UI elements</a:t>
            </a:r>
          </a:p>
          <a:p>
            <a:pPr>
              <a:lnSpc>
                <a:spcPct val="200000"/>
              </a:lnSpc>
            </a:pPr>
            <a:endParaRPr lang="en-US" dirty="0"/>
          </a:p>
          <a:p>
            <a:pPr>
              <a:lnSpc>
                <a:spcPct val="200000"/>
              </a:lnSpc>
            </a:pPr>
            <a:endParaRPr lang="en-US" dirty="0"/>
          </a:p>
          <a:p>
            <a:pPr>
              <a:lnSpc>
                <a:spcPct val="200000"/>
              </a:lnSpc>
            </a:pPr>
            <a:endParaRPr lang="en-US" dirty="0"/>
          </a:p>
          <a:p>
            <a:pPr>
              <a:lnSpc>
                <a:spcPct val="200000"/>
              </a:lnSpc>
            </a:pPr>
            <a:endParaRPr lang="en-US" dirty="0"/>
          </a:p>
          <a:p>
            <a:pPr marL="342900" indent="-342900">
              <a:lnSpc>
                <a:spcPct val="200000"/>
              </a:lnSpc>
              <a:buAutoNum type="arabicPeriod"/>
            </a:pPr>
            <a:endParaRPr lang="en-US" dirty="0"/>
          </a:p>
          <a:p>
            <a:pPr marL="342900" indent="-342900">
              <a:lnSpc>
                <a:spcPct val="200000"/>
              </a:lnSpc>
              <a:buAutoNum type="arabicPeriod"/>
            </a:pP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28F1305-1A53-D6A2-30BC-39B4A0FFD232}"/>
                  </a:ext>
                </a:extLst>
              </p14:cNvPr>
              <p14:cNvContentPartPr/>
              <p14:nvPr/>
            </p14:nvContentPartPr>
            <p14:xfrm>
              <a:off x="9724256" y="1183867"/>
              <a:ext cx="360" cy="3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28F1305-1A53-D6A2-30BC-39B4A0FFD23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670256" y="1075867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3B63852-E77F-6D6A-9DA2-11D656C21E9E}"/>
                  </a:ext>
                </a:extLst>
              </p14:cNvPr>
              <p14:cNvContentPartPr/>
              <p14:nvPr/>
            </p14:nvContentPartPr>
            <p14:xfrm>
              <a:off x="364256" y="1856707"/>
              <a:ext cx="2569320" cy="727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3B63852-E77F-6D6A-9DA2-11D656C21E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0256" y="1748707"/>
                <a:ext cx="2676960" cy="28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80936DB-C1D8-B0D5-5B47-85A1110FCD79}"/>
                  </a:ext>
                </a:extLst>
              </p14:cNvPr>
              <p14:cNvContentPartPr/>
              <p14:nvPr/>
            </p14:nvContentPartPr>
            <p14:xfrm>
              <a:off x="6043501" y="3160185"/>
              <a:ext cx="3299045" cy="45719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80936DB-C1D8-B0D5-5B47-85A1110FCD7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89855" y="3053031"/>
                <a:ext cx="3406697" cy="2596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EACF0AF-FE41-034F-3777-AA1A865D16D7}"/>
                  </a:ext>
                </a:extLst>
              </p14:cNvPr>
              <p14:cNvContentPartPr/>
              <p14:nvPr/>
            </p14:nvContentPartPr>
            <p14:xfrm>
              <a:off x="3371696" y="2521267"/>
              <a:ext cx="660240" cy="964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EACF0AF-FE41-034F-3777-AA1A865D16D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318056" y="2413267"/>
                <a:ext cx="767880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14F59E7-2688-97B7-C3F4-1CEC52FC0F93}"/>
                  </a:ext>
                </a:extLst>
              </p14:cNvPr>
              <p14:cNvContentPartPr/>
              <p14:nvPr/>
            </p14:nvContentPartPr>
            <p14:xfrm>
              <a:off x="328976" y="2820067"/>
              <a:ext cx="4435920" cy="774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14F59E7-2688-97B7-C3F4-1CEC52FC0F9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75336" y="2712067"/>
                <a:ext cx="4543560" cy="2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A6C83F1-A0AB-661C-2E0C-8C396C5F58BE}"/>
                  </a:ext>
                </a:extLst>
              </p14:cNvPr>
              <p14:cNvContentPartPr/>
              <p14:nvPr/>
            </p14:nvContentPartPr>
            <p14:xfrm>
              <a:off x="320336" y="3034627"/>
              <a:ext cx="1456200" cy="640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A6C83F1-A0AB-661C-2E0C-8C396C5F58B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66696" y="2926987"/>
                <a:ext cx="156384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D33447C-82DA-C5FD-7B68-3BD00E44D451}"/>
                  </a:ext>
                </a:extLst>
              </p14:cNvPr>
              <p14:cNvContentPartPr/>
              <p14:nvPr/>
            </p14:nvContentPartPr>
            <p14:xfrm>
              <a:off x="2185496" y="3804667"/>
              <a:ext cx="2157840" cy="925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D33447C-82DA-C5FD-7B68-3BD00E44D45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131496" y="3697027"/>
                <a:ext cx="2265480" cy="30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F725F66B-8F7C-4549-1E03-58D61B778AAB}"/>
                  </a:ext>
                </a:extLst>
              </p14:cNvPr>
              <p14:cNvContentPartPr/>
              <p14:nvPr/>
            </p14:nvContentPartPr>
            <p14:xfrm>
              <a:off x="268496" y="4067827"/>
              <a:ext cx="2477520" cy="1944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F725F66B-8F7C-4549-1E03-58D61B778AA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14856" y="3959827"/>
                <a:ext cx="258516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E33533F4-A602-5625-6845-18AFEB93933C}"/>
                  </a:ext>
                </a:extLst>
              </p14:cNvPr>
              <p14:cNvContentPartPr/>
              <p14:nvPr/>
            </p14:nvContentPartPr>
            <p14:xfrm>
              <a:off x="6087781" y="3610545"/>
              <a:ext cx="2142287" cy="45719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E33533F4-A602-5625-6845-18AFEB93933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034143" y="3503391"/>
                <a:ext cx="2249923" cy="2596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F74304AD-BB3B-DDB5-78B3-AB7DDB972DEA}"/>
                  </a:ext>
                </a:extLst>
              </p14:cNvPr>
              <p14:cNvContentPartPr/>
              <p14:nvPr/>
            </p14:nvContentPartPr>
            <p14:xfrm>
              <a:off x="1090016" y="4760107"/>
              <a:ext cx="3007080" cy="12420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F74304AD-BB3B-DDB5-78B3-AB7DDB972DE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36016" y="4652107"/>
                <a:ext cx="3114720" cy="33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934CBB7F-D89C-BD2B-37CE-839712509BFE}"/>
                  </a:ext>
                </a:extLst>
              </p14:cNvPr>
              <p14:cNvContentPartPr/>
              <p14:nvPr/>
            </p14:nvContentPartPr>
            <p14:xfrm>
              <a:off x="6091742" y="4027065"/>
              <a:ext cx="1967986" cy="45719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934CBB7F-D89C-BD2B-37CE-839712509BF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037746" y="3919067"/>
                <a:ext cx="2075619" cy="261354"/>
              </a:xfrm>
              <a:prstGeom prst="rect">
                <a:avLst/>
              </a:prstGeom>
            </p:spPr>
          </p:pic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C89D1A02-A8E2-CAAC-C295-A137898EE584}"/>
              </a:ext>
            </a:extLst>
          </p:cNvPr>
          <p:cNvSpPr txBox="1"/>
          <p:nvPr/>
        </p:nvSpPr>
        <p:spPr>
          <a:xfrm>
            <a:off x="5999967" y="1064713"/>
            <a:ext cx="2931090" cy="30416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u="sng" dirty="0"/>
              <a:t>Codes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/>
              <a:t>Search issues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/>
              <a:t>Redundant steps on checkout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/>
              <a:t>Slow loading for images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endParaRPr lang="en-US" dirty="0"/>
          </a:p>
          <a:p>
            <a:pPr marL="342900" indent="-342900">
              <a:lnSpc>
                <a:spcPct val="200000"/>
              </a:lnSpc>
              <a:buAutoNum type="arabicPeriod"/>
            </a:pPr>
            <a:endParaRPr lang="en-US" dirty="0"/>
          </a:p>
          <a:p>
            <a:pPr marL="342900" indent="-342900">
              <a:lnSpc>
                <a:spcPct val="200000"/>
              </a:lnSpc>
              <a:buAutoNum type="arabicPeriod"/>
            </a:pP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33AA440B-C229-6EB6-00DB-BFC2D80E6B43}"/>
                  </a:ext>
                </a:extLst>
              </p14:cNvPr>
              <p14:cNvContentPartPr/>
              <p14:nvPr/>
            </p14:nvContentPartPr>
            <p14:xfrm>
              <a:off x="6224873" y="1742424"/>
              <a:ext cx="1284480" cy="9180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33AA440B-C229-6EB6-00DB-BFC2D80E6B4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171233" y="1634424"/>
                <a:ext cx="1392120" cy="30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CC8FBEA5-7C25-4585-F81B-332B06BD6DBB}"/>
                  </a:ext>
                </a:extLst>
              </p14:cNvPr>
              <p14:cNvContentPartPr/>
              <p14:nvPr/>
            </p14:nvContentPartPr>
            <p14:xfrm>
              <a:off x="6119216" y="2205907"/>
              <a:ext cx="2696040" cy="831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CC8FBEA5-7C25-4585-F81B-332B06BD6DB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065576" y="2098267"/>
                <a:ext cx="280368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07315F3-AAB4-430C-97ED-9D72258AC1BC}"/>
                  </a:ext>
                </a:extLst>
              </p14:cNvPr>
              <p14:cNvContentPartPr/>
              <p14:nvPr/>
            </p14:nvContentPartPr>
            <p14:xfrm>
              <a:off x="6101936" y="2613427"/>
              <a:ext cx="2270880" cy="10980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07315F3-AAB4-430C-97ED-9D72258AC1B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048296" y="2505427"/>
                <a:ext cx="2378520" cy="32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46853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EF4D1-F577-C767-8D3B-FAB649F01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0E6FFF-3384-2775-19CD-0EE1F2C95C3A}"/>
              </a:ext>
            </a:extLst>
          </p:cNvPr>
          <p:cNvSpPr txBox="1"/>
          <p:nvPr/>
        </p:nvSpPr>
        <p:spPr>
          <a:xfrm>
            <a:off x="212943" y="726509"/>
            <a:ext cx="468473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1" i="0" u="none" strike="noStrike" dirty="0">
                <a:solidFill>
                  <a:srgbClr val="000000"/>
                </a:solidFill>
                <a:effectLst/>
              </a:rPr>
              <a:t>Interview 3 – Sarah (New Pet Owner, Age 27)</a:t>
            </a:r>
          </a:p>
          <a:p>
            <a:pPr algn="l"/>
            <a:r>
              <a:rPr lang="en-US" sz="1600" b="1" i="0" u="none" strike="noStrike" dirty="0">
                <a:solidFill>
                  <a:srgbClr val="000000"/>
                </a:solidFill>
                <a:effectLst/>
              </a:rPr>
              <a:t>Interviewer: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 Tell me about your experience on the website.</a:t>
            </a:r>
            <a:br>
              <a:rPr lang="en-US" sz="16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sz="1600" b="1" i="0" u="none" strike="noStrike" dirty="0">
                <a:solidFill>
                  <a:srgbClr val="000000"/>
                </a:solidFill>
                <a:effectLst/>
              </a:rPr>
              <a:t>Sarah: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 It was overwhelming at first. There were too many options, and I didn’t know where to start.</a:t>
            </a:r>
          </a:p>
          <a:p>
            <a:pPr algn="l"/>
            <a:r>
              <a:rPr lang="en-US" sz="1600" b="1" i="0" u="none" strike="noStrike" dirty="0">
                <a:solidFill>
                  <a:srgbClr val="000000"/>
                </a:solidFill>
                <a:effectLst/>
              </a:rPr>
              <a:t>Interviewer: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 How did you search for products?</a:t>
            </a:r>
            <a:br>
              <a:rPr lang="en-US" sz="16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sz="1600" b="1" i="0" u="none" strike="noStrike" dirty="0">
                <a:solidFill>
                  <a:srgbClr val="000000"/>
                </a:solidFill>
                <a:effectLst/>
              </a:rPr>
              <a:t>Sarah: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 I used the search bar, but it didn’t help much. It gave me results that didn’t match what I was looking for.</a:t>
            </a:r>
          </a:p>
          <a:p>
            <a:pPr algn="l"/>
            <a:r>
              <a:rPr lang="en-US" sz="1600" b="1" i="0" u="none" strike="noStrike" dirty="0">
                <a:solidFill>
                  <a:srgbClr val="000000"/>
                </a:solidFill>
                <a:effectLst/>
              </a:rPr>
              <a:t>Interviewer: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 What about the checkout process?</a:t>
            </a:r>
            <a:br>
              <a:rPr lang="en-US" sz="16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sz="1600" b="1" i="0" u="none" strike="noStrike" dirty="0">
                <a:solidFill>
                  <a:srgbClr val="000000"/>
                </a:solidFill>
                <a:effectLst/>
              </a:rPr>
              <a:t>Sarah: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 It was long. I had to enter my details multiple times, which was annoying.</a:t>
            </a:r>
          </a:p>
          <a:p>
            <a:pPr algn="l"/>
            <a:r>
              <a:rPr lang="en-US" sz="1600" b="1" i="0" u="none" strike="noStrike" dirty="0">
                <a:solidFill>
                  <a:srgbClr val="000000"/>
                </a:solidFill>
                <a:effectLst/>
              </a:rPr>
              <a:t>Interviewer: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 Any other issues?</a:t>
            </a:r>
            <a:br>
              <a:rPr lang="en-US" sz="16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sz="1600" b="1" i="0" u="none" strike="noStrike" dirty="0">
                <a:solidFill>
                  <a:srgbClr val="000000"/>
                </a:solidFill>
                <a:effectLst/>
              </a:rPr>
              <a:t>Sarah: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 The images loaded very slowly, which made browsing frustrating.</a:t>
            </a:r>
          </a:p>
          <a:p>
            <a:pPr algn="l"/>
            <a:endParaRPr lang="en-US" sz="1200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02BC77-41A7-E7AA-DEAA-F295D0002DAF}"/>
              </a:ext>
            </a:extLst>
          </p:cNvPr>
          <p:cNvSpPr txBox="1"/>
          <p:nvPr/>
        </p:nvSpPr>
        <p:spPr>
          <a:xfrm>
            <a:off x="676405" y="5849653"/>
            <a:ext cx="253025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Interview transcript of a user regarding feedback of an online pet store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968F94-E5A2-C05E-34F4-05D2707A5AF4}"/>
              </a:ext>
            </a:extLst>
          </p:cNvPr>
          <p:cNvSpPr txBox="1"/>
          <p:nvPr/>
        </p:nvSpPr>
        <p:spPr>
          <a:xfrm>
            <a:off x="5999967" y="1064713"/>
            <a:ext cx="2252165" cy="21798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endParaRPr lang="en-US" b="1" u="sng" dirty="0"/>
          </a:p>
          <a:p>
            <a:pPr>
              <a:lnSpc>
                <a:spcPct val="200000"/>
              </a:lnSpc>
            </a:pPr>
            <a:endParaRPr lang="en-US" dirty="0"/>
          </a:p>
          <a:p>
            <a:pPr marL="342900" indent="-342900">
              <a:lnSpc>
                <a:spcPct val="200000"/>
              </a:lnSpc>
              <a:buAutoNum type="arabicPeriod"/>
            </a:pPr>
            <a:endParaRPr lang="en-US" dirty="0"/>
          </a:p>
          <a:p>
            <a:pPr marL="342900" indent="-342900">
              <a:lnSpc>
                <a:spcPct val="200000"/>
              </a:lnSpc>
              <a:buAutoNum type="arabicPeriod"/>
            </a:pPr>
            <a:endParaRPr lang="en-US" dirty="0"/>
          </a:p>
          <a:p>
            <a:pPr marL="342900" indent="-342900">
              <a:lnSpc>
                <a:spcPct val="200000"/>
              </a:lnSpc>
              <a:buAutoNum type="arabicPeriod"/>
            </a:pP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2422BFE7-1AD6-9DDE-00B2-2005C3ABA712}"/>
                  </a:ext>
                </a:extLst>
              </p14:cNvPr>
              <p14:cNvContentPartPr/>
              <p14:nvPr/>
            </p14:nvContentPartPr>
            <p14:xfrm>
              <a:off x="9724256" y="1183867"/>
              <a:ext cx="360" cy="3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2422BFE7-1AD6-9DDE-00B2-2005C3ABA71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670256" y="1075867"/>
                <a:ext cx="10800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EB76AB1-DB89-FA61-F7CE-7BA1643FDA07}"/>
              </a:ext>
            </a:extLst>
          </p:cNvPr>
          <p:cNvSpPr txBox="1"/>
          <p:nvPr/>
        </p:nvSpPr>
        <p:spPr>
          <a:xfrm>
            <a:off x="5989601" y="2480151"/>
            <a:ext cx="3367342" cy="4334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endParaRPr lang="en-US" dirty="0"/>
          </a:p>
          <a:p>
            <a:pPr>
              <a:lnSpc>
                <a:spcPct val="200000"/>
              </a:lnSpc>
            </a:pPr>
            <a:r>
              <a:rPr lang="en-US" dirty="0"/>
              <a:t>4. Confusion navigation / organization</a:t>
            </a:r>
          </a:p>
          <a:p>
            <a:pPr>
              <a:lnSpc>
                <a:spcPct val="200000"/>
              </a:lnSpc>
            </a:pPr>
            <a:r>
              <a:rPr lang="en-US" dirty="0"/>
              <a:t>5. Forced account creation</a:t>
            </a:r>
          </a:p>
          <a:p>
            <a:pPr>
              <a:lnSpc>
                <a:spcPct val="200000"/>
              </a:lnSpc>
            </a:pPr>
            <a:r>
              <a:rPr lang="en-US" dirty="0"/>
              <a:t>6. Unclear UI elements</a:t>
            </a:r>
          </a:p>
          <a:p>
            <a:pPr>
              <a:lnSpc>
                <a:spcPct val="200000"/>
              </a:lnSpc>
            </a:pPr>
            <a:r>
              <a:rPr lang="en-US" dirty="0"/>
              <a:t>7. Overwhelming UI</a:t>
            </a:r>
          </a:p>
          <a:p>
            <a:pPr>
              <a:lnSpc>
                <a:spcPct val="200000"/>
              </a:lnSpc>
            </a:pPr>
            <a:endParaRPr lang="en-US" dirty="0"/>
          </a:p>
          <a:p>
            <a:pPr>
              <a:lnSpc>
                <a:spcPct val="200000"/>
              </a:lnSpc>
            </a:pPr>
            <a:endParaRPr lang="en-US" dirty="0"/>
          </a:p>
          <a:p>
            <a:pPr>
              <a:lnSpc>
                <a:spcPct val="200000"/>
              </a:lnSpc>
            </a:pPr>
            <a:endParaRPr lang="en-US" dirty="0"/>
          </a:p>
          <a:p>
            <a:pPr marL="342900" indent="-342900">
              <a:lnSpc>
                <a:spcPct val="200000"/>
              </a:lnSpc>
              <a:buAutoNum type="arabicPeriod"/>
            </a:pPr>
            <a:endParaRPr lang="en-US" dirty="0"/>
          </a:p>
          <a:p>
            <a:pPr marL="342900" indent="-342900">
              <a:lnSpc>
                <a:spcPct val="200000"/>
              </a:lnSpc>
              <a:buAutoNum type="arabicPeriod"/>
            </a:pP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1431E9E-8D52-AF6C-7EAF-AE294BBE7D21}"/>
                  </a:ext>
                </a:extLst>
              </p14:cNvPr>
              <p14:cNvContentPartPr/>
              <p14:nvPr/>
            </p14:nvContentPartPr>
            <p14:xfrm>
              <a:off x="9724255" y="1183866"/>
              <a:ext cx="45719" cy="45719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1431E9E-8D52-AF6C-7EAF-AE294BBE7D2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66405" y="-12531834"/>
                <a:ext cx="1371570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C4A77C4-9F41-3FEC-1A26-C7E1312A1E7B}"/>
                  </a:ext>
                </a:extLst>
              </p14:cNvPr>
              <p14:cNvContentPartPr/>
              <p14:nvPr/>
            </p14:nvContentPartPr>
            <p14:xfrm>
              <a:off x="6043502" y="3160185"/>
              <a:ext cx="3250678" cy="45719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C4A77C4-9F41-3FEC-1A26-C7E1312A1E7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89858" y="3053031"/>
                <a:ext cx="3358326" cy="2596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7701677-E093-0E3F-D51A-2421E068EC4C}"/>
                  </a:ext>
                </a:extLst>
              </p14:cNvPr>
              <p14:cNvContentPartPr/>
              <p14:nvPr/>
            </p14:nvContentPartPr>
            <p14:xfrm>
              <a:off x="6087781" y="3610545"/>
              <a:ext cx="2110879" cy="45719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7701677-E093-0E3F-D51A-2421E068EC4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034145" y="3503391"/>
                <a:ext cx="2218511" cy="2596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CBC2D35-5078-031D-CF00-5EE295ECB154}"/>
                  </a:ext>
                </a:extLst>
              </p14:cNvPr>
              <p14:cNvContentPartPr/>
              <p14:nvPr/>
            </p14:nvContentPartPr>
            <p14:xfrm>
              <a:off x="6091742" y="4027065"/>
              <a:ext cx="1939133" cy="45719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CBC2D35-5078-031D-CF00-5EE295ECB15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037747" y="3919067"/>
                <a:ext cx="2046763" cy="261354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439D76AB-4CA7-A683-9CD1-37D39989C9AF}"/>
              </a:ext>
            </a:extLst>
          </p:cNvPr>
          <p:cNvSpPr txBox="1"/>
          <p:nvPr/>
        </p:nvSpPr>
        <p:spPr>
          <a:xfrm>
            <a:off x="5999967" y="1064714"/>
            <a:ext cx="2888117" cy="30416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u="sng" dirty="0"/>
              <a:t>Codes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/>
              <a:t>Search issues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/>
              <a:t>Redundant steps on checkout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/>
              <a:t>Slow loading for images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endParaRPr lang="en-US" dirty="0"/>
          </a:p>
          <a:p>
            <a:pPr marL="342900" indent="-342900">
              <a:lnSpc>
                <a:spcPct val="200000"/>
              </a:lnSpc>
              <a:buAutoNum type="arabicPeriod"/>
            </a:pPr>
            <a:endParaRPr lang="en-US" dirty="0"/>
          </a:p>
          <a:p>
            <a:pPr marL="342900" indent="-342900">
              <a:lnSpc>
                <a:spcPct val="200000"/>
              </a:lnSpc>
              <a:buAutoNum type="arabicPeriod"/>
            </a:pP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A884E7E-AB5B-CB07-BC9F-119900FBF254}"/>
                  </a:ext>
                </a:extLst>
              </p14:cNvPr>
              <p14:cNvContentPartPr/>
              <p14:nvPr/>
            </p14:nvContentPartPr>
            <p14:xfrm>
              <a:off x="6224873" y="1742424"/>
              <a:ext cx="1265648" cy="45719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A884E7E-AB5B-CB07-BC9F-119900FBF25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171222" y="1634426"/>
                <a:ext cx="1373309" cy="2613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B9705EA-3A22-6A85-3547-5DA5FA4429F5}"/>
                  </a:ext>
                </a:extLst>
              </p14:cNvPr>
              <p14:cNvContentPartPr/>
              <p14:nvPr/>
            </p14:nvContentPartPr>
            <p14:xfrm>
              <a:off x="6119216" y="2205907"/>
              <a:ext cx="2656513" cy="45719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B9705EA-3A22-6A85-3547-5DA5FA4429F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065582" y="2097909"/>
                <a:ext cx="2764141" cy="2613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F9BCE69-F8DC-CDBF-7F30-6494F735898E}"/>
                  </a:ext>
                </a:extLst>
              </p14:cNvPr>
              <p14:cNvContentPartPr/>
              <p14:nvPr/>
            </p14:nvContentPartPr>
            <p14:xfrm>
              <a:off x="6101936" y="2613427"/>
              <a:ext cx="2237587" cy="46011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F9BCE69-F8DC-CDBF-7F30-6494F735898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048292" y="2506425"/>
                <a:ext cx="2345236" cy="2596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C7647DF-4CA7-08A5-98E2-921923201FAD}"/>
                  </a:ext>
                </a:extLst>
              </p14:cNvPr>
              <p14:cNvContentPartPr/>
              <p14:nvPr/>
            </p14:nvContentPartPr>
            <p14:xfrm>
              <a:off x="1029176" y="1618747"/>
              <a:ext cx="3508920" cy="1069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C7647DF-4CA7-08A5-98E2-921923201FAD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75176" y="1510747"/>
                <a:ext cx="3616560" cy="32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61D9260-04CB-5EB1-E838-E37094F7B4F1}"/>
                  </a:ext>
                </a:extLst>
              </p14:cNvPr>
              <p14:cNvContentPartPr/>
              <p14:nvPr/>
            </p14:nvContentPartPr>
            <p14:xfrm>
              <a:off x="319256" y="1825747"/>
              <a:ext cx="2056320" cy="1026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61D9260-04CB-5EB1-E838-E37094F7B4F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65616" y="1718107"/>
                <a:ext cx="2163960" cy="3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54F16E5-D8B0-3518-B5EC-9B621351CFFF}"/>
                  </a:ext>
                </a:extLst>
              </p14:cNvPr>
              <p14:cNvContentPartPr/>
              <p14:nvPr/>
            </p14:nvContentPartPr>
            <p14:xfrm>
              <a:off x="6056576" y="4454107"/>
              <a:ext cx="1678680" cy="968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54F16E5-D8B0-3518-B5EC-9B621351CFF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002576" y="4346107"/>
                <a:ext cx="1786320" cy="31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8AFBF032-EE2A-EDEE-14A3-2173BDA1D1BD}"/>
                  </a:ext>
                </a:extLst>
              </p14:cNvPr>
              <p14:cNvContentPartPr/>
              <p14:nvPr/>
            </p14:nvContentPartPr>
            <p14:xfrm>
              <a:off x="969416" y="2829067"/>
              <a:ext cx="3692520" cy="1587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8AFBF032-EE2A-EDEE-14A3-2173BDA1D1BD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915776" y="2721427"/>
                <a:ext cx="3800160" cy="37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060898F7-9203-F46E-8E16-551B5497B469}"/>
                  </a:ext>
                </a:extLst>
              </p14:cNvPr>
              <p14:cNvContentPartPr/>
              <p14:nvPr/>
            </p14:nvContentPartPr>
            <p14:xfrm>
              <a:off x="377576" y="3075667"/>
              <a:ext cx="1413360" cy="547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060898F7-9203-F46E-8E16-551B5497B469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23576" y="2968027"/>
                <a:ext cx="1521000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7338D107-902D-2699-179B-35F735BDE501}"/>
                  </a:ext>
                </a:extLst>
              </p14:cNvPr>
              <p14:cNvContentPartPr/>
              <p14:nvPr/>
            </p14:nvContentPartPr>
            <p14:xfrm>
              <a:off x="2092976" y="3582547"/>
              <a:ext cx="2082960" cy="900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7338D107-902D-2699-179B-35F735BDE501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038976" y="3474547"/>
                <a:ext cx="2190600" cy="30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D7E3F08F-D101-3848-8CC2-83E9780AA82B}"/>
                  </a:ext>
                </a:extLst>
              </p14:cNvPr>
              <p14:cNvContentPartPr/>
              <p14:nvPr/>
            </p14:nvContentPartPr>
            <p14:xfrm>
              <a:off x="326816" y="3817267"/>
              <a:ext cx="1517400" cy="5220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D7E3F08F-D101-3848-8CC2-83E9780AA82B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73176" y="3709627"/>
                <a:ext cx="162504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E70AC79B-283F-AFC3-F42A-A72D7BCD4DB0}"/>
                  </a:ext>
                </a:extLst>
              </p14:cNvPr>
              <p14:cNvContentPartPr/>
              <p14:nvPr/>
            </p14:nvContentPartPr>
            <p14:xfrm>
              <a:off x="1021616" y="4277707"/>
              <a:ext cx="2708280" cy="1206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E70AC79B-283F-AFC3-F42A-A72D7BCD4DB0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967976" y="4169707"/>
                <a:ext cx="2815920" cy="336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50937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F2718BA-9AE0-E1C6-7DB9-0F2984C6F6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8155594"/>
              </p:ext>
            </p:extLst>
          </p:nvPr>
        </p:nvGraphicFramePr>
        <p:xfrm>
          <a:off x="3302698" y="107434"/>
          <a:ext cx="2546960" cy="3139440"/>
        </p:xfrm>
        <a:graphic>
          <a:graphicData uri="http://schemas.openxmlformats.org/drawingml/2006/table">
            <a:tbl>
              <a:tblPr firstRow="1" bandRow="1">
                <a:tableStyleId>{6ED5C915-561B-422E-BCF6-B70CCCD228D2}</a:tableStyleId>
              </a:tblPr>
              <a:tblGrid>
                <a:gridCol w="2546960">
                  <a:extLst>
                    <a:ext uri="{9D8B030D-6E8A-4147-A177-3AD203B41FA5}">
                      <a16:colId xmlns:a16="http://schemas.microsoft.com/office/drawing/2014/main" val="2539147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1" u="sng" dirty="0">
                          <a:solidFill>
                            <a:schemeClr val="bg2"/>
                          </a:solidFill>
                          <a:latin typeface="+mn-lt"/>
                        </a:rPr>
                        <a:t>Codes: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334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2"/>
                          </a:solidFill>
                          <a:latin typeface="+mn-lt"/>
                        </a:rPr>
                        <a:t>1.Search issues</a:t>
                      </a:r>
                      <a:endParaRPr lang="en-US" dirty="0">
                        <a:solidFill>
                          <a:schemeClr val="bg2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3082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2"/>
                          </a:solidFill>
                          <a:latin typeface="+mn-lt"/>
                        </a:rPr>
                        <a:t>2.Redundant checkout steps</a:t>
                      </a:r>
                      <a:endParaRPr lang="en-US" dirty="0">
                        <a:solidFill>
                          <a:schemeClr val="bg2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9300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2"/>
                          </a:solidFill>
                          <a:latin typeface="+mn-lt"/>
                        </a:rPr>
                        <a:t>3.Slow loading time</a:t>
                      </a:r>
                      <a:endParaRPr lang="en-US" dirty="0">
                        <a:solidFill>
                          <a:schemeClr val="bg2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2551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2"/>
                          </a:solidFill>
                          <a:latin typeface="+mn-lt"/>
                        </a:rPr>
                        <a:t>4.Confusing navigation</a:t>
                      </a:r>
                      <a:endParaRPr lang="en-US" dirty="0">
                        <a:solidFill>
                          <a:schemeClr val="bg2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3080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2"/>
                          </a:solidFill>
                          <a:latin typeface="+mn-lt"/>
                        </a:rPr>
                        <a:t>5.Forced account creation</a:t>
                      </a:r>
                      <a:endParaRPr lang="en-US" dirty="0">
                        <a:solidFill>
                          <a:schemeClr val="bg2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7632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2"/>
                          </a:solidFill>
                          <a:latin typeface="+mn-lt"/>
                        </a:rPr>
                        <a:t>6.Unclear UI elements</a:t>
                      </a:r>
                      <a:endParaRPr lang="en-US" dirty="0">
                        <a:solidFill>
                          <a:schemeClr val="bg2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4713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2"/>
                          </a:solidFill>
                          <a:latin typeface="+mn-lt"/>
                        </a:rPr>
                        <a:t>7.Overwhelming UI</a:t>
                      </a:r>
                      <a:endParaRPr lang="en-US" dirty="0">
                        <a:solidFill>
                          <a:schemeClr val="bg2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9529450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C1EC1A2-4459-3D6A-1A83-6C3D44086E77}"/>
              </a:ext>
            </a:extLst>
          </p:cNvPr>
          <p:cNvCxnSpPr>
            <a:cxnSpLocks/>
          </p:cNvCxnSpPr>
          <p:nvPr/>
        </p:nvCxnSpPr>
        <p:spPr>
          <a:xfrm>
            <a:off x="4670208" y="3262392"/>
            <a:ext cx="0" cy="128455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BC68CEC-471B-8861-EE71-C1D287890AB6}"/>
              </a:ext>
            </a:extLst>
          </p:cNvPr>
          <p:cNvSpPr txBox="1"/>
          <p:nvPr/>
        </p:nvSpPr>
        <p:spPr>
          <a:xfrm>
            <a:off x="3070052" y="3389115"/>
            <a:ext cx="167848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none" strike="noStrike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group similar codes into broader themes</a:t>
            </a:r>
            <a:endParaRPr lang="en-US" dirty="0">
              <a:latin typeface="+mn-lt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6A7717E-C3E4-6276-4E01-7B4EF90134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0847261"/>
              </p:ext>
            </p:extLst>
          </p:nvPr>
        </p:nvGraphicFramePr>
        <p:xfrm>
          <a:off x="421884" y="4601609"/>
          <a:ext cx="8521700" cy="1524000"/>
        </p:xfrm>
        <a:graphic>
          <a:graphicData uri="http://schemas.openxmlformats.org/drawingml/2006/table">
            <a:tbl>
              <a:tblPr/>
              <a:tblGrid>
                <a:gridCol w="4260850">
                  <a:extLst>
                    <a:ext uri="{9D8B030D-6E8A-4147-A177-3AD203B41FA5}">
                      <a16:colId xmlns:a16="http://schemas.microsoft.com/office/drawing/2014/main" val="2074780994"/>
                    </a:ext>
                  </a:extLst>
                </a:gridCol>
                <a:gridCol w="4260850">
                  <a:extLst>
                    <a:ext uri="{9D8B030D-6E8A-4147-A177-3AD203B41FA5}">
                      <a16:colId xmlns:a16="http://schemas.microsoft.com/office/drawing/2014/main" val="6705893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u="sng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u="sng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Related Codes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1274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Search &amp; Navigation Issues</a:t>
                      </a:r>
                      <a:endParaRPr lang="en-US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Search issues, Confusing navigation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0053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Checkout Frustrations</a:t>
                      </a:r>
                      <a:endParaRPr lang="en-US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Redundant checkout steps, Forced account creation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3592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Issues</a:t>
                      </a:r>
                      <a:endParaRPr lang="en-US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Slow loading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3293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UI &amp; Usability Problems</a:t>
                      </a:r>
                      <a:endParaRPr lang="en-US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Unclear UI elements, Overwhelming UI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4197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6846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7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Thematic Analysis</a:t>
            </a:r>
            <a:endParaRPr/>
          </a:p>
        </p:txBody>
      </p:sp>
      <p:sp>
        <p:nvSpPr>
          <p:cNvPr id="249" name="Google Shape;249;p27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82296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GB" dirty="0"/>
              <a:t>Inductive Analysis</a:t>
            </a:r>
            <a:endParaRPr dirty="0"/>
          </a:p>
          <a:p>
            <a:pPr marL="596646" lvl="0" indent="-5143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GB" dirty="0"/>
              <a:t>Identify themes</a:t>
            </a:r>
            <a:endParaRPr dirty="0"/>
          </a:p>
          <a:p>
            <a:pPr marL="596646" lvl="0" indent="-5143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GB" dirty="0"/>
              <a:t>Performed iteratively</a:t>
            </a:r>
            <a:endParaRPr dirty="0"/>
          </a:p>
          <a:p>
            <a:pPr marL="596646" lvl="0" indent="-5143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GB" dirty="0"/>
              <a:t>Determine meaningful code that are orthogonal </a:t>
            </a:r>
            <a:endParaRPr dirty="0"/>
          </a:p>
          <a:p>
            <a:pPr marL="596646" lvl="0" indent="-5143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GB" dirty="0"/>
              <a:t>Decide appropriate granularity </a:t>
            </a:r>
            <a:endParaRPr dirty="0"/>
          </a:p>
          <a:p>
            <a:pPr marL="596646" lvl="0" indent="-35179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None/>
            </a:pPr>
            <a:endParaRPr dirty="0"/>
          </a:p>
          <a:p>
            <a:pPr marL="596646" lvl="0" indent="-35179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None/>
            </a:pPr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0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Affinity Diagrams</a:t>
            </a:r>
            <a:endParaRPr/>
          </a:p>
        </p:txBody>
      </p:sp>
      <p:sp>
        <p:nvSpPr>
          <p:cNvPr id="267" name="Google Shape;267;p30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82296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None/>
            </a:pPr>
            <a:r>
              <a:rPr lang="en-GB" sz="2800"/>
              <a:t>The approach seeks to organize individual ideas and insights into a hierarchy showing common structures and themes.</a:t>
            </a:r>
            <a:endParaRPr/>
          </a:p>
          <a:p>
            <a:pPr marL="640080" lvl="1" indent="-237744" algn="l" rtl="0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</a:pPr>
            <a:r>
              <a:rPr lang="en-GB" sz="2400"/>
              <a:t>Notes are grouped</a:t>
            </a:r>
            <a:endParaRPr/>
          </a:p>
          <a:p>
            <a:pPr marL="640080" lvl="1" indent="-237744" algn="l" rtl="0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</a:pPr>
            <a:r>
              <a:rPr lang="en-GB" sz="2400"/>
              <a:t>Groups emerged from the data</a:t>
            </a:r>
            <a:endParaRPr/>
          </a:p>
          <a:p>
            <a:pPr marL="640080" lvl="1" indent="-237744" algn="l" rtl="0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</a:pPr>
            <a:r>
              <a:rPr lang="en-GB" sz="2400"/>
              <a:t>Diagram start from one note</a:t>
            </a:r>
            <a:endParaRPr sz="2400"/>
          </a:p>
        </p:txBody>
      </p:sp>
      <p:pic>
        <p:nvPicPr>
          <p:cNvPr id="268" name="Google Shape;268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3200" y="4343400"/>
            <a:ext cx="4495800" cy="24153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1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Categorizing Data</a:t>
            </a:r>
            <a:endParaRPr/>
          </a:p>
        </p:txBody>
      </p:sp>
      <p:sp>
        <p:nvSpPr>
          <p:cNvPr id="274" name="Google Shape;274;p31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82296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GB" dirty="0"/>
              <a:t>In this procedure the analysis frame (the set of categories used) is chosen beforehand, based on the study goal.</a:t>
            </a:r>
            <a:endParaRPr dirty="0"/>
          </a:p>
          <a:p>
            <a:pPr marL="82296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endParaRPr dirty="0"/>
          </a:p>
          <a:p>
            <a:pPr marL="82296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rPr lang="en-GB" dirty="0"/>
              <a:t>In that case, analysis proceeds deductively.</a:t>
            </a:r>
            <a:endParaRPr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2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Example</a:t>
            </a:r>
            <a:endParaRPr/>
          </a:p>
        </p:txBody>
      </p:sp>
      <p:pic>
        <p:nvPicPr>
          <p:cNvPr id="280" name="Google Shape;280;p3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02970" y="1164921"/>
            <a:ext cx="7498080" cy="4679921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2"/>
          <p:cNvSpPr txBox="1"/>
          <p:nvPr/>
        </p:nvSpPr>
        <p:spPr>
          <a:xfrm>
            <a:off x="1450340" y="6247229"/>
            <a:ext cx="7239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Excerpt from a transcript of a think-aloud protocol when using an online educational environment.</a:t>
            </a:r>
            <a:endParaRPr sz="18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3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Example</a:t>
            </a:r>
            <a:endParaRPr/>
          </a:p>
        </p:txBody>
      </p:sp>
      <p:pic>
        <p:nvPicPr>
          <p:cNvPr id="287" name="Google Shape;287;p3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286000" y="1600200"/>
            <a:ext cx="5334770" cy="480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33"/>
          <p:cNvSpPr txBox="1"/>
          <p:nvPr/>
        </p:nvSpPr>
        <p:spPr>
          <a:xfrm>
            <a:off x="1435608" y="6488668"/>
            <a:ext cx="74980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Criteria for identifying usability problems from verbal protocol transcriptions</a:t>
            </a:r>
            <a:endParaRPr sz="18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4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Example</a:t>
            </a:r>
            <a:endParaRPr/>
          </a:p>
        </p:txBody>
      </p:sp>
      <p:pic>
        <p:nvPicPr>
          <p:cNvPr id="294" name="Google Shape;294;p3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089764" y="1039660"/>
            <a:ext cx="7311286" cy="4980724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4"/>
          <p:cNvSpPr txBox="1"/>
          <p:nvPr/>
        </p:nvSpPr>
        <p:spPr>
          <a:xfrm>
            <a:off x="1524000" y="6398696"/>
            <a:ext cx="7620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excerpt on Slide 31 coded using the categorization scheme on Slide 32</a:t>
            </a:r>
            <a:endParaRPr sz="18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5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Critical Incident Analysis</a:t>
            </a:r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body" idx="1"/>
          </p:nvPr>
        </p:nvSpPr>
        <p:spPr>
          <a:xfrm>
            <a:off x="1072354" y="1372644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82296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lang="en-GB" sz="2400" dirty="0"/>
              <a:t>Critical incident analysis is one approach that helps to identify significant subsets of the data for more detailed analysis. </a:t>
            </a:r>
            <a:endParaRPr dirty="0"/>
          </a:p>
          <a:p>
            <a:pPr marL="82296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endParaRPr sz="2400" dirty="0"/>
          </a:p>
          <a:p>
            <a:pPr marL="82296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rPr lang="en-GB" sz="2400" dirty="0"/>
              <a:t>It has two basic principles:</a:t>
            </a:r>
            <a:endParaRPr dirty="0"/>
          </a:p>
          <a:p>
            <a:pPr marL="596646" lvl="0" indent="-51435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Font typeface="Gill Sans"/>
              <a:buAutoNum type="arabicPeriod"/>
            </a:pPr>
            <a:r>
              <a:rPr lang="en-GB" sz="2400" dirty="0"/>
              <a:t>reporting facts regarding behaviour is preferable to the collection of interpretations, ratings, and opinions based on general impressions.</a:t>
            </a:r>
            <a:endParaRPr dirty="0"/>
          </a:p>
          <a:p>
            <a:pPr marL="596646" lvl="0" indent="-51435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Font typeface="Gill Sans"/>
              <a:buAutoNum type="arabicPeriod"/>
            </a:pPr>
            <a:r>
              <a:rPr lang="en-GB" sz="2400" dirty="0"/>
              <a:t>reporting should be limited to those behaviours which, according to competent observers, make a significant contribution to the activity.</a:t>
            </a:r>
            <a:endParaRPr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1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6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Critical Incident Analysis</a:t>
            </a:r>
            <a:endParaRPr/>
          </a:p>
        </p:txBody>
      </p:sp>
      <p:sp>
        <p:nvSpPr>
          <p:cNvPr id="307" name="Google Shape;307;p36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83464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Char char="⚫"/>
            </a:pPr>
            <a:r>
              <a:rPr lang="en-GB" sz="2800" dirty="0"/>
              <a:t>In the interaction design context, the use of well-planned observation sessions satisfies the first principle. </a:t>
            </a:r>
            <a:endParaRPr dirty="0"/>
          </a:p>
          <a:p>
            <a:pPr marL="82296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</a:pPr>
            <a:endParaRPr sz="2800" dirty="0"/>
          </a:p>
          <a:p>
            <a:pPr marL="365760" lvl="0" indent="-283464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</a:pPr>
            <a:r>
              <a:rPr lang="en-GB" sz="2800" dirty="0"/>
              <a:t>The second principle refers to critical incidents, that is, incidents that are significant or pivotal to the activity being observed, in either a desirable or an undesirable way.</a:t>
            </a:r>
            <a:endParaRPr sz="2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>
          <a:extLst>
            <a:ext uri="{FF2B5EF4-FFF2-40B4-BE49-F238E27FC236}">
              <a16:creationId xmlns:a16="http://schemas.microsoft.com/office/drawing/2014/main" id="{FF688C46-9DB8-3775-B4CF-4E4D58377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6">
            <a:extLst>
              <a:ext uri="{FF2B5EF4-FFF2-40B4-BE49-F238E27FC236}">
                <a16:creationId xmlns:a16="http://schemas.microsoft.com/office/drawing/2014/main" id="{BE192D62-44BC-ED77-C071-99C07CA9C9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Critical Incident Analysis</a:t>
            </a:r>
            <a:endParaRPr/>
          </a:p>
        </p:txBody>
      </p:sp>
      <p:sp>
        <p:nvSpPr>
          <p:cNvPr id="307" name="Google Shape;307;p36">
            <a:extLst>
              <a:ext uri="{FF2B5EF4-FFF2-40B4-BE49-F238E27FC236}">
                <a16:creationId xmlns:a16="http://schemas.microsoft.com/office/drawing/2014/main" id="{844F4413-B38C-0A28-9C05-DCDD804C9D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1034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39496" indent="-457200" algn="just">
              <a:spcBef>
                <a:spcPts val="0"/>
              </a:spcBef>
              <a:buSzPts val="2240"/>
            </a:pPr>
            <a:r>
              <a:rPr lang="en-US" sz="2800" dirty="0"/>
              <a:t>Traditionally focus on investigating cause of human-system problem to minimize loss of life, property , money or data</a:t>
            </a:r>
          </a:p>
          <a:p>
            <a:pPr marL="365760" lvl="0" indent="-283464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Char char="⚫"/>
            </a:pPr>
            <a:endParaRPr lang="en-US" sz="2800" dirty="0"/>
          </a:p>
          <a:p>
            <a:pPr marL="539496" indent="-457200" algn="just">
              <a:spcBef>
                <a:spcPts val="0"/>
              </a:spcBef>
              <a:buSzPts val="2240"/>
            </a:pPr>
            <a:r>
              <a:rPr lang="en-US" sz="2800" dirty="0"/>
              <a:t>The investigator may focus on a particular incident or set of incidents which caused serious loss</a:t>
            </a:r>
          </a:p>
          <a:p>
            <a:pPr marL="539496" indent="-457200" algn="just">
              <a:spcBef>
                <a:spcPts val="0"/>
              </a:spcBef>
              <a:buSzPts val="2240"/>
            </a:pPr>
            <a:endParaRPr lang="en-US" sz="2800" dirty="0"/>
          </a:p>
          <a:p>
            <a:pPr marL="539496" indent="-457200" algn="just">
              <a:spcBef>
                <a:spcPts val="0"/>
              </a:spcBef>
              <a:buSzPts val="2240"/>
            </a:pPr>
            <a:r>
              <a:rPr lang="en-US" sz="2800" dirty="0"/>
              <a:t>Nowadays used for other types of investigations as well in designing . Examples</a:t>
            </a:r>
          </a:p>
          <a:p>
            <a:pPr marL="539496" indent="-457200" algn="just">
              <a:spcBef>
                <a:spcPts val="0"/>
              </a:spcBef>
              <a:buSzPts val="2240"/>
            </a:pPr>
            <a:endParaRPr lang="en-US" sz="2800" dirty="0"/>
          </a:p>
          <a:p>
            <a:pPr marL="539496" indent="-457200" algn="just">
              <a:spcBef>
                <a:spcPts val="0"/>
              </a:spcBef>
              <a:buSzPts val="2240"/>
            </a:pPr>
            <a:endParaRPr lang="en-US" sz="2800" dirty="0"/>
          </a:p>
          <a:p>
            <a:pPr marL="365760" lvl="0" indent="-283464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Char char="⚫"/>
            </a:pPr>
            <a:endParaRPr lang="en-US" sz="2800" dirty="0"/>
          </a:p>
          <a:p>
            <a:pPr marL="539496" indent="-457200" algn="just">
              <a:spcBef>
                <a:spcPts val="0"/>
              </a:spcBef>
              <a:buSzPts val="2240"/>
            </a:pP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2751174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4EACF-9106-2F88-9BA6-2B74A7D4F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4B0FE-DF27-6215-6B4C-A2F4E31A7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68112"/>
            <a:ext cx="8520600" cy="831300"/>
          </a:xfrm>
        </p:spPr>
        <p:txBody>
          <a:bodyPr/>
          <a:lstStyle/>
          <a:p>
            <a:r>
              <a:rPr lang="en-US" dirty="0"/>
              <a:t>Conducting Critical Incidence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6A220F-10CC-B31F-2A27-81148EB650DA}"/>
              </a:ext>
            </a:extLst>
          </p:cNvPr>
          <p:cNvSpPr/>
          <p:nvPr/>
        </p:nvSpPr>
        <p:spPr>
          <a:xfrm>
            <a:off x="0" y="3835145"/>
            <a:ext cx="9144000" cy="80683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</a:schemeClr>
              </a:gs>
              <a:gs pos="100000">
                <a:schemeClr val="bg2"/>
              </a:gs>
            </a:gsLst>
            <a:lin ang="10800000" scaled="1"/>
            <a:tileRect/>
          </a:gradFill>
          <a:ln w="12700">
            <a:miter lim="400000"/>
          </a:ln>
          <a:effectLst/>
        </p:spPr>
        <p:txBody>
          <a:bodyPr lIns="28575" tIns="28575" rIns="28575" bIns="28575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100">
              <a:solidFill>
                <a:srgbClr val="FFFFFF"/>
              </a:solidFill>
            </a:endParaRPr>
          </a:p>
        </p:txBody>
      </p:sp>
      <p:sp>
        <p:nvSpPr>
          <p:cNvPr id="4" name="Shape">
            <a:extLst>
              <a:ext uri="{FF2B5EF4-FFF2-40B4-BE49-F238E27FC236}">
                <a16:creationId xmlns:a16="http://schemas.microsoft.com/office/drawing/2014/main" id="{59BCFE50-1695-97A7-5E53-5D30E2368DB9}"/>
              </a:ext>
            </a:extLst>
          </p:cNvPr>
          <p:cNvSpPr/>
          <p:nvPr/>
        </p:nvSpPr>
        <p:spPr>
          <a:xfrm>
            <a:off x="102558" y="2106748"/>
            <a:ext cx="1376645" cy="15900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39" h="21408" extrusionOk="0">
                <a:moveTo>
                  <a:pt x="10284" y="7"/>
                </a:moveTo>
                <a:cubicBezTo>
                  <a:pt x="4706" y="205"/>
                  <a:pt x="194" y="4142"/>
                  <a:pt x="6" y="8965"/>
                </a:cubicBezTo>
                <a:cubicBezTo>
                  <a:pt x="-161" y="13263"/>
                  <a:pt x="3056" y="16911"/>
                  <a:pt x="7526" y="18121"/>
                </a:cubicBezTo>
                <a:cubicBezTo>
                  <a:pt x="8132" y="18284"/>
                  <a:pt x="8654" y="18627"/>
                  <a:pt x="9010" y="19096"/>
                </a:cubicBezTo>
                <a:lnTo>
                  <a:pt x="10723" y="21408"/>
                </a:lnTo>
                <a:lnTo>
                  <a:pt x="12436" y="19096"/>
                </a:lnTo>
                <a:cubicBezTo>
                  <a:pt x="12791" y="18627"/>
                  <a:pt x="13313" y="18284"/>
                  <a:pt x="13919" y="18121"/>
                </a:cubicBezTo>
                <a:cubicBezTo>
                  <a:pt x="18285" y="16947"/>
                  <a:pt x="21439" y="13425"/>
                  <a:pt x="21439" y="9272"/>
                </a:cubicBezTo>
                <a:cubicBezTo>
                  <a:pt x="21418" y="4034"/>
                  <a:pt x="16384" y="-192"/>
                  <a:pt x="10284" y="7"/>
                </a:cubicBezTo>
                <a:close/>
              </a:path>
            </a:pathLst>
          </a:custGeom>
          <a:solidFill>
            <a:schemeClr val="tx2"/>
          </a:solidFill>
          <a:ln w="12700">
            <a:miter lim="400000"/>
          </a:ln>
          <a:effectLst/>
        </p:spPr>
        <p:txBody>
          <a:bodyPr lIns="28575" tIns="28575" rIns="28575" bIns="28575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2100" dirty="0">
              <a:solidFill>
                <a:srgbClr val="FFFFFF"/>
              </a:solidFill>
            </a:endParaRPr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52E79CEE-DD4A-3636-28B2-A0134C78456E}"/>
              </a:ext>
            </a:extLst>
          </p:cNvPr>
          <p:cNvSpPr/>
          <p:nvPr/>
        </p:nvSpPr>
        <p:spPr>
          <a:xfrm>
            <a:off x="2055747" y="2106748"/>
            <a:ext cx="1376645" cy="15900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39" h="21408" extrusionOk="0">
                <a:moveTo>
                  <a:pt x="10284" y="7"/>
                </a:moveTo>
                <a:cubicBezTo>
                  <a:pt x="4706" y="205"/>
                  <a:pt x="194" y="4142"/>
                  <a:pt x="6" y="8965"/>
                </a:cubicBezTo>
                <a:cubicBezTo>
                  <a:pt x="-161" y="13263"/>
                  <a:pt x="3056" y="16911"/>
                  <a:pt x="7526" y="18121"/>
                </a:cubicBezTo>
                <a:cubicBezTo>
                  <a:pt x="8132" y="18284"/>
                  <a:pt x="8654" y="18627"/>
                  <a:pt x="9010" y="19096"/>
                </a:cubicBezTo>
                <a:lnTo>
                  <a:pt x="10723" y="21408"/>
                </a:lnTo>
                <a:lnTo>
                  <a:pt x="12436" y="19096"/>
                </a:lnTo>
                <a:cubicBezTo>
                  <a:pt x="12791" y="18627"/>
                  <a:pt x="13313" y="18284"/>
                  <a:pt x="13919" y="18121"/>
                </a:cubicBezTo>
                <a:cubicBezTo>
                  <a:pt x="18285" y="16947"/>
                  <a:pt x="21439" y="13425"/>
                  <a:pt x="21439" y="9272"/>
                </a:cubicBezTo>
                <a:cubicBezTo>
                  <a:pt x="21439" y="4034"/>
                  <a:pt x="16405" y="-192"/>
                  <a:pt x="10284" y="7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</a:schemeClr>
          </a:solidFill>
          <a:ln w="12700">
            <a:miter lim="400000"/>
          </a:ln>
          <a:effectLst/>
        </p:spPr>
        <p:txBody>
          <a:bodyPr lIns="28575" tIns="28575" rIns="28575" bIns="28575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2100">
              <a:solidFill>
                <a:srgbClr val="FFFFFF"/>
              </a:solidFill>
            </a:endParaRPr>
          </a:p>
        </p:txBody>
      </p:sp>
      <p:sp>
        <p:nvSpPr>
          <p:cNvPr id="6" name="Shape">
            <a:extLst>
              <a:ext uri="{FF2B5EF4-FFF2-40B4-BE49-F238E27FC236}">
                <a16:creationId xmlns:a16="http://schemas.microsoft.com/office/drawing/2014/main" id="{518C9E20-25C2-82B6-C912-58AD224E6B7A}"/>
              </a:ext>
            </a:extLst>
          </p:cNvPr>
          <p:cNvSpPr/>
          <p:nvPr/>
        </p:nvSpPr>
        <p:spPr>
          <a:xfrm>
            <a:off x="3971360" y="2106748"/>
            <a:ext cx="1376645" cy="15900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39" h="21408" extrusionOk="0">
                <a:moveTo>
                  <a:pt x="10284" y="7"/>
                </a:moveTo>
                <a:cubicBezTo>
                  <a:pt x="4706" y="205"/>
                  <a:pt x="194" y="4142"/>
                  <a:pt x="6" y="8965"/>
                </a:cubicBezTo>
                <a:cubicBezTo>
                  <a:pt x="-161" y="13263"/>
                  <a:pt x="3056" y="16911"/>
                  <a:pt x="7526" y="18121"/>
                </a:cubicBezTo>
                <a:cubicBezTo>
                  <a:pt x="8132" y="18284"/>
                  <a:pt x="8654" y="18627"/>
                  <a:pt x="9010" y="19096"/>
                </a:cubicBezTo>
                <a:lnTo>
                  <a:pt x="10723" y="21408"/>
                </a:lnTo>
                <a:lnTo>
                  <a:pt x="12436" y="19096"/>
                </a:lnTo>
                <a:cubicBezTo>
                  <a:pt x="12791" y="18627"/>
                  <a:pt x="13313" y="18284"/>
                  <a:pt x="13919" y="18121"/>
                </a:cubicBezTo>
                <a:cubicBezTo>
                  <a:pt x="18285" y="16947"/>
                  <a:pt x="21439" y="13425"/>
                  <a:pt x="21439" y="9272"/>
                </a:cubicBezTo>
                <a:cubicBezTo>
                  <a:pt x="21439" y="4034"/>
                  <a:pt x="16405" y="-192"/>
                  <a:pt x="10284" y="7"/>
                </a:cubicBez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  <a:effectLst/>
        </p:spPr>
        <p:txBody>
          <a:bodyPr lIns="28575" tIns="28575" rIns="28575" bIns="28575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2100">
              <a:solidFill>
                <a:srgbClr val="FFFFFF"/>
              </a:solidFill>
            </a:endParaRPr>
          </a:p>
        </p:txBody>
      </p:sp>
      <p:sp>
        <p:nvSpPr>
          <p:cNvPr id="7" name="Shape">
            <a:extLst>
              <a:ext uri="{FF2B5EF4-FFF2-40B4-BE49-F238E27FC236}">
                <a16:creationId xmlns:a16="http://schemas.microsoft.com/office/drawing/2014/main" id="{E29D62DA-FB07-F0DE-668E-398D4FE952C1}"/>
              </a:ext>
            </a:extLst>
          </p:cNvPr>
          <p:cNvSpPr/>
          <p:nvPr/>
        </p:nvSpPr>
        <p:spPr>
          <a:xfrm>
            <a:off x="5811816" y="2106748"/>
            <a:ext cx="1376645" cy="15900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39" h="21408" extrusionOk="0">
                <a:moveTo>
                  <a:pt x="10284" y="7"/>
                </a:moveTo>
                <a:cubicBezTo>
                  <a:pt x="4706" y="205"/>
                  <a:pt x="194" y="4142"/>
                  <a:pt x="6" y="8965"/>
                </a:cubicBezTo>
                <a:cubicBezTo>
                  <a:pt x="-161" y="13263"/>
                  <a:pt x="3056" y="16911"/>
                  <a:pt x="7526" y="18121"/>
                </a:cubicBezTo>
                <a:cubicBezTo>
                  <a:pt x="8132" y="18284"/>
                  <a:pt x="8654" y="18627"/>
                  <a:pt x="9010" y="19096"/>
                </a:cubicBezTo>
                <a:lnTo>
                  <a:pt x="10723" y="21408"/>
                </a:lnTo>
                <a:lnTo>
                  <a:pt x="12436" y="19096"/>
                </a:lnTo>
                <a:cubicBezTo>
                  <a:pt x="12791" y="18627"/>
                  <a:pt x="13313" y="18284"/>
                  <a:pt x="13919" y="18121"/>
                </a:cubicBezTo>
                <a:cubicBezTo>
                  <a:pt x="18285" y="16947"/>
                  <a:pt x="21439" y="13425"/>
                  <a:pt x="21439" y="9272"/>
                </a:cubicBezTo>
                <a:cubicBezTo>
                  <a:pt x="21439" y="4034"/>
                  <a:pt x="16405" y="-192"/>
                  <a:pt x="10284" y="7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12700">
            <a:miter lim="400000"/>
          </a:ln>
          <a:effectLst/>
        </p:spPr>
        <p:txBody>
          <a:bodyPr lIns="28575" tIns="28575" rIns="28575" bIns="28575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2100" dirty="0">
              <a:solidFill>
                <a:srgbClr val="FFFFFF"/>
              </a:solidFill>
            </a:endParaRPr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8A06FB40-3A8E-24B5-9863-7E8C08E44AAE}"/>
              </a:ext>
            </a:extLst>
          </p:cNvPr>
          <p:cNvSpPr/>
          <p:nvPr/>
        </p:nvSpPr>
        <p:spPr>
          <a:xfrm>
            <a:off x="7627219" y="2106748"/>
            <a:ext cx="1376645" cy="15900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39" h="21408" extrusionOk="0">
                <a:moveTo>
                  <a:pt x="10284" y="7"/>
                </a:moveTo>
                <a:cubicBezTo>
                  <a:pt x="4706" y="205"/>
                  <a:pt x="194" y="4142"/>
                  <a:pt x="6" y="8965"/>
                </a:cubicBezTo>
                <a:cubicBezTo>
                  <a:pt x="-161" y="13263"/>
                  <a:pt x="3056" y="16911"/>
                  <a:pt x="7526" y="18121"/>
                </a:cubicBezTo>
                <a:cubicBezTo>
                  <a:pt x="8132" y="18284"/>
                  <a:pt x="8654" y="18627"/>
                  <a:pt x="9010" y="19096"/>
                </a:cubicBezTo>
                <a:lnTo>
                  <a:pt x="10723" y="21408"/>
                </a:lnTo>
                <a:lnTo>
                  <a:pt x="12436" y="19096"/>
                </a:lnTo>
                <a:cubicBezTo>
                  <a:pt x="12791" y="18627"/>
                  <a:pt x="13313" y="18284"/>
                  <a:pt x="13919" y="18121"/>
                </a:cubicBezTo>
                <a:cubicBezTo>
                  <a:pt x="18285" y="16947"/>
                  <a:pt x="21439" y="13425"/>
                  <a:pt x="21439" y="9272"/>
                </a:cubicBezTo>
                <a:cubicBezTo>
                  <a:pt x="21439" y="4034"/>
                  <a:pt x="16405" y="-192"/>
                  <a:pt x="10284" y="7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 w="12700">
            <a:miter lim="400000"/>
          </a:ln>
          <a:effectLst/>
        </p:spPr>
        <p:txBody>
          <a:bodyPr lIns="28575" tIns="28575" rIns="28575" bIns="28575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2100">
              <a:solidFill>
                <a:srgbClr val="FFFFFF"/>
              </a:solidFill>
            </a:endParaRPr>
          </a:p>
        </p:txBody>
      </p:sp>
      <p:pic>
        <p:nvPicPr>
          <p:cNvPr id="9" name="Graphic 8" descr="Clipboard Checked with solid fill">
            <a:extLst>
              <a:ext uri="{FF2B5EF4-FFF2-40B4-BE49-F238E27FC236}">
                <a16:creationId xmlns:a16="http://schemas.microsoft.com/office/drawing/2014/main" id="{0B534D27-0315-57EB-04C3-03589028D0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97426" y="2401616"/>
            <a:ext cx="786910" cy="786910"/>
          </a:xfrm>
          <a:prstGeom prst="rect">
            <a:avLst/>
          </a:prstGeom>
          <a:effectLst/>
        </p:spPr>
      </p:pic>
      <p:sp>
        <p:nvSpPr>
          <p:cNvPr id="11" name="TextBox 20">
            <a:extLst>
              <a:ext uri="{FF2B5EF4-FFF2-40B4-BE49-F238E27FC236}">
                <a16:creationId xmlns:a16="http://schemas.microsoft.com/office/drawing/2014/main" id="{33F0E889-85E0-DEE9-100D-6959C438836A}"/>
              </a:ext>
            </a:extLst>
          </p:cNvPr>
          <p:cNvSpPr txBox="1"/>
          <p:nvPr/>
        </p:nvSpPr>
        <p:spPr>
          <a:xfrm>
            <a:off x="55060" y="4118692"/>
            <a:ext cx="1473116" cy="1585049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pPr algn="ctr"/>
            <a:r>
              <a:rPr lang="en-US" sz="1600" b="1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Preparation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noProof="1">
                <a:solidFill>
                  <a:schemeClr val="tx2"/>
                </a:solidFill>
              </a:rPr>
              <a:t>Arrange Interviews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noProof="1">
                <a:solidFill>
                  <a:schemeClr val="tx2"/>
                </a:solidFill>
              </a:rPr>
              <a:t>Requests reports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noProof="1">
                <a:solidFill>
                  <a:schemeClr val="tx2"/>
                </a:solidFill>
              </a:rPr>
              <a:t>Develop surveys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noProof="1">
                <a:solidFill>
                  <a:schemeClr val="tx2"/>
                </a:solidFill>
              </a:rPr>
              <a:t>Prepare instructions for participants</a:t>
            </a:r>
          </a:p>
          <a:p>
            <a:pPr algn="ctr"/>
            <a:endParaRPr lang="en-US" sz="1500" b="1" noProof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3" name="Graphic 12" descr="Open envelope with solid fill">
            <a:extLst>
              <a:ext uri="{FF2B5EF4-FFF2-40B4-BE49-F238E27FC236}">
                <a16:creationId xmlns:a16="http://schemas.microsoft.com/office/drawing/2014/main" id="{E4568FDE-C2C4-6B7D-87FF-CF611C0E66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350616" y="2401616"/>
            <a:ext cx="786910" cy="786910"/>
          </a:xfrm>
          <a:prstGeom prst="rect">
            <a:avLst/>
          </a:prstGeom>
          <a:effectLst/>
        </p:spPr>
      </p:pic>
      <p:pic>
        <p:nvPicPr>
          <p:cNvPr id="17" name="Graphic 16" descr="Chat bubble with solid fill">
            <a:extLst>
              <a:ext uri="{FF2B5EF4-FFF2-40B4-BE49-F238E27FC236}">
                <a16:creationId xmlns:a16="http://schemas.microsoft.com/office/drawing/2014/main" id="{A2A5CBF7-6844-87A3-3643-59A4536A3DB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4303806" y="2401616"/>
            <a:ext cx="786910" cy="786910"/>
          </a:xfrm>
          <a:prstGeom prst="rect">
            <a:avLst/>
          </a:prstGeom>
          <a:effectLst/>
        </p:spPr>
      </p:pic>
      <p:sp>
        <p:nvSpPr>
          <p:cNvPr id="15" name="TextBox 23">
            <a:extLst>
              <a:ext uri="{FF2B5EF4-FFF2-40B4-BE49-F238E27FC236}">
                <a16:creationId xmlns:a16="http://schemas.microsoft.com/office/drawing/2014/main" id="{5C36FBB4-987E-1BD6-B492-842B1A715EF3}"/>
              </a:ext>
            </a:extLst>
          </p:cNvPr>
          <p:cNvSpPr txBox="1"/>
          <p:nvPr/>
        </p:nvSpPr>
        <p:spPr>
          <a:xfrm>
            <a:off x="1927532" y="4863090"/>
            <a:ext cx="1627514" cy="1354217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</a:p>
          <a:p>
            <a:pPr algn="ctr"/>
            <a:r>
              <a:rPr lang="en-US" sz="1600" b="1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Obtain Materials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noProof="1">
                <a:solidFill>
                  <a:schemeClr val="tx2"/>
                </a:solidFill>
              </a:rPr>
              <a:t>Obtain reports , records , accounts from from safety departments , insurance companies or regulatory or other bodies</a:t>
            </a:r>
          </a:p>
        </p:txBody>
      </p:sp>
      <p:sp>
        <p:nvSpPr>
          <p:cNvPr id="19" name="TextBox 26">
            <a:extLst>
              <a:ext uri="{FF2B5EF4-FFF2-40B4-BE49-F238E27FC236}">
                <a16:creationId xmlns:a16="http://schemas.microsoft.com/office/drawing/2014/main" id="{88498887-24B1-E4F3-8579-343F2F1BC1ED}"/>
              </a:ext>
            </a:extLst>
          </p:cNvPr>
          <p:cNvSpPr txBox="1"/>
          <p:nvPr/>
        </p:nvSpPr>
        <p:spPr>
          <a:xfrm>
            <a:off x="3868196" y="4007746"/>
            <a:ext cx="1627514" cy="1508105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</a:p>
          <a:p>
            <a:pPr algn="ctr"/>
            <a:r>
              <a:rPr lang="en-US" sz="1600" b="1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Gather facts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noProof="1">
                <a:solidFill>
                  <a:schemeClr val="tx2"/>
                </a:solidFill>
              </a:rPr>
              <a:t>Interview individuals who had experienced issue or have observed others who have experienced issue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noProof="1">
                <a:solidFill>
                  <a:schemeClr val="tx2"/>
                </a:solidFill>
              </a:rPr>
              <a:t>Types of questions</a:t>
            </a:r>
          </a:p>
        </p:txBody>
      </p:sp>
      <p:sp>
        <p:nvSpPr>
          <p:cNvPr id="23" name="TextBox 29">
            <a:extLst>
              <a:ext uri="{FF2B5EF4-FFF2-40B4-BE49-F238E27FC236}">
                <a16:creationId xmlns:a16="http://schemas.microsoft.com/office/drawing/2014/main" id="{76CAAEFF-B69A-BB24-6BEF-2C8D08061B89}"/>
              </a:ext>
            </a:extLst>
          </p:cNvPr>
          <p:cNvSpPr txBox="1"/>
          <p:nvPr/>
        </p:nvSpPr>
        <p:spPr>
          <a:xfrm>
            <a:off x="5538849" y="4852361"/>
            <a:ext cx="2088370" cy="1815882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</a:p>
          <a:p>
            <a:pPr algn="ctr"/>
            <a:r>
              <a:rPr lang="en-US" sz="1600" b="1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Analysis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noProof="1">
                <a:solidFill>
                  <a:schemeClr val="tx2"/>
                </a:solidFill>
              </a:rPr>
              <a:t>Record events and descriptions digitally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noProof="1">
                <a:solidFill>
                  <a:schemeClr val="tx2"/>
                </a:solidFill>
              </a:rPr>
              <a:t>Analyse the frequence and conditions of events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noProof="1">
                <a:solidFill>
                  <a:schemeClr val="tx2"/>
                </a:solidFill>
              </a:rPr>
              <a:t>Create categories of events and organize events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noProof="1">
                <a:solidFill>
                  <a:schemeClr val="tx2"/>
                </a:solidFill>
              </a:rPr>
              <a:t>Note any items (e.g. display on a control panel) along with events</a:t>
            </a:r>
          </a:p>
        </p:txBody>
      </p:sp>
      <p:pic>
        <p:nvPicPr>
          <p:cNvPr id="21" name="Graphic 20" descr="Head with gears with solid fill">
            <a:extLst>
              <a:ext uri="{FF2B5EF4-FFF2-40B4-BE49-F238E27FC236}">
                <a16:creationId xmlns:a16="http://schemas.microsoft.com/office/drawing/2014/main" id="{A81B126C-9746-48DE-3EE2-FDC3F70BBDA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6106684" y="2401616"/>
            <a:ext cx="786910" cy="786910"/>
          </a:xfrm>
          <a:prstGeom prst="rect">
            <a:avLst/>
          </a:prstGeom>
          <a:effectLst/>
        </p:spPr>
      </p:pic>
      <p:pic>
        <p:nvPicPr>
          <p:cNvPr id="25" name="Graphic 24" descr="Presentation with pie chart with solid fill">
            <a:extLst>
              <a:ext uri="{FF2B5EF4-FFF2-40B4-BE49-F238E27FC236}">
                <a16:creationId xmlns:a16="http://schemas.microsoft.com/office/drawing/2014/main" id="{A10FB4FE-D784-AABD-92EB-3372CED1A58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7922088" y="2401616"/>
            <a:ext cx="786910" cy="786910"/>
          </a:xfrm>
          <a:prstGeom prst="rect">
            <a:avLst/>
          </a:prstGeom>
          <a:effectLst/>
        </p:spPr>
      </p:pic>
      <p:sp>
        <p:nvSpPr>
          <p:cNvPr id="27" name="TextBox 32">
            <a:extLst>
              <a:ext uri="{FF2B5EF4-FFF2-40B4-BE49-F238E27FC236}">
                <a16:creationId xmlns:a16="http://schemas.microsoft.com/office/drawing/2014/main" id="{A4966222-8ABF-ACFF-2559-069786C2546C}"/>
              </a:ext>
            </a:extLst>
          </p:cNvPr>
          <p:cNvSpPr txBox="1"/>
          <p:nvPr/>
        </p:nvSpPr>
        <p:spPr>
          <a:xfrm>
            <a:off x="7479513" y="4247519"/>
            <a:ext cx="1627632" cy="892552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5</a:t>
            </a:r>
          </a:p>
          <a:p>
            <a:pPr algn="ctr"/>
            <a:r>
              <a:rPr lang="en-US" sz="1600" b="1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Interpret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noProof="1">
                <a:solidFill>
                  <a:schemeClr val="tx2"/>
                </a:solidFill>
              </a:rPr>
              <a:t>Develop some possible explanation of events</a:t>
            </a:r>
          </a:p>
        </p:txBody>
      </p:sp>
    </p:spTree>
    <p:extLst>
      <p:ext uri="{BB962C8B-B14F-4D97-AF65-F5344CB8AC3E}">
        <p14:creationId xmlns:p14="http://schemas.microsoft.com/office/powerpoint/2010/main" val="911208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1" grpId="0"/>
      <p:bldP spid="15" grpId="0"/>
      <p:bldP spid="19" grpId="0"/>
      <p:bldP spid="23" grpId="0"/>
      <p:bldP spid="2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7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Analytical Frameworks</a:t>
            </a:r>
            <a:endParaRPr/>
          </a:p>
        </p:txBody>
      </p:sp>
      <p:sp>
        <p:nvSpPr>
          <p:cNvPr id="313" name="Google Shape;313;p37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83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Char char="⚫"/>
            </a:pPr>
            <a:r>
              <a:rPr lang="en-GB" sz="2800"/>
              <a:t>There are six different analytical frameworks</a:t>
            </a:r>
            <a:endParaRPr/>
          </a:p>
          <a:p>
            <a:pPr marL="365760" lvl="0" indent="-14122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</a:pPr>
            <a:endParaRPr sz="2800"/>
          </a:p>
          <a:p>
            <a:pPr marL="365760" lvl="0" indent="-28346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</a:pPr>
            <a:r>
              <a:rPr lang="en-GB" sz="2800"/>
              <a:t>Can be used to analyze and interpret data from a qualitative study</a:t>
            </a:r>
            <a:endParaRPr/>
          </a:p>
          <a:p>
            <a:pPr marL="365760" lvl="0" indent="-14122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</a:pPr>
            <a:endParaRPr sz="2800"/>
          </a:p>
          <a:p>
            <a:pPr marL="365760" lvl="0" indent="-28346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</a:pPr>
            <a:r>
              <a:rPr lang="en-GB" sz="2800"/>
              <a:t>Differ in terms of their granularity, that is, the level of detail involved.</a:t>
            </a:r>
            <a:endParaRPr/>
          </a:p>
          <a:p>
            <a:pPr marL="82296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endParaRPr/>
          </a:p>
          <a:p>
            <a:pPr marL="365760" lvl="0" indent="-12090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g22855d404b0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9175" y="152400"/>
            <a:ext cx="8501050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8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Conversation analysis (CA)</a:t>
            </a:r>
            <a:endParaRPr/>
          </a:p>
        </p:txBody>
      </p:sp>
      <p:sp>
        <p:nvSpPr>
          <p:cNvPr id="325" name="Google Shape;325;p38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30784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GB"/>
              <a:t>Conversation analysis (CA) examines the semantics of a conversation in fine detail</a:t>
            </a:r>
            <a:endParaRPr/>
          </a:p>
          <a:p>
            <a:pPr marL="603504" lvl="2" indent="0" algn="l" rtl="0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ts val="2400"/>
              <a:buNone/>
            </a:pPr>
            <a:r>
              <a:rPr lang="en-GB"/>
              <a:t>The focus is on how a conversation is conducted</a:t>
            </a:r>
            <a:endParaRPr/>
          </a:p>
          <a:p>
            <a:pPr marL="365760" lvl="0" indent="-14528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endParaRPr/>
          </a:p>
          <a:p>
            <a:pPr marL="365760" lvl="0" indent="-307847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GB"/>
              <a:t>how conversations start and how turn-taking is structured</a:t>
            </a:r>
            <a:endParaRPr/>
          </a:p>
          <a:p>
            <a:pPr marL="365760" lvl="0" indent="-14528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endParaRPr/>
          </a:p>
          <a:p>
            <a:pPr marL="365760" lvl="0" indent="-307847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GB"/>
              <a:t>used to analyze interactions in a range of settings</a:t>
            </a:r>
            <a:endParaRPr/>
          </a:p>
          <a:p>
            <a:pPr marL="365760" lvl="0" indent="-14528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endParaRPr/>
          </a:p>
          <a:p>
            <a:pPr marL="365760" lvl="0" indent="-307847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GB"/>
              <a:t>has influenced designers’ understanding of users’ needs in their environments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9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Example	</a:t>
            </a:r>
            <a:endParaRPr/>
          </a:p>
        </p:txBody>
      </p:sp>
      <p:sp>
        <p:nvSpPr>
          <p:cNvPr id="331" name="Google Shape;331;p39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83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GB"/>
              <a:t>It can also be used to compare conversations that take place through different media</a:t>
            </a:r>
            <a:endParaRPr/>
          </a:p>
          <a:p>
            <a:pPr marL="658368" lvl="2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GB"/>
              <a:t>for example, face-to-face conversations versus those conducted through social media. </a:t>
            </a:r>
            <a:endParaRPr/>
          </a:p>
          <a:p>
            <a:pPr marL="658368" lvl="2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/>
          </a:p>
          <a:p>
            <a:pPr marL="365760" lvl="0" indent="-28346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GB"/>
              <a:t>More recently, it has been used to analyze the conversations that take place with voice-assisted technologies and chatbots</a:t>
            </a:r>
            <a:endParaRPr/>
          </a:p>
          <a:p>
            <a:pPr marL="658368" lvl="2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GB"/>
              <a:t>Voice assistants (also called smart speakers), like Amazon Echo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0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Example</a:t>
            </a:r>
            <a:endParaRPr/>
          </a:p>
        </p:txBody>
      </p:sp>
      <p:pic>
        <p:nvPicPr>
          <p:cNvPr id="337" name="Google Shape;337;p4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358644" y="1905000"/>
            <a:ext cx="5572125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40"/>
          <p:cNvSpPr txBox="1"/>
          <p:nvPr/>
        </p:nvSpPr>
        <p:spPr>
          <a:xfrm>
            <a:off x="1173162" y="5486400"/>
            <a:ext cx="7943088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An extract of the conversation between the family and Alexa, marked up for conversation analysis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Source: Porcheron et al. (2018), fragment 1. Reproduced with permission of ACM Publications</a:t>
            </a:r>
            <a:endParaRPr sz="18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1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Discourse Analysis</a:t>
            </a:r>
            <a:endParaRPr/>
          </a:p>
        </p:txBody>
      </p:sp>
      <p:sp>
        <p:nvSpPr>
          <p:cNvPr id="344" name="Google Shape;344;p41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3200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GB"/>
              <a:t>Discourse analysis focuses on dialogue</a:t>
            </a:r>
            <a:endParaRPr/>
          </a:p>
          <a:p>
            <a:pPr marL="603504" lvl="2" indent="0" algn="l" rtl="0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ts val="2400"/>
              <a:buNone/>
            </a:pPr>
            <a:r>
              <a:rPr lang="en-GB"/>
              <a:t>the meaning of what is said and how words are used to convey meaning</a:t>
            </a:r>
            <a:endParaRPr/>
          </a:p>
          <a:p>
            <a:pPr marL="603504" lvl="2" indent="0" algn="l" rtl="0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ts val="2400"/>
              <a:buNone/>
            </a:pPr>
            <a:endParaRPr/>
          </a:p>
          <a:p>
            <a:pPr marL="365760" lvl="0" indent="-32004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GB"/>
              <a:t>Discourse analysis is strongly interpretive</a:t>
            </a:r>
            <a:endParaRPr/>
          </a:p>
          <a:p>
            <a:pPr marL="603504" lvl="2" indent="0" algn="l" rtl="0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ts val="2400"/>
              <a:buNone/>
            </a:pPr>
            <a:r>
              <a:rPr lang="en-GB"/>
              <a:t>pays great attention to context</a:t>
            </a:r>
            <a:endParaRPr/>
          </a:p>
          <a:p>
            <a:pPr marL="603504" lvl="2" indent="0" algn="l" rtl="0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ts val="2400"/>
              <a:buNone/>
            </a:pPr>
            <a:r>
              <a:rPr lang="en-GB"/>
              <a:t>and views language not only as reflecting psychological and social aspects but also as constructing them</a:t>
            </a:r>
            <a:endParaRPr/>
          </a:p>
          <a:p>
            <a:pPr marL="603504" lvl="2" indent="0" algn="l" rtl="0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ts val="2400"/>
              <a:buNone/>
            </a:pPr>
            <a:endParaRPr/>
          </a:p>
          <a:p>
            <a:pPr marL="365760" lvl="0" indent="-32004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GB"/>
              <a:t>discourse analysis provides a way of focusing on how people use language to construct versions of their worlds</a:t>
            </a:r>
            <a:endParaRPr/>
          </a:p>
          <a:p>
            <a:pPr marL="365760" lvl="0" indent="-15748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endParaRPr/>
          </a:p>
          <a:p>
            <a:pPr marL="365760" lvl="0" indent="-32004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GB"/>
              <a:t>underlying philosophy of discourse analysis is similar to that of ethnography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2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Example</a:t>
            </a:r>
            <a:endParaRPr/>
          </a:p>
        </p:txBody>
      </p:sp>
      <p:sp>
        <p:nvSpPr>
          <p:cNvPr id="350" name="Google Shape;350;p42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82296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GB"/>
              <a:t>Discourse analysis is useful </a:t>
            </a:r>
            <a:endParaRPr/>
          </a:p>
          <a:p>
            <a:pPr marL="640080" lvl="1" indent="-237744" algn="l" rtl="0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Char char="◦"/>
            </a:pPr>
            <a:r>
              <a:rPr lang="en-GB"/>
              <a:t>when trying to identify subtle </a:t>
            </a:r>
            <a:endParaRPr/>
          </a:p>
          <a:p>
            <a:pPr marL="640080" lvl="1" indent="-237744" algn="l" rtl="0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Char char="◦"/>
            </a:pPr>
            <a:r>
              <a:rPr lang="en-GB"/>
              <a:t>and implicit meaning in what people are writing about</a:t>
            </a:r>
            <a:endParaRPr/>
          </a:p>
          <a:p>
            <a:pPr marL="640080" lvl="1" indent="-237744" algn="l" rtl="0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Char char="◦"/>
            </a:pPr>
            <a:r>
              <a:rPr lang="en-GB"/>
              <a:t>what is trending</a:t>
            </a:r>
            <a:endParaRPr/>
          </a:p>
          <a:p>
            <a:pPr marL="640080" lvl="1" indent="-237744" algn="l" rtl="0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Char char="◦"/>
            </a:pPr>
            <a:r>
              <a:rPr lang="en-GB"/>
              <a:t>what is fake news, and so on</a:t>
            </a:r>
            <a:endParaRPr/>
          </a:p>
        </p:txBody>
      </p:sp>
      <p:pic>
        <p:nvPicPr>
          <p:cNvPr id="351" name="Google Shape;351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35608" y="5130787"/>
            <a:ext cx="7499350" cy="1092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3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Content Analysis</a:t>
            </a:r>
            <a:endParaRPr/>
          </a:p>
        </p:txBody>
      </p:sp>
      <p:sp>
        <p:nvSpPr>
          <p:cNvPr id="357" name="Google Shape;357;p43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95656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GB"/>
              <a:t>Content analysis typically involves classifying the data into themes or categories and then studying the frequency of category occurrences</a:t>
            </a:r>
            <a:endParaRPr/>
          </a:p>
          <a:p>
            <a:pPr marL="365760" lvl="0" indent="-295656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GB"/>
              <a:t>The technique can be used for any text</a:t>
            </a:r>
            <a:endParaRPr/>
          </a:p>
          <a:p>
            <a:pPr marL="603504" lvl="2" indent="0" algn="just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ts val="2400"/>
              <a:buNone/>
            </a:pPr>
            <a:r>
              <a:rPr lang="en-GB"/>
              <a:t>where “text” refers to a range of media including video, newspapers, advertisements, survey responses, images, sounds</a:t>
            </a:r>
            <a:endParaRPr/>
          </a:p>
          <a:p>
            <a:pPr marL="365760" lvl="0" indent="-295656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GB"/>
              <a:t>It can be used to analyze any online content</a:t>
            </a:r>
            <a:endParaRPr/>
          </a:p>
          <a:p>
            <a:pPr marL="603504" lvl="2" indent="0" algn="just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ts val="2400"/>
              <a:buNone/>
            </a:pPr>
            <a:r>
              <a:rPr lang="en-GB"/>
              <a:t>including the text of tweets, links, animated gifs, videos, and images.</a:t>
            </a:r>
            <a:endParaRPr/>
          </a:p>
          <a:p>
            <a:pPr marL="365760" lvl="0" indent="-295656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GB"/>
              <a:t>It considers wider context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4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Example</a:t>
            </a:r>
            <a:endParaRPr/>
          </a:p>
        </p:txBody>
      </p:sp>
      <p:sp>
        <p:nvSpPr>
          <p:cNvPr id="363" name="Google Shape;363;p44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82296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GB"/>
              <a:t>Mark Blythe and Paul Cairns (2009) analyzed 100 videos from a YouTube search by relevance for “iPhone 3G” using content analysis. </a:t>
            </a:r>
            <a:endParaRPr/>
          </a:p>
          <a:p>
            <a:pPr marL="82296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endParaRPr/>
          </a:p>
          <a:p>
            <a:pPr marL="82296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rPr lang="en-GB"/>
              <a:t>They categorized the videos into seven categories: </a:t>
            </a:r>
            <a:endParaRPr/>
          </a:p>
          <a:p>
            <a:pPr marL="603504" lvl="2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GB"/>
              <a:t>review, reportage, “unboxing,” demonstration, satire, advertisement, and vlog commentaries (such as, complaints about queues)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5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Interaction Analysis</a:t>
            </a:r>
            <a:endParaRPr/>
          </a:p>
        </p:txBody>
      </p:sp>
      <p:sp>
        <p:nvSpPr>
          <p:cNvPr id="369" name="Google Shape;369;p45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32004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GB"/>
              <a:t>Interaction analysis is a way of investigating and understanding the interactions of human beings with each other and objects in their environment.</a:t>
            </a:r>
            <a:endParaRPr/>
          </a:p>
          <a:p>
            <a:pPr marL="365760" lvl="0" indent="-15748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endParaRPr/>
          </a:p>
          <a:p>
            <a:pPr marL="365760" lvl="0" indent="-32004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GB"/>
              <a:t>It is based on video recordings</a:t>
            </a:r>
            <a:endParaRPr/>
          </a:p>
          <a:p>
            <a:pPr marL="365760" lvl="0" indent="-15748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endParaRPr/>
          </a:p>
          <a:p>
            <a:pPr marL="365760" lvl="0" indent="-32004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GB"/>
              <a:t>This technique focuses on both talk and nonverbal interactions with artifacts and technologies</a:t>
            </a:r>
            <a:endParaRPr/>
          </a:p>
          <a:p>
            <a:pPr marL="365760" lvl="0" indent="-15748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endParaRPr/>
          </a:p>
          <a:p>
            <a:pPr marL="365760" lvl="0" indent="-32004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GB"/>
              <a:t>Interaction analysis is an inductive process</a:t>
            </a:r>
            <a:endParaRPr/>
          </a:p>
          <a:p>
            <a:pPr marL="365760" lvl="0" indent="-15748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endParaRPr/>
          </a:p>
          <a:p>
            <a:pPr marL="365760" lvl="0" indent="-32004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GB"/>
              <a:t>interaction analysis is conducted collaboratively by a team of researchers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6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Example</a:t>
            </a:r>
            <a:endParaRPr/>
          </a:p>
        </p:txBody>
      </p:sp>
      <p:sp>
        <p:nvSpPr>
          <p:cNvPr id="375" name="Google Shape;375;p46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82296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GB"/>
              <a:t>Anna Xambo et al.’s (2013) study of how groups of musicians improvise and learn to play together when using a novel collaborative tabletop technology. </a:t>
            </a:r>
            <a:endParaRPr/>
          </a:p>
          <a:p>
            <a:pPr marL="1115568" lvl="2" indent="-457198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Gill Sans"/>
              <a:buAutoNum type="arabicPeriod"/>
            </a:pPr>
            <a:r>
              <a:rPr lang="en-GB"/>
              <a:t>Video data was collected</a:t>
            </a:r>
            <a:endParaRPr/>
          </a:p>
          <a:p>
            <a:pPr marL="1115568" lvl="2" indent="-457198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Gill Sans"/>
              <a:buAutoNum type="arabicPeriod"/>
            </a:pPr>
            <a:r>
              <a:rPr lang="en-GB"/>
              <a:t>Representative video extracts were repeatedly viewed and discussed by a team of researchers</a:t>
            </a:r>
            <a:endParaRPr/>
          </a:p>
          <a:p>
            <a:pPr marL="1115568" lvl="2" indent="-457198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Gill Sans"/>
              <a:buAutoNum type="arabicPeriod"/>
            </a:pPr>
            <a:r>
              <a:rPr lang="en-GB"/>
              <a:t>These themes were categorized into whether they were musical, physical, or interface-related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7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Grounded Theory</a:t>
            </a:r>
            <a:endParaRPr/>
          </a:p>
        </p:txBody>
      </p:sp>
      <p:sp>
        <p:nvSpPr>
          <p:cNvPr id="381" name="Google Shape;381;p47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307847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GB"/>
              <a:t>The goal of grounded theory is to develop theory from a systematic analysis and interpretation of empirical data</a:t>
            </a:r>
            <a:endParaRPr/>
          </a:p>
          <a:p>
            <a:pPr marL="603504" lvl="2" indent="0" algn="just" rtl="0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ts val="2400"/>
              <a:buNone/>
            </a:pPr>
            <a:r>
              <a:rPr lang="en-GB"/>
              <a:t>that is, the derived theory is grounded in the data</a:t>
            </a:r>
            <a:endParaRPr/>
          </a:p>
          <a:p>
            <a:pPr marL="603504" lvl="2" indent="0" algn="just" rtl="0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ts val="2400"/>
              <a:buNone/>
            </a:pPr>
            <a:endParaRPr/>
          </a:p>
          <a:p>
            <a:pPr marL="365760" lvl="0" indent="-307847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GB"/>
              <a:t>It is an inductive approach to developing theory</a:t>
            </a:r>
            <a:endParaRPr/>
          </a:p>
          <a:p>
            <a:pPr marL="365760" lvl="0" indent="-145286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endParaRPr/>
          </a:p>
          <a:p>
            <a:pPr marL="365760" lvl="0" indent="-307847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GB"/>
              <a:t>Theory is: “a set of well-developed concepts related through statements of relationship, which together constitute an integrated framework that can be used to explain or predict phenomena”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8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Steps</a:t>
            </a:r>
            <a:endParaRPr/>
          </a:p>
        </p:txBody>
      </p:sp>
      <p:sp>
        <p:nvSpPr>
          <p:cNvPr id="387" name="Google Shape;387;p48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96646" lvl="0" indent="-5143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GB"/>
              <a:t>first data is collected and analyzed to identify themes (coding)</a:t>
            </a:r>
            <a:endParaRPr/>
          </a:p>
          <a:p>
            <a:pPr marL="596646" lvl="0" indent="-51435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GB"/>
              <a:t>then that analysis may lead to further data collection and analysis </a:t>
            </a:r>
            <a:endParaRPr/>
          </a:p>
          <a:p>
            <a:pPr marL="596646" lvl="0" indent="-51435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GB"/>
              <a:t>refine the themes, and so on</a:t>
            </a:r>
            <a:endParaRPr/>
          </a:p>
          <a:p>
            <a:pPr marL="596646" lvl="0" indent="-35179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None/>
            </a:pPr>
            <a:endParaRPr/>
          </a:p>
          <a:p>
            <a:pPr marL="82296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rPr lang="en-GB"/>
              <a:t>This approach continues until no new insights emerge and the theory is well-developed.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9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Coding </a:t>
            </a:r>
            <a:endParaRPr/>
          </a:p>
        </p:txBody>
      </p:sp>
      <p:sp>
        <p:nvSpPr>
          <p:cNvPr id="393" name="Google Shape;393;p49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95656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GB" b="1"/>
              <a:t>Open coding </a:t>
            </a:r>
            <a:r>
              <a:rPr lang="en-GB"/>
              <a:t>is the process through which categories, their properties, and dimensions are discovered in the data. </a:t>
            </a:r>
            <a:endParaRPr/>
          </a:p>
          <a:p>
            <a:pPr marL="365760" lvl="0" indent="-133096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endParaRPr/>
          </a:p>
          <a:p>
            <a:pPr marL="365760" lvl="0" indent="-295656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GB" b="1"/>
              <a:t>Axial coding </a:t>
            </a:r>
            <a:r>
              <a:rPr lang="en-GB"/>
              <a:t>is the process of systematically fleshing out categories and relating them to their subcategories. </a:t>
            </a:r>
            <a:endParaRPr/>
          </a:p>
          <a:p>
            <a:pPr marL="365760" lvl="0" indent="-133096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endParaRPr b="1"/>
          </a:p>
          <a:p>
            <a:pPr marL="365760" lvl="0" indent="-295656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GB" b="1"/>
              <a:t>Selective coding </a:t>
            </a:r>
            <a:r>
              <a:rPr lang="en-GB"/>
              <a:t>is the process of refining and integrating categories to form a larger theoretical scheme. 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0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System Based Framework</a:t>
            </a:r>
            <a:endParaRPr/>
          </a:p>
        </p:txBody>
      </p:sp>
      <p:sp>
        <p:nvSpPr>
          <p:cNvPr id="399" name="Google Shape;399;p50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9565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GB"/>
              <a:t>For large projects where the researcher is interested in investigating </a:t>
            </a:r>
            <a:endParaRPr/>
          </a:p>
          <a:p>
            <a:pPr marL="658368" lvl="2" indent="0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ts val="2400"/>
              <a:buNone/>
            </a:pPr>
            <a:r>
              <a:rPr lang="en-GB"/>
              <a:t>how a new technology should best be introduced </a:t>
            </a:r>
            <a:endParaRPr/>
          </a:p>
          <a:p>
            <a:pPr marL="658368" lvl="2" indent="0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ts val="2400"/>
              <a:buNone/>
            </a:pPr>
            <a:r>
              <a:rPr lang="en-GB"/>
              <a:t>and what its impact is afterward</a:t>
            </a:r>
            <a:endParaRPr/>
          </a:p>
          <a:p>
            <a:pPr marL="658368" lvl="2" indent="0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ts val="2400"/>
              <a:buNone/>
            </a:pPr>
            <a:endParaRPr/>
          </a:p>
          <a:p>
            <a:pPr marL="365760" lvl="0" indent="-2956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GB"/>
              <a:t>It is necessary to analyze many sources of data collected over a long period of time.</a:t>
            </a:r>
            <a:endParaRPr/>
          </a:p>
          <a:p>
            <a:pPr marL="365760" lvl="0" indent="-13309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endParaRPr/>
          </a:p>
          <a:p>
            <a:pPr marL="365760" lvl="0" indent="-2956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GB"/>
              <a:t>Two such frameworks are introduced next</a:t>
            </a:r>
            <a:endParaRPr/>
          </a:p>
          <a:p>
            <a:pPr marL="1115568" lvl="2" indent="-468628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ts val="2400"/>
              <a:buFont typeface="Gill Sans"/>
              <a:buAutoNum type="arabicPeriod"/>
            </a:pPr>
            <a:r>
              <a:rPr lang="en-GB"/>
              <a:t>Socio-technical systems theory </a:t>
            </a:r>
            <a:endParaRPr/>
          </a:p>
          <a:p>
            <a:pPr marL="1115568" lvl="2" indent="-468628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ts val="2400"/>
              <a:buFont typeface="Gill Sans"/>
              <a:buAutoNum type="arabicPeriod"/>
            </a:pPr>
            <a:r>
              <a:rPr lang="en-GB"/>
              <a:t>Distributed Cognition of Teamwork framework 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1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Socio-technical Systems Theory</a:t>
            </a:r>
            <a:endParaRPr/>
          </a:p>
        </p:txBody>
      </p:sp>
      <p:sp>
        <p:nvSpPr>
          <p:cNvPr id="405" name="Google Shape;405;p51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9565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GB"/>
              <a:t>Socio-technical systems (STS) theory makes explicit the fact that the technology and the people in a work system are interdependent</a:t>
            </a:r>
            <a:endParaRPr/>
          </a:p>
          <a:p>
            <a:pPr marL="82296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rPr lang="en-GB"/>
              <a:t> </a:t>
            </a:r>
            <a:endParaRPr/>
          </a:p>
          <a:p>
            <a:pPr marL="365760" lvl="0" indent="-2956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GB"/>
              <a:t>There five significant and enduring aspects of STS theory </a:t>
            </a:r>
            <a:endParaRPr/>
          </a:p>
          <a:p>
            <a:pPr marL="1115568" lvl="2" indent="-468628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ts val="2400"/>
              <a:buFont typeface="Gill Sans"/>
              <a:buAutoNum type="arabicPeriod"/>
            </a:pPr>
            <a:r>
              <a:rPr lang="en-GB"/>
              <a:t>Task interdependencies</a:t>
            </a:r>
            <a:endParaRPr/>
          </a:p>
          <a:p>
            <a:pPr marL="1115568" lvl="2" indent="-468628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ts val="2400"/>
              <a:buFont typeface="Gill Sans"/>
              <a:buAutoNum type="arabicPeriod"/>
            </a:pPr>
            <a:r>
              <a:rPr lang="en-GB"/>
              <a:t>Socio-technical systems are “open systems</a:t>
            </a:r>
            <a:endParaRPr/>
          </a:p>
          <a:p>
            <a:pPr marL="1115568" lvl="2" indent="-468628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ts val="2400"/>
              <a:buFont typeface="Gill Sans"/>
              <a:buAutoNum type="arabicPeriod"/>
            </a:pPr>
            <a:r>
              <a:rPr lang="en-GB"/>
              <a:t>Heterogeneity of system components</a:t>
            </a:r>
            <a:endParaRPr/>
          </a:p>
          <a:p>
            <a:pPr marL="1115568" lvl="2" indent="-468628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ts val="2400"/>
              <a:buFont typeface="Gill Sans"/>
              <a:buAutoNum type="arabicPeriod"/>
            </a:pPr>
            <a:r>
              <a:rPr lang="en-GB"/>
              <a:t>Practical contributions</a:t>
            </a:r>
            <a:endParaRPr/>
          </a:p>
          <a:p>
            <a:pPr marL="1115568" lvl="2" indent="-468628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ts val="2400"/>
              <a:buFont typeface="Gill Sans"/>
              <a:buAutoNum type="arabicPeriod"/>
            </a:pPr>
            <a:r>
              <a:rPr lang="en-GB"/>
              <a:t>Fragmentation of design processes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2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Distributed Cognition of Teamwork</a:t>
            </a:r>
            <a:endParaRPr/>
          </a:p>
        </p:txBody>
      </p:sp>
      <p:sp>
        <p:nvSpPr>
          <p:cNvPr id="411" name="Google Shape;411;p52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95656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GB"/>
              <a:t>“Cognitive Aspects,” as an approach to studying the nature of cognitive phenomena across individuals, artifacts, and internal and external representations.</a:t>
            </a:r>
            <a:endParaRPr/>
          </a:p>
          <a:p>
            <a:pPr marL="365760" lvl="0" indent="-133096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endParaRPr/>
          </a:p>
          <a:p>
            <a:pPr marL="365760" lvl="0" indent="-295656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GB"/>
              <a:t>Investigating how information is propagated through different media is a key goal of this approach</a:t>
            </a:r>
            <a:endParaRPr/>
          </a:p>
          <a:p>
            <a:pPr marL="365760" lvl="0" indent="-133096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endParaRPr/>
          </a:p>
          <a:p>
            <a:pPr marL="365760" lvl="0" indent="-295656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GB"/>
              <a:t>While distributed cognition provides a good theoretical framework for analyzing systems, it can be difficult to apply in practice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3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Models of DiCoT</a:t>
            </a:r>
            <a:endParaRPr/>
          </a:p>
        </p:txBody>
      </p:sp>
      <p:sp>
        <p:nvSpPr>
          <p:cNvPr id="417" name="Google Shape;417;p53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83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GB"/>
              <a:t>Information Flow Model</a:t>
            </a:r>
            <a:endParaRPr/>
          </a:p>
          <a:p>
            <a:pPr marL="365760" lvl="0" indent="-28346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GB"/>
              <a:t>Physical Model</a:t>
            </a:r>
            <a:endParaRPr/>
          </a:p>
          <a:p>
            <a:pPr marL="365760" lvl="0" indent="-28346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GB"/>
              <a:t>Artifact Model</a:t>
            </a:r>
            <a:endParaRPr/>
          </a:p>
          <a:p>
            <a:pPr marL="365760" lvl="0" indent="-28346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GB"/>
              <a:t>Social Structure Model</a:t>
            </a:r>
            <a:endParaRPr/>
          </a:p>
          <a:p>
            <a:pPr marL="365760" lvl="0" indent="-28346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GB"/>
              <a:t>System Evolution Model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4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Which Kind of Analytic Framework to Use?</a:t>
            </a:r>
            <a:endParaRPr/>
          </a:p>
        </p:txBody>
      </p:sp>
      <p:pic>
        <p:nvPicPr>
          <p:cNvPr id="423" name="Google Shape;423;p5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339693" y="1570633"/>
            <a:ext cx="5432707" cy="4800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54"/>
          <p:cNvSpPr txBox="1"/>
          <p:nvPr/>
        </p:nvSpPr>
        <p:spPr>
          <a:xfrm>
            <a:off x="2209800" y="6477000"/>
            <a:ext cx="6324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Overview of analytical frameworks used in interaction Design </a:t>
            </a:r>
            <a:endParaRPr sz="18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5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Tools to Support Data Analysis</a:t>
            </a:r>
            <a:endParaRPr/>
          </a:p>
        </p:txBody>
      </p:sp>
      <p:sp>
        <p:nvSpPr>
          <p:cNvPr id="430" name="Google Shape;430;p55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96646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GB"/>
              <a:t>Nvivo</a:t>
            </a:r>
            <a:endParaRPr/>
          </a:p>
          <a:p>
            <a:pPr marL="603504" lvl="2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GB"/>
              <a:t>Nvivo supports the annotation and coding of data including PDF documents, photos, and video and audio files</a:t>
            </a:r>
            <a:endParaRPr/>
          </a:p>
          <a:p>
            <a:pPr marL="596646" lvl="0" indent="-5143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GB"/>
              <a:t>Dedoose</a:t>
            </a:r>
            <a:endParaRPr/>
          </a:p>
          <a:p>
            <a:pPr marL="596646" lvl="0" indent="-5143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GB"/>
              <a:t>Statistical Analysis Software (SAS) and Statistical Package for the Social Sciences (SPSS) </a:t>
            </a:r>
            <a:endParaRPr/>
          </a:p>
          <a:p>
            <a:pPr marL="603504" lvl="2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GB"/>
              <a:t>are popular quantitative analysis packages that support the use of statistical tests.</a:t>
            </a:r>
            <a:endParaRPr/>
          </a:p>
          <a:p>
            <a:pPr marL="82296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6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GB"/>
              <a:t>Interpreting and Presenting the Findings</a:t>
            </a:r>
            <a:endParaRPr/>
          </a:p>
        </p:txBody>
      </p:sp>
      <p:sp>
        <p:nvSpPr>
          <p:cNvPr id="436" name="Google Shape;436;p56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12090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987</TotalTime>
  <Words>2886</Words>
  <Application>Microsoft Macintosh PowerPoint</Application>
  <PresentationFormat>On-screen Show (4:3)</PresentationFormat>
  <Paragraphs>428</Paragraphs>
  <Slides>64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1" baseType="lpstr">
      <vt:lpstr>Source Sans Pro</vt:lpstr>
      <vt:lpstr>Arial</vt:lpstr>
      <vt:lpstr>Times New Roman</vt:lpstr>
      <vt:lpstr>Gill Sans</vt:lpstr>
      <vt:lpstr>Calibri</vt:lpstr>
      <vt:lpstr>Raleway</vt:lpstr>
      <vt:lpstr>Plum</vt:lpstr>
      <vt:lpstr>Data Analysis, Interpretation and Presentation</vt:lpstr>
      <vt:lpstr>Introduction </vt:lpstr>
      <vt:lpstr>Qualitative Data</vt:lpstr>
      <vt:lpstr>Quantitative Data</vt:lpstr>
      <vt:lpstr>1st Step in Analyzing Data </vt:lpstr>
      <vt:lpstr>PowerPoint Presentation</vt:lpstr>
      <vt:lpstr>Quantitative Analysis</vt:lpstr>
      <vt:lpstr>How Question Design Affects Data Analysis</vt:lpstr>
      <vt:lpstr>How Question Design Affects Data Analysis</vt:lpstr>
      <vt:lpstr>How Question Design Affects Data Analysis</vt:lpstr>
      <vt:lpstr>How Question Design Affects Data Analysis</vt:lpstr>
      <vt:lpstr>Basic Tools for Collation and Analysis</vt:lpstr>
      <vt:lpstr>Presentations</vt:lpstr>
      <vt:lpstr>Presentations</vt:lpstr>
      <vt:lpstr>Presentation </vt:lpstr>
      <vt:lpstr>Outliers</vt:lpstr>
      <vt:lpstr>Presentation </vt:lpstr>
      <vt:lpstr>Example 1</vt:lpstr>
      <vt:lpstr>Example 1 – Bar Graph</vt:lpstr>
      <vt:lpstr>Example 1 – Scatter Diagram</vt:lpstr>
      <vt:lpstr>Example 2</vt:lpstr>
      <vt:lpstr>Example 2 – Phone 1</vt:lpstr>
      <vt:lpstr>Example 2 – Phone 2</vt:lpstr>
      <vt:lpstr>Example 2 – Bar Graph</vt:lpstr>
      <vt:lpstr>Qualitative Analysis</vt:lpstr>
      <vt:lpstr>Qualitative Analysis </vt:lpstr>
      <vt:lpstr>Qualitative Analysis </vt:lpstr>
      <vt:lpstr>Identify Themes</vt:lpstr>
      <vt:lpstr>Conducting Thematic Analysis</vt:lpstr>
      <vt:lpstr>PowerPoint Presentation</vt:lpstr>
      <vt:lpstr>PowerPoint Presentation</vt:lpstr>
      <vt:lpstr>PowerPoint Presentation</vt:lpstr>
      <vt:lpstr>PowerPoint Presentation</vt:lpstr>
      <vt:lpstr>Thematic Analysis</vt:lpstr>
      <vt:lpstr>Affinity Diagrams</vt:lpstr>
      <vt:lpstr>Categorizing Data</vt:lpstr>
      <vt:lpstr>Example</vt:lpstr>
      <vt:lpstr>Example</vt:lpstr>
      <vt:lpstr>Example</vt:lpstr>
      <vt:lpstr>Critical Incident Analysis</vt:lpstr>
      <vt:lpstr>Critical Incident Analysis</vt:lpstr>
      <vt:lpstr>Critical Incident Analysis</vt:lpstr>
      <vt:lpstr>Conducting Critical Incidence Analysis</vt:lpstr>
      <vt:lpstr>Analytical Frameworks</vt:lpstr>
      <vt:lpstr>PowerPoint Presentation</vt:lpstr>
      <vt:lpstr>Conversation analysis (CA)</vt:lpstr>
      <vt:lpstr>Example </vt:lpstr>
      <vt:lpstr>Example</vt:lpstr>
      <vt:lpstr>Discourse Analysis</vt:lpstr>
      <vt:lpstr>Example</vt:lpstr>
      <vt:lpstr>Content Analysis</vt:lpstr>
      <vt:lpstr>Example</vt:lpstr>
      <vt:lpstr>Interaction Analysis</vt:lpstr>
      <vt:lpstr>Example</vt:lpstr>
      <vt:lpstr>Grounded Theory</vt:lpstr>
      <vt:lpstr>Steps</vt:lpstr>
      <vt:lpstr>Coding </vt:lpstr>
      <vt:lpstr>System Based Framework</vt:lpstr>
      <vt:lpstr>Socio-technical Systems Theory</vt:lpstr>
      <vt:lpstr>Distributed Cognition of Teamwork</vt:lpstr>
      <vt:lpstr>Models of DiCoT</vt:lpstr>
      <vt:lpstr>Which Kind of Analytic Framework to Use?</vt:lpstr>
      <vt:lpstr>Tools to Support Data Analysis</vt:lpstr>
      <vt:lpstr>Interpreting and Presenting the Findings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adnan</dc:creator>
  <cp:lastModifiedBy>Amaid Zia</cp:lastModifiedBy>
  <cp:revision>11</cp:revision>
  <dcterms:created xsi:type="dcterms:W3CDTF">2018-08-15T12:40:21Z</dcterms:created>
  <dcterms:modified xsi:type="dcterms:W3CDTF">2025-02-24T05:10:47Z</dcterms:modified>
</cp:coreProperties>
</file>