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5="http://schemas.microsoft.com/office/powerpoint/2012/main" saveSubsetFonts="1">
  <p:sldMasterIdLst>
    <p:sldMasterId r:id="rId1" id="2147483660"/>
  </p:sldMasterIdLst>
  <p:sldIdLst>
    <p:sldId r:id="rId2" id="256"/>
    <p:sldId r:id="rId3" id="257"/>
    <p:sldId r:id="rId4" id="258"/>
    <p:sldId r:id="rId5" id="268"/>
    <p:sldId r:id="rId6" id="259"/>
    <p:sldId r:id="rId7" id="260"/>
    <p:sldId r:id="rId8" id="261"/>
    <p:sldId r:id="rId9" id="262"/>
    <p:sldId r:id="rId10" id="272"/>
    <p:sldId r:id="rId11" id="273"/>
    <p:sldId r:id="rId12" id="263"/>
    <p:sldId r:id="rId13" id="264"/>
    <p:sldId r:id="rId14" id="265"/>
    <p:sldId r:id="rId15" id="266"/>
    <p:sldId r:id="rId16" id="267"/>
    <p:sldId r:id="rId17" id="270"/>
    <p:sldId r:id="rId18" id="269"/>
    <p:sldId r:id="rId19" id="271"/>
  </p:sldIdLst>
  <p:sldSz cx="9144000" cy="6858000" type="screen4x3"/>
  <p:notesSz cx="6858000" cy="9144000"/>
  <p:defaultTextStyle>
    <a:defPPr>
      <a:defRPr lang="en-US"/>
    </a:defPPr>
    <a:lvl1pPr eaLnBrk="1" defTabSz="914400" latinLnBrk="0" rtl="0" marL="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eaLnBrk="1" defTabSz="914400" latinLnBrk="0" rtl="0" marL="4572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eaLnBrk="1" defTabSz="914400" latinLnBrk="0" rtl="0" marL="9144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eaLnBrk="1" defTabSz="914400" latinLnBrk="0" rtl="0" marL="13716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eaLnBrk="1" defTabSz="914400" latinLnBrk="0" rtl="0" marL="18288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eaLnBrk="1" defTabSz="914400" latinLnBrk="0" rtl="0" marL="22860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eaLnBrk="1" defTabSz="914400" latinLnBrk="0" rtl="0" marL="27432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eaLnBrk="1" defTabSz="914400" latinLnBrk="0" rtl="0" marL="32004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eaLnBrk="1" defTabSz="914400" latinLnBrk="0" rtl="0" marL="36576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orient="horz" pos="2160" id="1">
          <p15:clr>
            <a:srgbClr val="A4A3A4"/>
          </p15:clr>
        </p15:guide>
        <p15:guide pos="2880" id="2">
          <p15:clr>
            <a:srgbClr val="A4A3A4"/>
          </p15:clr>
        </p15:guide>
      </p15:sldGuideLst>
    </p:ext>
    <p:ext uri="http://customooxmlschemas.google.com/">
      <go:slidesCustomData xmlns:go="http://customooxmlschemas.google.com/" roundtripDataSignature="AMtx7miVpiI/P5Dg0vvka9Hi/uqTIY52ng==" r:id="rId25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013" autoAdjust="0"/>
    <p:restoredTop sz="94660"/>
  </p:normalViewPr>
  <p:slideViewPr>
    <p:cSldViewPr>
      <p:cViewPr varScale="1">
        <p:scale>
          <a:sx n="79" d="100"/>
          <a:sy n="79" d="100"/>
        </p:scale>
        <p:origin x="-87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Type="http://schemas.openxmlformats.org/officeDocument/2006/relationships/slide" Target="slides/slide7.xml" Id="rId8"></Relationship><Relationship Type="http://schemas.openxmlformats.org/officeDocument/2006/relationships/slide" Target="slides/slide12.xml" Id="rId13"></Relationship><Relationship Type="http://schemas.openxmlformats.org/officeDocument/2006/relationships/slide" Target="slides/slide17.xml" Id="rId18"></Relationship><Relationship Type="http://schemas.openxmlformats.org/officeDocument/2006/relationships/slide" Target="slides/slide2.xml" Id="rId3"></Relationship><Relationship Type="http://schemas.openxmlformats.org/officeDocument/2006/relationships/viewProps" Target="viewProps.xml" Id="rId21"></Relationship><Relationship Type="http://schemas.openxmlformats.org/officeDocument/2006/relationships/slide" Target="slides/slide6.xml" Id="rId7"></Relationship><Relationship Type="http://schemas.openxmlformats.org/officeDocument/2006/relationships/slide" Target="slides/slide11.xml" Id="rId12"></Relationship><Relationship Type="http://schemas.openxmlformats.org/officeDocument/2006/relationships/slide" Target="slides/slide16.xml" Id="rId17"></Relationship><Relationship Type="http://schemas.openxmlformats.org/officeDocument/2006/relationships/slide" Target="slides/slide1.xml" Id="rId2"></Relationship><Relationship Type="http://schemas.openxmlformats.org/officeDocument/2006/relationships/slide" Target="slides/slide15.xml" Id="rId16"></Relationship><Relationship Type="http://schemas.openxmlformats.org/officeDocument/2006/relationships/presProps" Target="presProps.xml" Id="rId20"></Relationship><Relationship Type="http://schemas.openxmlformats.org/officeDocument/2006/relationships/slideMaster" Target="slideMasters/slideMaster1.xml" Id="rId1"></Relationship><Relationship Type="http://schemas.openxmlformats.org/officeDocument/2006/relationships/slide" Target="slides/slide5.xml" Id="rId6"></Relationship><Relationship Type="http://schemas.openxmlformats.org/officeDocument/2006/relationships/slide" Target="slides/slide10.xml" Id="rId11"></Relationship><Relationship Type="http://schemas.openxmlformats.org/officeDocument/2006/relationships/slide" Target="slides/slide4.xml" Id="rId5"></Relationship><Relationship Type="http://schemas.openxmlformats.org/officeDocument/2006/relationships/slide" Target="slides/slide14.xml" Id="rId15"></Relationship><Relationship Type="http://schemas.openxmlformats.org/officeDocument/2006/relationships/tableStyles" Target="tableStyles.xml" Id="rId23"></Relationship><Relationship Type="http://schemas.openxmlformats.org/officeDocument/2006/relationships/slide" Target="slides/slide9.xml" Id="rId10"></Relationship><Relationship Type="http://schemas.openxmlformats.org/officeDocument/2006/relationships/slide" Target="slides/slide18.xml" Id="rId19"></Relationship><Relationship Type="http://schemas.openxmlformats.org/officeDocument/2006/relationships/slide" Target="slides/slide3.xml" Id="rId4"></Relationship><Relationship Type="http://schemas.openxmlformats.org/officeDocument/2006/relationships/slide" Target="slides/slide8.xml" Id="rId9"></Relationship><Relationship Type="http://schemas.openxmlformats.org/officeDocument/2006/relationships/slide" Target="slides/slide13.xml" Id="rId14"></Relationship><Relationship Type="http://schemas.openxmlformats.org/officeDocument/2006/relationships/theme" Target="theme/theme1.xml" Id="rId22"></Relationship><Relationship Target="commentAuthors.xml" Type="http://schemas.openxmlformats.org/officeDocument/2006/relationships/commentAuthors" Id="rId24"></Relationship><Relationship Target="metadata" Type="http://customschemas.google.com/relationships/presentationmetadata" Id="rId25"></Relationship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p15="http://schemas.microsoft.com/office/powerpoint/2012/main"/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xmlns="" val="1047380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9332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xmlns="" val="2929402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62483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8856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87170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9244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xmlns="" val="3353103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xmlns="" val="24164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3897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383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xmlns="" val="202776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36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5184">
          <p15:clr>
            <a:srgbClr val="F26B43"/>
          </p15:clr>
        </p15:guide>
        <p15:guide id="10" pos="702">
          <p15:clr>
            <a:srgbClr val="F26B43"/>
          </p15:clr>
        </p15:guide>
        <p15:guide id="11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Type="http://schemas.openxmlformats.org/officeDocument/2006/relationships/slideLayout" Target="../slideLayouts/slideLayout2.xml" Id="rId1"></Relationship><Relationship Target="../comments/comment1.xml" Type="http://schemas.openxmlformats.org/officeDocument/2006/relationships/comments" Id="rId2"></Relationship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2514600"/>
            <a:ext cx="6270922" cy="2098226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Human Computer Interaction</a:t>
            </a:r>
            <a:br>
              <a:rPr lang="en-US" dirty="0" smtClean="0"/>
            </a:br>
            <a:r>
              <a:rPr lang="en-US" dirty="0" smtClean="0"/>
              <a:t>(HCI)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9748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734300" cy="1485900"/>
          </a:xfrm>
        </p:spPr>
        <p:txBody>
          <a:bodyPr>
            <a:normAutofit fontScale="90000"/>
          </a:bodyPr>
          <a:lstStyle/>
          <a:p>
            <a:r>
              <a:rPr lang="en-US" dirty="0"/>
              <a:t>Ethnographic Interviews: </a:t>
            </a:r>
            <a:r>
              <a:rPr lang="en-US" dirty="0" smtClean="0"/>
              <a:t>Interviewing and </a:t>
            </a:r>
            <a:r>
              <a:rPr lang="en-US" dirty="0"/>
              <a:t>Observing </a:t>
            </a:r>
            <a:r>
              <a:rPr lang="en-US" dirty="0" smtClean="0"/>
              <a:t>Users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286000"/>
            <a:ext cx="7200900" cy="4343400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en-US" sz="4400" i="1" dirty="0"/>
              <a:t>Ethnography </a:t>
            </a:r>
            <a:r>
              <a:rPr lang="en-US" sz="4400" dirty="0"/>
              <a:t>is a term borrowed from anthropology, meaning the systematic </a:t>
            </a:r>
            <a:r>
              <a:rPr lang="en-US" sz="4400" dirty="0" smtClean="0"/>
              <a:t>and immersive </a:t>
            </a:r>
            <a:r>
              <a:rPr lang="en-US" sz="4400" dirty="0"/>
              <a:t>study of human </a:t>
            </a:r>
            <a:r>
              <a:rPr lang="en-US" sz="4400" dirty="0" smtClean="0"/>
              <a:t>cultures</a:t>
            </a:r>
          </a:p>
          <a:p>
            <a:pPr marL="0" indent="0" algn="just">
              <a:buNone/>
            </a:pPr>
            <a:endParaRPr lang="en-US" sz="4400" dirty="0" smtClean="0"/>
          </a:p>
          <a:p>
            <a:pPr algn="just"/>
            <a:r>
              <a:rPr lang="en-US" sz="4400" dirty="0" smtClean="0"/>
              <a:t>The goal of ethnographic interviews is </a:t>
            </a:r>
            <a:r>
              <a:rPr lang="en-US" sz="4400" dirty="0"/>
              <a:t>to understand the behaviors and </a:t>
            </a:r>
            <a:r>
              <a:rPr lang="en-US" sz="4400" dirty="0" smtClean="0"/>
              <a:t>customs </a:t>
            </a:r>
            <a:r>
              <a:rPr lang="en-US" sz="4400" dirty="0"/>
              <a:t>of people interacting with </a:t>
            </a:r>
            <a:r>
              <a:rPr lang="en-US" sz="4400" dirty="0" smtClean="0"/>
              <a:t>individual products</a:t>
            </a:r>
          </a:p>
          <a:p>
            <a:pPr algn="just"/>
            <a:endParaRPr lang="en-US" sz="4400" dirty="0" smtClean="0"/>
          </a:p>
          <a:p>
            <a:pPr algn="just"/>
            <a:r>
              <a:rPr lang="en-US" sz="4400" dirty="0" smtClean="0"/>
              <a:t>The </a:t>
            </a:r>
            <a:r>
              <a:rPr lang="en-US" sz="4400" dirty="0"/>
              <a:t>technique of </a:t>
            </a:r>
            <a:r>
              <a:rPr lang="en-US" sz="4400" b="1" dirty="0"/>
              <a:t>ethnographic interviews </a:t>
            </a:r>
            <a:r>
              <a:rPr lang="en-US" sz="4400" dirty="0"/>
              <a:t>is a combination of immersive observation and directed interview </a:t>
            </a:r>
            <a:r>
              <a:rPr lang="en-US" sz="4400" dirty="0" smtClean="0"/>
              <a:t>techniques</a:t>
            </a:r>
          </a:p>
          <a:p>
            <a:pPr algn="just"/>
            <a:endParaRPr lang="en-US" sz="4400" dirty="0" smtClean="0"/>
          </a:p>
          <a:p>
            <a:pPr algn="just"/>
            <a:r>
              <a:rPr lang="en-US" sz="4400" dirty="0" smtClean="0"/>
              <a:t>According to Beyer </a:t>
            </a:r>
            <a:r>
              <a:rPr lang="en-US" sz="4400" dirty="0"/>
              <a:t>and </a:t>
            </a:r>
            <a:r>
              <a:rPr lang="en-US" sz="4400" dirty="0" err="1"/>
              <a:t>Holtzblatt</a:t>
            </a:r>
            <a:r>
              <a:rPr lang="en-US" sz="4400" dirty="0"/>
              <a:t>, </a:t>
            </a:r>
            <a:r>
              <a:rPr lang="en-US" sz="4400" dirty="0" smtClean="0"/>
              <a:t>interviewer and interviewee relationship is </a:t>
            </a:r>
            <a:r>
              <a:rPr lang="en-US" sz="4400" dirty="0"/>
              <a:t>based on a </a:t>
            </a:r>
            <a:r>
              <a:rPr lang="en-US" sz="4400" b="1" dirty="0" smtClean="0"/>
              <a:t>master-apprentice model </a:t>
            </a:r>
            <a:r>
              <a:rPr lang="en-US" sz="4400" dirty="0"/>
              <a:t>of learning: observing and asking questions of the user as if </a:t>
            </a:r>
            <a:r>
              <a:rPr lang="en-US" sz="4400" dirty="0" smtClean="0"/>
              <a:t>she is </a:t>
            </a:r>
            <a:r>
              <a:rPr lang="en-US" sz="4400" dirty="0"/>
              <a:t>the master craftsman, and the interviewer the new apprentice</a:t>
            </a:r>
            <a:endParaRPr lang="en-US" sz="4400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59640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Preparing for ethnographic interviews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8458200" cy="5257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Identifying candidates:</a:t>
            </a:r>
          </a:p>
          <a:p>
            <a:pPr algn="just"/>
            <a:r>
              <a:rPr lang="en-US" dirty="0"/>
              <a:t>Because the designers must capture an entire range of user behaviors regarding </a:t>
            </a:r>
            <a:r>
              <a:rPr lang="en-US" dirty="0" smtClean="0"/>
              <a:t>a product</a:t>
            </a:r>
            <a:r>
              <a:rPr lang="en-US" dirty="0"/>
              <a:t>, it is critical that the designers identify an appropriately diverse sample </a:t>
            </a:r>
            <a:r>
              <a:rPr lang="en-US" dirty="0" smtClean="0"/>
              <a:t>of users </a:t>
            </a:r>
            <a:r>
              <a:rPr lang="en-US" dirty="0"/>
              <a:t>and user types when planning a series of </a:t>
            </a:r>
            <a:r>
              <a:rPr lang="en-US" dirty="0" smtClean="0"/>
              <a:t>interviews</a:t>
            </a:r>
          </a:p>
          <a:p>
            <a:pPr algn="just"/>
            <a:r>
              <a:rPr lang="en-US" dirty="0" smtClean="0"/>
              <a:t>High level questions that need to be addressed in identifying candidates</a:t>
            </a:r>
          </a:p>
          <a:p>
            <a:pPr algn="just">
              <a:buFontTx/>
              <a:buChar char="-"/>
            </a:pPr>
            <a:r>
              <a:rPr lang="en-US" dirty="0" smtClean="0"/>
              <a:t>What </a:t>
            </a:r>
            <a:r>
              <a:rPr lang="en-US" dirty="0"/>
              <a:t>different sorts of people might use this product</a:t>
            </a:r>
            <a:r>
              <a:rPr lang="en-US" dirty="0" smtClean="0"/>
              <a:t>? (e.g., secretary, manager)</a:t>
            </a:r>
          </a:p>
          <a:p>
            <a:pPr algn="just">
              <a:buFontTx/>
              <a:buChar char="-"/>
            </a:pPr>
            <a:r>
              <a:rPr lang="en-US" dirty="0" smtClean="0"/>
              <a:t>What </a:t>
            </a:r>
            <a:r>
              <a:rPr lang="en-US" dirty="0"/>
              <a:t>ranges of behavior need to be explored? (e.g., frequency of shopping, motivation for shopping, etc. You can also identify ages, locations, gender, </a:t>
            </a:r>
            <a:r>
              <a:rPr lang="en-US" dirty="0" smtClean="0"/>
              <a:t>technical knowledge, and </a:t>
            </a:r>
            <a:r>
              <a:rPr lang="en-US" dirty="0"/>
              <a:t>incomes of the target markets for the product to further understand </a:t>
            </a:r>
            <a:r>
              <a:rPr lang="en-US" dirty="0" smtClean="0"/>
              <a:t>users’ groups </a:t>
            </a:r>
            <a:r>
              <a:rPr lang="en-US" dirty="0"/>
              <a:t>behavior patterns</a:t>
            </a:r>
            <a:r>
              <a:rPr lang="en-US" dirty="0" smtClean="0"/>
              <a:t>)</a:t>
            </a:r>
          </a:p>
          <a:p>
            <a:pPr algn="just">
              <a:buFontTx/>
              <a:buChar char="-"/>
            </a:pPr>
            <a:r>
              <a:rPr lang="en-US" dirty="0"/>
              <a:t>How might their needs vary</a:t>
            </a:r>
            <a:r>
              <a:rPr lang="en-US" dirty="0" smtClean="0"/>
              <a:t>?</a:t>
            </a:r>
            <a:endParaRPr lang="en-US" dirty="0"/>
          </a:p>
          <a:p>
            <a:pPr algn="just">
              <a:buFontTx/>
              <a:buChar char="-"/>
            </a:pPr>
            <a:r>
              <a:rPr lang="en-US" dirty="0"/>
              <a:t>What </a:t>
            </a:r>
            <a:r>
              <a:rPr lang="en-US" dirty="0" smtClean="0"/>
              <a:t>types </a:t>
            </a:r>
            <a:r>
              <a:rPr lang="en-US" dirty="0"/>
              <a:t>of </a:t>
            </a:r>
            <a:r>
              <a:rPr lang="en-US" dirty="0" smtClean="0"/>
              <a:t>environments </a:t>
            </a:r>
            <a:r>
              <a:rPr lang="en-US" dirty="0"/>
              <a:t>need to be explored</a:t>
            </a:r>
            <a:r>
              <a:rPr lang="en-US" dirty="0" smtClean="0"/>
              <a:t>? (e.g., company size, company location, type of business, IT presence, security level)</a:t>
            </a:r>
          </a:p>
          <a:p>
            <a:r>
              <a:rPr lang="en-US" sz="2600" dirty="0"/>
              <a:t>Plan the interview</a:t>
            </a:r>
          </a:p>
        </p:txBody>
      </p:sp>
    </p:spTree>
    <p:extLst>
      <p:ext uri="{BB962C8B-B14F-4D97-AF65-F5344CB8AC3E}">
        <p14:creationId xmlns:p14="http://schemas.microsoft.com/office/powerpoint/2010/main" xmlns="" val="4217583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A Good Interviewer [2]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 </a:t>
            </a:r>
            <a:r>
              <a:rPr lang="en-US" dirty="0"/>
              <a:t>good interviewer is an active listener:</a:t>
            </a:r>
          </a:p>
          <a:p>
            <a:r>
              <a:rPr lang="en-US" dirty="0" smtClean="0"/>
              <a:t>Use </a:t>
            </a:r>
            <a:r>
              <a:rPr lang="en-US" dirty="0"/>
              <a:t>open body language: lean forward, hand under chin, arms open, eye contact.</a:t>
            </a:r>
          </a:p>
          <a:p>
            <a:r>
              <a:rPr lang="en-US" dirty="0" smtClean="0"/>
              <a:t>Use </a:t>
            </a:r>
            <a:r>
              <a:rPr lang="en-US" dirty="0"/>
              <a:t>minimal encouragers: brief verbal cues (hmmm, uh-huh, oh?), nodding, tilting head sideways.</a:t>
            </a:r>
          </a:p>
          <a:p>
            <a:r>
              <a:rPr lang="en-US" dirty="0" smtClean="0"/>
              <a:t>Ask </a:t>
            </a:r>
            <a:r>
              <a:rPr lang="en-US" dirty="0"/>
              <a:t>open-ended questions (how, when, what, why) to encourage elaboration.</a:t>
            </a:r>
          </a:p>
          <a:p>
            <a:r>
              <a:rPr lang="en-US" dirty="0" smtClean="0"/>
              <a:t>Use </a:t>
            </a:r>
            <a:r>
              <a:rPr lang="en-US" dirty="0"/>
              <a:t>closed questions (can you, will you, do you) with yes/no or simple fact answer to clarify </a:t>
            </a:r>
            <a:r>
              <a:rPr lang="en-US" dirty="0" smtClean="0"/>
              <a:t>your understanding</a:t>
            </a:r>
            <a:r>
              <a:rPr lang="en-US" dirty="0"/>
              <a:t>.</a:t>
            </a:r>
          </a:p>
          <a:p>
            <a:r>
              <a:rPr lang="en-US" dirty="0" smtClean="0"/>
              <a:t>Summarize </a:t>
            </a:r>
            <a:r>
              <a:rPr lang="en-US" dirty="0"/>
              <a:t>to check you understand the important points: “So it sounds like the key points are...”.</a:t>
            </a:r>
          </a:p>
        </p:txBody>
      </p:sp>
    </p:spTree>
    <p:extLst>
      <p:ext uri="{BB962C8B-B14F-4D97-AF65-F5344CB8AC3E}">
        <p14:creationId xmlns:p14="http://schemas.microsoft.com/office/powerpoint/2010/main" xmlns="" val="1302674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800" y="381000"/>
            <a:ext cx="7200900" cy="1485900"/>
          </a:xfrm>
        </p:spPr>
        <p:txBody>
          <a:bodyPr>
            <a:normAutofit/>
          </a:bodyPr>
          <a:lstStyle/>
          <a:p>
            <a:r>
              <a:rPr lang="en-US" dirty="0" smtClean="0"/>
              <a:t>Conducting ethnographic interviews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71700"/>
            <a:ext cx="8001000" cy="4533900"/>
          </a:xfrm>
        </p:spPr>
        <p:txBody>
          <a:bodyPr>
            <a:normAutofit/>
          </a:bodyPr>
          <a:lstStyle/>
          <a:p>
            <a:r>
              <a:rPr lang="en-US" dirty="0"/>
              <a:t>E</a:t>
            </a:r>
            <a:r>
              <a:rPr lang="en-US" dirty="0" smtClean="0"/>
              <a:t>ach </a:t>
            </a:r>
            <a:r>
              <a:rPr lang="en-US" dirty="0"/>
              <a:t>identified </a:t>
            </a:r>
            <a:r>
              <a:rPr lang="en-US" dirty="0" smtClean="0"/>
              <a:t>role, behavioral </a:t>
            </a:r>
            <a:r>
              <a:rPr lang="en-US" dirty="0"/>
              <a:t>variable, demographic variable, and environmental variable </a:t>
            </a:r>
            <a:r>
              <a:rPr lang="en-US" dirty="0" smtClean="0"/>
              <a:t>should </a:t>
            </a:r>
            <a:r>
              <a:rPr lang="en-US" dirty="0"/>
              <a:t>be explored in four to six interviews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team of two designers per </a:t>
            </a:r>
            <a:r>
              <a:rPr lang="en-US" dirty="0" smtClean="0"/>
              <a:t>interview is recommended, </a:t>
            </a:r>
            <a:r>
              <a:rPr lang="en-US" dirty="0"/>
              <a:t>one to drive the </a:t>
            </a:r>
            <a:r>
              <a:rPr lang="en-US" dirty="0" smtClean="0"/>
              <a:t>interview and </a:t>
            </a:r>
            <a:r>
              <a:rPr lang="en-US" dirty="0"/>
              <a:t>take light notes, and the other to take detailed notes (these roles can </a:t>
            </a:r>
            <a:r>
              <a:rPr lang="en-US" dirty="0" smtClean="0"/>
              <a:t>switch halfway </a:t>
            </a:r>
            <a:r>
              <a:rPr lang="en-US" dirty="0"/>
              <a:t>through the interview</a:t>
            </a:r>
            <a:r>
              <a:rPr lang="en-US" dirty="0" smtClean="0"/>
              <a:t>).</a:t>
            </a:r>
          </a:p>
          <a:p>
            <a:r>
              <a:rPr lang="en-US" dirty="0" smtClean="0"/>
              <a:t>One </a:t>
            </a:r>
            <a:r>
              <a:rPr lang="en-US" dirty="0"/>
              <a:t>hour per user interviewed is often </a:t>
            </a:r>
            <a:r>
              <a:rPr lang="en-US" dirty="0" smtClean="0"/>
              <a:t>sufficient, except </a:t>
            </a:r>
            <a:r>
              <a:rPr lang="en-US" dirty="0"/>
              <a:t>in the case of highly complex domains such as medical, scientific, and </a:t>
            </a:r>
            <a:r>
              <a:rPr lang="en-US" dirty="0" smtClean="0"/>
              <a:t>financial services </a:t>
            </a:r>
            <a:r>
              <a:rPr lang="en-US" dirty="0"/>
              <a:t>that may require more time to fully understand what the user is </a:t>
            </a:r>
            <a:r>
              <a:rPr lang="en-US" dirty="0" smtClean="0"/>
              <a:t>trying to accomplish</a:t>
            </a:r>
          </a:p>
          <a:p>
            <a:r>
              <a:rPr lang="en-US" dirty="0"/>
              <a:t>Teams should try to limit interviews to six per </a:t>
            </a:r>
            <a:r>
              <a:rPr lang="en-US" dirty="0" smtClean="0"/>
              <a:t>day to be effective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6504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Basic Method of </a:t>
            </a:r>
            <a:r>
              <a:rPr lang="en-US" dirty="0"/>
              <a:t>Conducting ethnographic </a:t>
            </a:r>
            <a:r>
              <a:rPr lang="en-US" dirty="0" smtClean="0"/>
              <a:t>interviews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Interview where the interaction happens</a:t>
            </a:r>
          </a:p>
          <a:p>
            <a:r>
              <a:rPr lang="en-US" dirty="0"/>
              <a:t> Avoid a fixed set of questions</a:t>
            </a:r>
          </a:p>
          <a:p>
            <a:r>
              <a:rPr lang="en-US" dirty="0"/>
              <a:t> Focus on goals first, tasks second</a:t>
            </a:r>
          </a:p>
          <a:p>
            <a:r>
              <a:rPr lang="en-US" dirty="0"/>
              <a:t> Avoid making the user a designer</a:t>
            </a:r>
          </a:p>
          <a:p>
            <a:r>
              <a:rPr lang="en-US" dirty="0"/>
              <a:t> Avoid discussions of technology</a:t>
            </a:r>
          </a:p>
          <a:p>
            <a:r>
              <a:rPr lang="en-US" dirty="0"/>
              <a:t> Encourage storytelling</a:t>
            </a:r>
          </a:p>
          <a:p>
            <a:r>
              <a:rPr lang="en-US" dirty="0"/>
              <a:t> Ask for a show and tell</a:t>
            </a:r>
          </a:p>
          <a:p>
            <a:r>
              <a:rPr lang="en-US" dirty="0"/>
              <a:t> Avoid leading questions</a:t>
            </a:r>
          </a:p>
        </p:txBody>
      </p:sp>
    </p:spTree>
    <p:extLst>
      <p:ext uri="{BB962C8B-B14F-4D97-AF65-F5344CB8AC3E}">
        <p14:creationId xmlns:p14="http://schemas.microsoft.com/office/powerpoint/2010/main" xmlns="" val="158510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Method of Conducting ethnographic </a:t>
            </a:r>
            <a:r>
              <a:rPr lang="en-US" dirty="0" smtClean="0"/>
              <a:t>interviews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200" b="1" dirty="0"/>
              <a:t>Interview where the interaction </a:t>
            </a:r>
            <a:r>
              <a:rPr lang="en-US" sz="3200" b="1" dirty="0" smtClean="0"/>
              <a:t>happens</a:t>
            </a:r>
          </a:p>
          <a:p>
            <a:r>
              <a:rPr lang="en-US" sz="2800" dirty="0" smtClean="0"/>
              <a:t>It will given an opportunity to view the product in actual use and in observing environment</a:t>
            </a:r>
          </a:p>
          <a:p>
            <a:r>
              <a:rPr lang="en-US" sz="2800" dirty="0"/>
              <a:t>This can give tremendous insight into product constraints and </a:t>
            </a:r>
            <a:r>
              <a:rPr lang="en-US" sz="2800" dirty="0" smtClean="0"/>
              <a:t>user needs </a:t>
            </a:r>
            <a:r>
              <a:rPr lang="en-US" sz="2800" dirty="0"/>
              <a:t>and </a:t>
            </a:r>
            <a:r>
              <a:rPr lang="en-US" sz="2800" dirty="0" smtClean="0"/>
              <a:t>goals</a:t>
            </a:r>
          </a:p>
          <a:p>
            <a:r>
              <a:rPr lang="en-US" sz="2800" dirty="0" smtClean="0"/>
              <a:t>Observe the environment closely: For example, </a:t>
            </a:r>
            <a:r>
              <a:rPr lang="en-US" sz="2800" dirty="0"/>
              <a:t>the kind of </a:t>
            </a:r>
            <a:r>
              <a:rPr lang="en-US" sz="2800" dirty="0" smtClean="0"/>
              <a:t>information they need </a:t>
            </a:r>
            <a:r>
              <a:rPr lang="en-US" sz="2800" dirty="0"/>
              <a:t>(papers on desks or adhesive notes on screen borders), </a:t>
            </a:r>
            <a:r>
              <a:rPr lang="en-US" sz="2800" dirty="0" smtClean="0"/>
              <a:t>inadequate systems </a:t>
            </a:r>
            <a:r>
              <a:rPr lang="en-US" sz="2800" dirty="0"/>
              <a:t>(cheat sheets and user manuals), the frequency and priority of </a:t>
            </a:r>
            <a:r>
              <a:rPr lang="en-US" sz="2800" dirty="0" smtClean="0"/>
              <a:t>tasks (inbox </a:t>
            </a:r>
            <a:r>
              <a:rPr lang="en-US" sz="2800" dirty="0"/>
              <a:t>and outbox); and the kind of workflows they follow (memos, charts, calendars</a:t>
            </a:r>
            <a:r>
              <a:rPr lang="en-US" sz="2800" dirty="0" smtClean="0"/>
              <a:t>).</a:t>
            </a:r>
          </a:p>
          <a:p>
            <a:r>
              <a:rPr lang="en-US" sz="2800" dirty="0"/>
              <a:t>Don’t snoop without permission, but if you see something that looks </a:t>
            </a:r>
            <a:r>
              <a:rPr lang="en-US" sz="2800" dirty="0" smtClean="0"/>
              <a:t>interesting, ask </a:t>
            </a:r>
            <a:r>
              <a:rPr lang="en-US" sz="2800" dirty="0"/>
              <a:t>your interviewee to discuss it</a:t>
            </a:r>
            <a:endParaRPr lang="en-US" sz="2800" dirty="0" smtClean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398125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Method of Conducting ethnographic </a:t>
            </a:r>
            <a:r>
              <a:rPr lang="en-US" dirty="0" smtClean="0"/>
              <a:t>interviews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Avoid a fixed set of </a:t>
            </a:r>
            <a:r>
              <a:rPr lang="en-US" b="1" dirty="0" smtClean="0"/>
              <a:t>questions</a:t>
            </a:r>
          </a:p>
          <a:p>
            <a:r>
              <a:rPr lang="en-US" sz="2800" dirty="0" smtClean="0"/>
              <a:t>Fixed questions can cause lose of very valuable user data</a:t>
            </a:r>
          </a:p>
          <a:p>
            <a:r>
              <a:rPr lang="en-US" sz="2800" dirty="0" smtClean="0"/>
              <a:t>It is better to have type of questions or topics in mind for conducting interview</a:t>
            </a:r>
          </a:p>
          <a:p>
            <a:pPr marL="0" indent="0">
              <a:buNone/>
            </a:pPr>
            <a:r>
              <a:rPr lang="en-US" b="1" dirty="0"/>
              <a:t>Focus on goals first, tasks </a:t>
            </a:r>
            <a:r>
              <a:rPr lang="en-US" b="1" dirty="0" smtClean="0"/>
              <a:t>second</a:t>
            </a:r>
          </a:p>
          <a:p>
            <a:r>
              <a:rPr lang="en-US" dirty="0" smtClean="0"/>
              <a:t>Ethnographic interviews must focus on understanding </a:t>
            </a:r>
            <a:r>
              <a:rPr lang="en-US" b="1" dirty="0" smtClean="0"/>
              <a:t>what are the goals</a:t>
            </a:r>
            <a:r>
              <a:rPr lang="en-US" dirty="0" smtClean="0"/>
              <a:t> not what tasks users perform. Tasks will be considered later while restructuring to better meet users goals.</a:t>
            </a:r>
            <a:endParaRPr lang="en-US" b="1" dirty="0" smtClean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xmlns="" val="1880617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1981200"/>
            <a:ext cx="7734300" cy="4495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Here are some </a:t>
            </a:r>
            <a:r>
              <a:rPr lang="en-US" b="1" dirty="0"/>
              <a:t>goal-oriented questions </a:t>
            </a:r>
            <a:r>
              <a:rPr lang="en-US" dirty="0"/>
              <a:t>to consider:</a:t>
            </a:r>
          </a:p>
          <a:p>
            <a:pPr lvl="1"/>
            <a:r>
              <a:rPr lang="en-US" dirty="0"/>
              <a:t> </a:t>
            </a:r>
            <a:r>
              <a:rPr lang="en-US" b="1" dirty="0"/>
              <a:t>Goals</a:t>
            </a:r>
            <a:r>
              <a:rPr lang="en-US" dirty="0"/>
              <a:t>— What makes a good day? A bad day?</a:t>
            </a:r>
          </a:p>
          <a:p>
            <a:pPr lvl="1"/>
            <a:r>
              <a:rPr lang="en-US" dirty="0"/>
              <a:t> </a:t>
            </a:r>
            <a:r>
              <a:rPr lang="en-US" b="1" dirty="0"/>
              <a:t>Opportunity</a:t>
            </a:r>
            <a:r>
              <a:rPr lang="en-US" dirty="0"/>
              <a:t> — What activities currently waste your time?</a:t>
            </a:r>
          </a:p>
          <a:p>
            <a:pPr lvl="1"/>
            <a:r>
              <a:rPr lang="en-US" b="1" dirty="0"/>
              <a:t> Priorities </a:t>
            </a:r>
            <a:r>
              <a:rPr lang="en-US" dirty="0"/>
              <a:t>— What is most important to you?</a:t>
            </a:r>
          </a:p>
          <a:p>
            <a:pPr lvl="1"/>
            <a:r>
              <a:rPr lang="en-US" b="1" dirty="0"/>
              <a:t> Information</a:t>
            </a:r>
            <a:r>
              <a:rPr lang="en-US" dirty="0"/>
              <a:t>— What helps you make decisions?</a:t>
            </a:r>
          </a:p>
          <a:p>
            <a:r>
              <a:rPr lang="en-US" dirty="0"/>
              <a:t>Another useful type of question is the </a:t>
            </a:r>
            <a:r>
              <a:rPr lang="en-US" b="1" dirty="0"/>
              <a:t>system-oriented question</a:t>
            </a:r>
            <a:r>
              <a:rPr lang="en-US" dirty="0"/>
              <a:t>:</a:t>
            </a:r>
          </a:p>
          <a:p>
            <a:pPr lvl="1"/>
            <a:r>
              <a:rPr lang="en-US" b="1" dirty="0" smtClean="0"/>
              <a:t>Function</a:t>
            </a:r>
            <a:r>
              <a:rPr lang="en-US" dirty="0" smtClean="0"/>
              <a:t> </a:t>
            </a:r>
            <a:r>
              <a:rPr lang="en-US" dirty="0"/>
              <a:t>— What are the most common things you do with the product?</a:t>
            </a:r>
          </a:p>
          <a:p>
            <a:pPr lvl="1"/>
            <a:r>
              <a:rPr lang="en-US" b="1" dirty="0" smtClean="0"/>
              <a:t>Frequency</a:t>
            </a:r>
            <a:r>
              <a:rPr lang="en-US" dirty="0"/>
              <a:t>— What parts of the product do you use most?</a:t>
            </a:r>
          </a:p>
          <a:p>
            <a:pPr lvl="1"/>
            <a:r>
              <a:rPr lang="en-US" b="1" dirty="0" smtClean="0"/>
              <a:t>Preference </a:t>
            </a:r>
            <a:r>
              <a:rPr lang="en-US" dirty="0"/>
              <a:t>— What are your favorite aspects of the product? What </a:t>
            </a:r>
            <a:r>
              <a:rPr lang="en-US" dirty="0" smtClean="0"/>
              <a:t>drives you </a:t>
            </a:r>
            <a:r>
              <a:rPr lang="en-US" dirty="0"/>
              <a:t>crazy?</a:t>
            </a:r>
          </a:p>
          <a:p>
            <a:pPr lvl="1"/>
            <a:r>
              <a:rPr lang="en-US" b="1" dirty="0" smtClean="0"/>
              <a:t>Failure</a:t>
            </a:r>
            <a:r>
              <a:rPr lang="en-US" dirty="0"/>
              <a:t>— How do you work around problems?</a:t>
            </a:r>
          </a:p>
          <a:p>
            <a:pPr lvl="1"/>
            <a:r>
              <a:rPr lang="en-US" b="1" dirty="0" smtClean="0"/>
              <a:t>Expertise</a:t>
            </a:r>
            <a:r>
              <a:rPr lang="en-US" dirty="0"/>
              <a:t>— What shortcuts do you employ</a:t>
            </a:r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38363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1905000"/>
            <a:ext cx="7734300" cy="4572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business products, </a:t>
            </a:r>
            <a:r>
              <a:rPr lang="en-US" b="1" dirty="0"/>
              <a:t>workflow-oriented questions </a:t>
            </a:r>
            <a:r>
              <a:rPr lang="en-US" dirty="0"/>
              <a:t>can be helpful:</a:t>
            </a:r>
          </a:p>
          <a:p>
            <a:pPr lvl="1"/>
            <a:r>
              <a:rPr lang="en-US" b="1" dirty="0" smtClean="0"/>
              <a:t>Process</a:t>
            </a:r>
            <a:r>
              <a:rPr lang="en-US" dirty="0" smtClean="0"/>
              <a:t> </a:t>
            </a:r>
            <a:r>
              <a:rPr lang="en-US" dirty="0"/>
              <a:t>— What did you do when you first came in today? And after that?</a:t>
            </a:r>
          </a:p>
          <a:p>
            <a:pPr lvl="1"/>
            <a:r>
              <a:rPr lang="en-US" b="1" dirty="0" smtClean="0"/>
              <a:t>Occurrence </a:t>
            </a:r>
            <a:r>
              <a:rPr lang="en-US" b="1" dirty="0"/>
              <a:t>and recurrence</a:t>
            </a:r>
            <a:r>
              <a:rPr lang="en-US" dirty="0"/>
              <a:t>— How often do you do this? What things do </a:t>
            </a:r>
            <a:r>
              <a:rPr lang="en-US" dirty="0" smtClean="0"/>
              <a:t>you do </a:t>
            </a:r>
            <a:r>
              <a:rPr lang="en-US" dirty="0"/>
              <a:t>weekly or monthly, but not every day?</a:t>
            </a:r>
          </a:p>
          <a:p>
            <a:pPr lvl="1"/>
            <a:r>
              <a:rPr lang="en-US" b="1" dirty="0" smtClean="0"/>
              <a:t>Exception</a:t>
            </a:r>
            <a:r>
              <a:rPr lang="en-US" dirty="0" smtClean="0"/>
              <a:t> </a:t>
            </a:r>
            <a:r>
              <a:rPr lang="en-US" dirty="0"/>
              <a:t>— What constitutes a typical day? What would be an unusual event?</a:t>
            </a:r>
          </a:p>
          <a:p>
            <a:r>
              <a:rPr lang="en-US" dirty="0"/>
              <a:t>To better understand user motivations, you can employ </a:t>
            </a:r>
            <a:r>
              <a:rPr lang="en-US" b="1" dirty="0" smtClean="0"/>
              <a:t>attitude-oriented questions</a:t>
            </a:r>
            <a:r>
              <a:rPr lang="en-US" dirty="0"/>
              <a:t>:</a:t>
            </a:r>
          </a:p>
          <a:p>
            <a:pPr lvl="1"/>
            <a:r>
              <a:rPr lang="en-US" b="1" dirty="0" smtClean="0"/>
              <a:t>Aspiration</a:t>
            </a:r>
            <a:r>
              <a:rPr lang="en-US" dirty="0" smtClean="0"/>
              <a:t> </a:t>
            </a:r>
            <a:r>
              <a:rPr lang="en-US" dirty="0"/>
              <a:t>— What do you see yourself doing five years from now?</a:t>
            </a:r>
          </a:p>
          <a:p>
            <a:pPr lvl="1"/>
            <a:r>
              <a:rPr lang="en-US" b="1" dirty="0" smtClean="0"/>
              <a:t>Avoidance</a:t>
            </a:r>
            <a:r>
              <a:rPr lang="en-US" dirty="0" smtClean="0"/>
              <a:t> </a:t>
            </a:r>
            <a:r>
              <a:rPr lang="en-US" dirty="0"/>
              <a:t>— What would you prefer not to do? What do you procrastinate on?</a:t>
            </a:r>
          </a:p>
          <a:p>
            <a:pPr lvl="1"/>
            <a:r>
              <a:rPr lang="en-US" b="1" dirty="0" smtClean="0"/>
              <a:t>Motivatio</a:t>
            </a:r>
            <a:r>
              <a:rPr lang="en-US" dirty="0" smtClean="0"/>
              <a:t>n </a:t>
            </a:r>
            <a:r>
              <a:rPr lang="en-US" dirty="0"/>
              <a:t>— What do you enjoy most about your job (or lifestyle)? What do </a:t>
            </a:r>
            <a:r>
              <a:rPr lang="en-US" dirty="0" smtClean="0"/>
              <a:t>you always </a:t>
            </a:r>
            <a:r>
              <a:rPr lang="en-US" dirty="0"/>
              <a:t>tackle first?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/>
          <a:p>
            <a:r>
              <a:rPr lang="en-US" dirty="0" smtClean="0"/>
              <a:t>Question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0742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Method of Conducting ethnographic </a:t>
            </a:r>
            <a:r>
              <a:rPr lang="en-US" dirty="0" smtClean="0"/>
              <a:t>interviews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Avoid making the user a </a:t>
            </a:r>
            <a:r>
              <a:rPr lang="en-US" b="1" dirty="0" smtClean="0"/>
              <a:t>designer</a:t>
            </a:r>
          </a:p>
          <a:p>
            <a:pPr algn="just"/>
            <a:r>
              <a:rPr lang="en-US" dirty="0"/>
              <a:t>Guide the interviewee towards examining problems and away from </a:t>
            </a:r>
            <a:r>
              <a:rPr lang="en-US" dirty="0" smtClean="0"/>
              <a:t>expressing solutions</a:t>
            </a:r>
            <a:endParaRPr lang="en-US" dirty="0"/>
          </a:p>
          <a:p>
            <a:pPr algn="just"/>
            <a:r>
              <a:rPr lang="en-US" dirty="0"/>
              <a:t>Most of the time, those solutions reflect the interview subject’s </a:t>
            </a:r>
            <a:r>
              <a:rPr lang="en-US" dirty="0" smtClean="0"/>
              <a:t>personal priorities</a:t>
            </a:r>
            <a:r>
              <a:rPr lang="en-US" dirty="0"/>
              <a:t>, and while they sound good to </a:t>
            </a:r>
            <a:r>
              <a:rPr lang="en-US" i="1" dirty="0"/>
              <a:t>him</a:t>
            </a:r>
            <a:r>
              <a:rPr lang="en-US" dirty="0"/>
              <a:t>, they tend to be shortsighted, </a:t>
            </a:r>
            <a:r>
              <a:rPr lang="en-US" dirty="0" smtClean="0"/>
              <a:t>personal, and </a:t>
            </a:r>
            <a:r>
              <a:rPr lang="en-US" dirty="0"/>
              <a:t>lack the balance and refinement that an interaction designer can </a:t>
            </a:r>
            <a:r>
              <a:rPr lang="en-US" dirty="0" smtClean="0"/>
              <a:t>bring</a:t>
            </a:r>
          </a:p>
          <a:p>
            <a:pPr algn="just"/>
            <a:r>
              <a:rPr lang="en-US" dirty="0"/>
              <a:t>If a user </a:t>
            </a:r>
            <a:r>
              <a:rPr lang="en-US" dirty="0" smtClean="0"/>
              <a:t>utters </a:t>
            </a:r>
            <a:r>
              <a:rPr lang="en-US" dirty="0"/>
              <a:t>out an </a:t>
            </a:r>
            <a:r>
              <a:rPr lang="en-US" dirty="0" smtClean="0"/>
              <a:t>interesting idea</a:t>
            </a:r>
            <a:r>
              <a:rPr lang="en-US" dirty="0"/>
              <a:t>, ask “What problem would that solve for you?” or “Why would that be </a:t>
            </a:r>
            <a:r>
              <a:rPr lang="en-US" dirty="0" smtClean="0"/>
              <a:t>a good </a:t>
            </a:r>
            <a:r>
              <a:rPr lang="en-US" dirty="0"/>
              <a:t>solution?”</a:t>
            </a:r>
          </a:p>
        </p:txBody>
      </p:sp>
    </p:spTree>
    <p:extLst>
      <p:ext uri="{BB962C8B-B14F-4D97-AF65-F5344CB8AC3E}">
        <p14:creationId xmlns:p14="http://schemas.microsoft.com/office/powerpoint/2010/main" xmlns="" val="1521220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Method of Conducting ethnographic </a:t>
            </a:r>
            <a:r>
              <a:rPr lang="en-US" dirty="0" smtClean="0"/>
              <a:t>interviews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Avoid discussions of </a:t>
            </a:r>
            <a:r>
              <a:rPr lang="en-US" b="1" dirty="0" smtClean="0"/>
              <a:t>technology</a:t>
            </a:r>
          </a:p>
          <a:p>
            <a:pPr algn="just"/>
            <a:r>
              <a:rPr lang="en-US" dirty="0"/>
              <a:t>Just as you don’t want to treat the user as a designer, you also don’t want to </a:t>
            </a:r>
            <a:r>
              <a:rPr lang="en-US" dirty="0" smtClean="0"/>
              <a:t>treat him </a:t>
            </a:r>
            <a:r>
              <a:rPr lang="en-US" dirty="0"/>
              <a:t>as a programmer or </a:t>
            </a:r>
            <a:r>
              <a:rPr lang="en-US" dirty="0" smtClean="0"/>
              <a:t>engineer</a:t>
            </a:r>
          </a:p>
          <a:p>
            <a:pPr algn="just"/>
            <a:r>
              <a:rPr lang="en-US" dirty="0"/>
              <a:t>In the case </a:t>
            </a:r>
            <a:r>
              <a:rPr lang="en-US" dirty="0" smtClean="0"/>
              <a:t>of technical </a:t>
            </a:r>
            <a:r>
              <a:rPr lang="en-US" dirty="0"/>
              <a:t>or scientific products, where technology is always an issue, </a:t>
            </a:r>
            <a:r>
              <a:rPr lang="en-US" dirty="0" smtClean="0"/>
              <a:t>distinguish between </a:t>
            </a:r>
            <a:r>
              <a:rPr lang="en-US" dirty="0"/>
              <a:t>domain-related technology and product-related technology, and </a:t>
            </a:r>
            <a:r>
              <a:rPr lang="en-US" dirty="0" smtClean="0"/>
              <a:t>steer away </a:t>
            </a:r>
            <a:r>
              <a:rPr lang="en-US" dirty="0"/>
              <a:t>from the </a:t>
            </a:r>
            <a:r>
              <a:rPr lang="en-US" dirty="0" smtClean="0"/>
              <a:t>latter</a:t>
            </a:r>
          </a:p>
          <a:p>
            <a:pPr algn="just"/>
            <a:r>
              <a:rPr lang="en-US" dirty="0" smtClean="0"/>
              <a:t>If a user is insistent </a:t>
            </a:r>
            <a:r>
              <a:rPr lang="en-US" dirty="0"/>
              <a:t>on </a:t>
            </a:r>
            <a:r>
              <a:rPr lang="en-US" dirty="0" smtClean="0"/>
              <a:t>talking about </a:t>
            </a:r>
            <a:r>
              <a:rPr lang="en-US" dirty="0"/>
              <a:t>how the product should be implemented, bring the subject back to his </a:t>
            </a:r>
            <a:r>
              <a:rPr lang="en-US" dirty="0" smtClean="0"/>
              <a:t>goals and </a:t>
            </a:r>
            <a:r>
              <a:rPr lang="en-US" dirty="0"/>
              <a:t>motivations by asking “How would that help you?”</a:t>
            </a:r>
          </a:p>
        </p:txBody>
      </p:sp>
    </p:spTree>
    <p:extLst>
      <p:ext uri="{BB962C8B-B14F-4D97-AF65-F5344CB8AC3E}">
        <p14:creationId xmlns:p14="http://schemas.microsoft.com/office/powerpoint/2010/main" xmlns="" val="2677729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Method of Conducting ethnographic </a:t>
            </a:r>
            <a:r>
              <a:rPr lang="en-US" dirty="0" smtClean="0"/>
              <a:t>interviews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Encourage </a:t>
            </a:r>
            <a:r>
              <a:rPr lang="en-US" b="1" dirty="0" smtClean="0"/>
              <a:t>storytelling</a:t>
            </a:r>
          </a:p>
          <a:p>
            <a:pPr algn="just"/>
            <a:r>
              <a:rPr lang="en-US" dirty="0"/>
              <a:t>Far more useful than asking users for design advice is encouraging them to tell </a:t>
            </a:r>
            <a:r>
              <a:rPr lang="en-US" dirty="0" smtClean="0"/>
              <a:t>specific stories </a:t>
            </a:r>
            <a:r>
              <a:rPr lang="en-US" dirty="0"/>
              <a:t>about their experiences with a </a:t>
            </a:r>
            <a:r>
              <a:rPr lang="en-US" dirty="0" smtClean="0"/>
              <a:t>product</a:t>
            </a:r>
          </a:p>
          <a:p>
            <a:pPr algn="just"/>
            <a:r>
              <a:rPr lang="en-US" dirty="0" smtClean="0"/>
              <a:t>For example, how </a:t>
            </a:r>
            <a:r>
              <a:rPr lang="en-US" dirty="0"/>
              <a:t>they use it, </a:t>
            </a:r>
            <a:r>
              <a:rPr lang="en-US" dirty="0" smtClean="0"/>
              <a:t>what they </a:t>
            </a:r>
            <a:r>
              <a:rPr lang="en-US" dirty="0"/>
              <a:t>think of it, who else they interact with when using it, where they go with it, </a:t>
            </a:r>
            <a:r>
              <a:rPr lang="en-US" dirty="0" smtClean="0"/>
              <a:t>and so </a:t>
            </a:r>
            <a:r>
              <a:rPr lang="en-US" dirty="0"/>
              <a:t>forth</a:t>
            </a:r>
          </a:p>
        </p:txBody>
      </p:sp>
    </p:spTree>
    <p:extLst>
      <p:ext uri="{BB962C8B-B14F-4D97-AF65-F5344CB8AC3E}">
        <p14:creationId xmlns:p14="http://schemas.microsoft.com/office/powerpoint/2010/main" xmlns="" val="53698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Method of Conducting ethnographic </a:t>
            </a:r>
            <a:r>
              <a:rPr lang="en-US" dirty="0" smtClean="0"/>
              <a:t>interviews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Ask for a show and </a:t>
            </a:r>
            <a:r>
              <a:rPr lang="en-US" b="1" dirty="0" smtClean="0"/>
              <a:t>tell</a:t>
            </a:r>
          </a:p>
          <a:p>
            <a:pPr algn="just"/>
            <a:r>
              <a:rPr lang="en-US" dirty="0"/>
              <a:t>After you have a good idea of the flow and structure of a user’s activities and </a:t>
            </a:r>
            <a:r>
              <a:rPr lang="en-US" dirty="0" smtClean="0"/>
              <a:t>interactions and </a:t>
            </a:r>
            <a:r>
              <a:rPr lang="en-US" dirty="0"/>
              <a:t>you have exhausted other questions, it is often useful to ask the </a:t>
            </a:r>
            <a:r>
              <a:rPr lang="en-US" dirty="0" smtClean="0"/>
              <a:t>interviewee for </a:t>
            </a:r>
            <a:r>
              <a:rPr lang="en-US" dirty="0"/>
              <a:t>a show and </a:t>
            </a:r>
            <a:r>
              <a:rPr lang="en-US" dirty="0" smtClean="0"/>
              <a:t>tell</a:t>
            </a:r>
          </a:p>
          <a:p>
            <a:pPr algn="just"/>
            <a:r>
              <a:rPr lang="en-US" dirty="0"/>
              <a:t>These can be domain-related artifacts, software interfaces, paper systems, tours </a:t>
            </a:r>
            <a:r>
              <a:rPr lang="en-US" dirty="0" smtClean="0"/>
              <a:t>of the </a:t>
            </a:r>
            <a:r>
              <a:rPr lang="en-US" dirty="0"/>
              <a:t>work environment, or ideally all the </a:t>
            </a:r>
            <a:r>
              <a:rPr lang="en-US" dirty="0" smtClean="0"/>
              <a:t>above</a:t>
            </a:r>
          </a:p>
          <a:p>
            <a:pPr algn="just"/>
            <a:r>
              <a:rPr lang="en-US" dirty="0" smtClean="0"/>
              <a:t>Record the artifacts </a:t>
            </a:r>
            <a:r>
              <a:rPr lang="en-US" dirty="0"/>
              <a:t>themselves (digital or video cameras are very handy at this stage) but </a:t>
            </a:r>
            <a:r>
              <a:rPr lang="en-US" dirty="0" smtClean="0"/>
              <a:t>also pay </a:t>
            </a:r>
            <a:r>
              <a:rPr lang="en-US" dirty="0"/>
              <a:t>attention to </a:t>
            </a:r>
            <a:r>
              <a:rPr lang="en-US" i="1" dirty="0"/>
              <a:t>how </a:t>
            </a:r>
            <a:r>
              <a:rPr lang="en-US" dirty="0"/>
              <a:t>the interviewee describes them</a:t>
            </a:r>
          </a:p>
        </p:txBody>
      </p:sp>
    </p:spTree>
    <p:extLst>
      <p:ext uri="{BB962C8B-B14F-4D97-AF65-F5344CB8AC3E}">
        <p14:creationId xmlns:p14="http://schemas.microsoft.com/office/powerpoint/2010/main" xmlns="" val="1552812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Method of Conducting ethnographic </a:t>
            </a:r>
            <a:r>
              <a:rPr lang="en-US" dirty="0" smtClean="0"/>
              <a:t>interviews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Avoid leading </a:t>
            </a:r>
            <a:r>
              <a:rPr lang="en-US" b="1" dirty="0" smtClean="0"/>
              <a:t>questions</a:t>
            </a:r>
          </a:p>
          <a:p>
            <a:r>
              <a:rPr lang="en-US" dirty="0" smtClean="0"/>
              <a:t>Avoid suggestions or opinions on behavior, it can bias the interviewee opinion</a:t>
            </a:r>
          </a:p>
          <a:p>
            <a:r>
              <a:rPr lang="en-US" dirty="0" smtClean="0"/>
              <a:t>For example, avoid such questions</a:t>
            </a:r>
          </a:p>
          <a:p>
            <a:pPr>
              <a:buFontTx/>
              <a:buChar char="-"/>
            </a:pPr>
            <a:r>
              <a:rPr lang="en-US" dirty="0" smtClean="0"/>
              <a:t>Would </a:t>
            </a:r>
            <a:r>
              <a:rPr lang="en-US" dirty="0"/>
              <a:t>feature X help you</a:t>
            </a:r>
            <a:r>
              <a:rPr lang="en-US" dirty="0" smtClean="0"/>
              <a:t>?</a:t>
            </a:r>
          </a:p>
          <a:p>
            <a:pPr>
              <a:buFontTx/>
              <a:buChar char="-"/>
            </a:pPr>
            <a:r>
              <a:rPr lang="en-US" dirty="0" smtClean="0"/>
              <a:t> </a:t>
            </a:r>
            <a:r>
              <a:rPr lang="en-US" dirty="0"/>
              <a:t>You like X, don’t </a:t>
            </a:r>
            <a:r>
              <a:rPr lang="en-US" dirty="0" smtClean="0"/>
              <a:t>you?</a:t>
            </a:r>
          </a:p>
          <a:p>
            <a:pPr>
              <a:buFontTx/>
              <a:buChar char="-"/>
            </a:pPr>
            <a:r>
              <a:rPr lang="en-US" dirty="0" smtClean="0"/>
              <a:t>Do </a:t>
            </a:r>
            <a:r>
              <a:rPr lang="en-US" dirty="0"/>
              <a:t>you think you’d use X if it were available?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23861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General Flow of Interview for Business </a:t>
            </a:r>
            <a:r>
              <a:rPr lang="en-US" b="1" dirty="0" smtClean="0"/>
              <a:t>Product [2]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Introductions</a:t>
            </a:r>
            <a:r>
              <a:rPr lang="en-US" dirty="0"/>
              <a:t>.</a:t>
            </a:r>
          </a:p>
          <a:p>
            <a:r>
              <a:rPr lang="en-US" dirty="0" smtClean="0"/>
              <a:t>Why </a:t>
            </a:r>
            <a:r>
              <a:rPr lang="en-US" dirty="0"/>
              <a:t>we’re here: We’ve been asked to design/improve X.</a:t>
            </a:r>
          </a:p>
          <a:p>
            <a:r>
              <a:rPr lang="en-US" dirty="0" smtClean="0"/>
              <a:t>What </a:t>
            </a:r>
            <a:r>
              <a:rPr lang="en-US" dirty="0"/>
              <a:t>we’ll ask: your day, your background, your frustrations.</a:t>
            </a:r>
          </a:p>
          <a:p>
            <a:r>
              <a:rPr lang="en-US" dirty="0" smtClean="0"/>
              <a:t>Tell </a:t>
            </a:r>
            <a:r>
              <a:rPr lang="en-US" dirty="0"/>
              <a:t>us about your responsibilities and your typical workday.</a:t>
            </a:r>
          </a:p>
          <a:p>
            <a:r>
              <a:rPr lang="en-US" dirty="0" smtClean="0"/>
              <a:t>Drill </a:t>
            </a:r>
            <a:r>
              <a:rPr lang="en-US" dirty="0"/>
              <a:t>into specific tasks.</a:t>
            </a:r>
          </a:p>
          <a:p>
            <a:r>
              <a:rPr lang="en-US" dirty="0" smtClean="0"/>
              <a:t>How </a:t>
            </a:r>
            <a:r>
              <a:rPr lang="en-US" dirty="0"/>
              <a:t>is existing product (if any) involved in those tasks.</a:t>
            </a:r>
          </a:p>
          <a:p>
            <a:r>
              <a:rPr lang="en-US" dirty="0" smtClean="0"/>
              <a:t>Relationships </a:t>
            </a:r>
            <a:r>
              <a:rPr lang="en-US" dirty="0"/>
              <a:t>with other people and processes.</a:t>
            </a:r>
          </a:p>
          <a:p>
            <a:r>
              <a:rPr lang="en-US" dirty="0" smtClean="0"/>
              <a:t>Goals</a:t>
            </a:r>
            <a:r>
              <a:rPr lang="en-US" dirty="0"/>
              <a:t>.</a:t>
            </a:r>
          </a:p>
          <a:p>
            <a:r>
              <a:rPr lang="en-US" smtClean="0"/>
              <a:t>Follow </a:t>
            </a:r>
            <a:r>
              <a:rPr lang="en-US" dirty="0"/>
              <a:t>up on interesting points.</a:t>
            </a:r>
          </a:p>
          <a:p>
            <a:r>
              <a:rPr lang="en-US" smtClean="0"/>
              <a:t>Wrap-up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4162453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Good General </a:t>
            </a:r>
            <a:r>
              <a:rPr lang="en-US" sz="4000" dirty="0" smtClean="0"/>
              <a:t>Questions [2]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</a:t>
            </a:r>
            <a:r>
              <a:rPr lang="en-US" dirty="0"/>
              <a:t>do you spend most of your time on? [task priority]</a:t>
            </a:r>
          </a:p>
          <a:p>
            <a:r>
              <a:rPr lang="en-US" dirty="0" smtClean="0"/>
              <a:t>What </a:t>
            </a:r>
            <a:r>
              <a:rPr lang="en-US" dirty="0"/>
              <a:t>things waste your time? [opportunity]</a:t>
            </a:r>
          </a:p>
          <a:p>
            <a:r>
              <a:rPr lang="en-US" smtClean="0"/>
              <a:t>What </a:t>
            </a:r>
            <a:r>
              <a:rPr lang="en-US" dirty="0"/>
              <a:t>makes a good work day? A bad one? [goals]</a:t>
            </a:r>
          </a:p>
          <a:p>
            <a:r>
              <a:rPr lang="en-US" dirty="0" smtClean="0"/>
              <a:t>What </a:t>
            </a:r>
            <a:r>
              <a:rPr lang="en-US" dirty="0"/>
              <a:t>kind of training do you have? [support to provide]</a:t>
            </a:r>
          </a:p>
          <a:p>
            <a:r>
              <a:rPr lang="en-US" dirty="0" smtClean="0"/>
              <a:t>What </a:t>
            </a:r>
            <a:r>
              <a:rPr lang="en-US" dirty="0"/>
              <a:t>are the most important things you do? [priorities, goals]</a:t>
            </a:r>
          </a:p>
          <a:p>
            <a:r>
              <a:rPr lang="en-US" dirty="0" smtClean="0"/>
              <a:t>What </a:t>
            </a:r>
            <a:r>
              <a:rPr lang="en-US" dirty="0"/>
              <a:t>information helps you make decisions? [info to provide]</a:t>
            </a:r>
          </a:p>
        </p:txBody>
      </p:sp>
    </p:spTree>
    <p:extLst>
      <p:ext uri="{BB962C8B-B14F-4D97-AF65-F5344CB8AC3E}">
        <p14:creationId xmlns:p14="http://schemas.microsoft.com/office/powerpoint/2010/main" xmlns="" val="224589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[1] </a:t>
            </a:r>
            <a:r>
              <a:rPr lang="en-US" dirty="0"/>
              <a:t>“About Face 3.0, the Essentials of Interaction Design”, by Alan Cooper, Robert </a:t>
            </a:r>
            <a:r>
              <a:rPr lang="en-US" dirty="0" err="1"/>
              <a:t>Reimann</a:t>
            </a:r>
            <a:r>
              <a:rPr lang="en-US" dirty="0"/>
              <a:t>, and David Cronin, Third </a:t>
            </a:r>
            <a:r>
              <a:rPr lang="en-US" dirty="0" smtClean="0"/>
              <a:t>Edition</a:t>
            </a:r>
          </a:p>
          <a:p>
            <a:pPr marL="0" indent="0">
              <a:buNone/>
            </a:pPr>
            <a:r>
              <a:rPr lang="en-US" dirty="0" smtClean="0"/>
              <a:t>[2] </a:t>
            </a:r>
            <a:r>
              <a:rPr lang="en-US" dirty="0"/>
              <a:t>Lecture Notes of Prof. Keith Andrews, Available at: www.iicm.tugraz.at/hci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7677763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1930</TotalTime>
  <Words>1622</Words>
  <Application>Microsoft Office PowerPoint</Application>
  <PresentationFormat>On-screen Show (4:3)</PresentationFormat>
  <Paragraphs>119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Crop</vt:lpstr>
      <vt:lpstr>  Human Computer Interaction (HCI)</vt:lpstr>
      <vt:lpstr>Ethnographic Interviews: Interviewing and Observing Users</vt:lpstr>
      <vt:lpstr>Preparing for ethnographic interviews [1]</vt:lpstr>
      <vt:lpstr>A Good Interviewer [2]</vt:lpstr>
      <vt:lpstr>Conducting ethnographic interviews [1]</vt:lpstr>
      <vt:lpstr>Basic Method of Conducting ethnographic interviews [1]</vt:lpstr>
      <vt:lpstr>Basic Method of Conducting ethnographic interviews [1]</vt:lpstr>
      <vt:lpstr>Basic Method of Conducting ethnographic interviews [1]</vt:lpstr>
      <vt:lpstr>Question Types</vt:lpstr>
      <vt:lpstr>Question Types</vt:lpstr>
      <vt:lpstr>Basic Method of Conducting ethnographic interviews [1]</vt:lpstr>
      <vt:lpstr>Basic Method of Conducting ethnographic interviews [1]</vt:lpstr>
      <vt:lpstr>Basic Method of Conducting ethnographic interviews [1]</vt:lpstr>
      <vt:lpstr>Basic Method of Conducting ethnographic interviews [1]</vt:lpstr>
      <vt:lpstr>Basic Method of Conducting ethnographic interviews [1]</vt:lpstr>
      <vt:lpstr>General Flow of Interview for Business Product [2] </vt:lpstr>
      <vt:lpstr>Good General Questions [2]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Computer Interaction (HCI)</dc:title>
  <dc:creator>ibm</dc:creator>
  <cp:lastModifiedBy>Dr. Atifa</cp:lastModifiedBy>
  <cp:revision>757</cp:revision>
  <dcterms:created xsi:type="dcterms:W3CDTF">2006-08-16T00:00:00Z</dcterms:created>
  <dcterms:modified xsi:type="dcterms:W3CDTF">2016-11-10T11:45:55Z</dcterms:modified>
</cp:coreProperties>
</file>