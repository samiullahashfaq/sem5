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3" r:id="rId6"/>
    <p:sldId id="271" r:id="rId7"/>
    <p:sldId id="269" r:id="rId8"/>
    <p:sldId id="264" r:id="rId9"/>
    <p:sldId id="276" r:id="rId10"/>
    <p:sldId id="277" r:id="rId11"/>
    <p:sldId id="278" r:id="rId12"/>
    <p:sldId id="266" r:id="rId13"/>
    <p:sldId id="279" r:id="rId14"/>
    <p:sldId id="267" r:id="rId15"/>
    <p:sldId id="281" r:id="rId16"/>
    <p:sldId id="280" r:id="rId17"/>
    <p:sldId id="260" r:id="rId18"/>
    <p:sldId id="261" r:id="rId19"/>
    <p:sldId id="262" r:id="rId20"/>
    <p:sldId id="274" r:id="rId21"/>
    <p:sldId id="273" r:id="rId22"/>
    <p:sldId id="270" r:id="rId23"/>
    <p:sldId id="272" r:id="rId24"/>
    <p:sldId id="275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38" autoAdjust="0"/>
    <p:restoredTop sz="94609" autoAdjust="0"/>
  </p:normalViewPr>
  <p:slideViewPr>
    <p:cSldViewPr>
      <p:cViewPr varScale="1">
        <p:scale>
          <a:sx n="75" d="100"/>
          <a:sy n="75" d="100"/>
        </p:scale>
        <p:origin x="-1002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4318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76471B-E1E5-4606-B53A-165D5E9FF5CD}" type="datetimeFigureOut">
              <a:rPr lang="en-US" smtClean="0"/>
              <a:pPr/>
              <a:t>11/22/2016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0D85A2-127F-403A-8342-52BF93D9DB5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95491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0D85A2-127F-403A-8342-52BF93D9DB5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99947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6346" y="1788454"/>
            <a:ext cx="6270922" cy="2098226"/>
          </a:xfrm>
        </p:spPr>
        <p:txBody>
          <a:bodyPr anchor="b">
            <a:noAutofit/>
          </a:bodyPr>
          <a:lstStyle>
            <a:lvl1pPr algn="ct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9930" y="3956280"/>
            <a:ext cx="5123755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4644" y="6453386"/>
            <a:ext cx="1205958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041" y="6453386"/>
            <a:ext cx="5267533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564643" y="744469"/>
            <a:ext cx="8005589" cy="5349671"/>
            <a:chOff x="564643" y="744469"/>
            <a:chExt cx="8005589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6113972" y="1685652"/>
              <a:ext cx="2456260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357"/>
                  </a:lnTo>
                  <a:lnTo>
                    <a:pt x="8761" y="935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564643" y="744469"/>
              <a:ext cx="2456505" cy="4408488"/>
            </a:xfrm>
            <a:custGeom>
              <a:avLst/>
              <a:gdLst/>
              <a:ahLst/>
              <a:cxnLst/>
              <a:rect l="l" t="t" r="r" b="b"/>
              <a:pathLst>
                <a:path w="10001" h="10000">
                  <a:moveTo>
                    <a:pt x="8762" y="0"/>
                  </a:moveTo>
                  <a:lnTo>
                    <a:pt x="10001" y="0"/>
                  </a:lnTo>
                  <a:lnTo>
                    <a:pt x="10001" y="10000"/>
                  </a:lnTo>
                  <a:lnTo>
                    <a:pt x="1" y="10000"/>
                  </a:lnTo>
                  <a:cubicBezTo>
                    <a:pt x="-2" y="9766"/>
                    <a:pt x="4" y="9586"/>
                    <a:pt x="1" y="9352"/>
                  </a:cubicBezTo>
                  <a:lnTo>
                    <a:pt x="8762" y="9346"/>
                  </a:lnTo>
                  <a:lnTo>
                    <a:pt x="876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xmlns="" val="1579633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19088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1301361"/>
            <a:ext cx="7209728" cy="2852737"/>
          </a:xfrm>
        </p:spPr>
        <p:txBody>
          <a:bodyPr anchor="b">
            <a:normAutofit/>
          </a:bodyPr>
          <a:lstStyle>
            <a:lvl1pPr algn="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769" y="4216328"/>
            <a:ext cx="7209728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4181" y="6453386"/>
            <a:ext cx="1216807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234" y="6453386"/>
            <a:ext cx="5267533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8" name="Freeform 7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xmlns="" val="31052128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8700" y="2286000"/>
            <a:ext cx="3335840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4052" y="2286000"/>
            <a:ext cx="3335840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395232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340230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8700" y="3305208"/>
            <a:ext cx="3335839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3760" y="2349754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93760" y="3305208"/>
            <a:ext cx="3335840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62358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203845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70337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400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2015" y="685801"/>
            <a:ext cx="3909060" cy="5175250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6344"/>
            <a:ext cx="2891790" cy="3011056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xmlns="" val="3980171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4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9090" y="1"/>
            <a:ext cx="4994910" cy="6857999"/>
          </a:xfrm>
        </p:spPr>
        <p:txBody>
          <a:bodyPr anchor="t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5968"/>
            <a:ext cx="2891790" cy="3011432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xmlns="" val="4008260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2295526"/>
            <a:ext cx="7200900" cy="35718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04759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0797" y="624156"/>
            <a:ext cx="1490950" cy="52432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624156"/>
            <a:ext cx="5724525" cy="52432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99413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286000"/>
            <a:ext cx="72009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2987" y="6453386"/>
            <a:ext cx="90342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0173" y="6453386"/>
            <a:ext cx="4710623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552" y="6453386"/>
            <a:ext cx="119721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xmlns="" val="3642602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6858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 xmlns="">
        <p15:guide id="1" pos="6912">
          <p15:clr>
            <a:srgbClr val="F26B43"/>
          </p15:clr>
        </p15:guide>
        <p15:guide id="2" pos="936">
          <p15:clr>
            <a:srgbClr val="F26B43"/>
          </p15:clr>
        </p15:guide>
        <p15:guide id="3" pos="864">
          <p15:clr>
            <a:srgbClr val="F26B43"/>
          </p15:clr>
        </p15:guide>
        <p15:guide id="4" orient="horz" pos="1368">
          <p15:clr>
            <a:srgbClr val="F26B43"/>
          </p15:clr>
        </p15:guide>
        <p15:guide id="5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5184">
          <p15:clr>
            <a:srgbClr val="F26B43"/>
          </p15:clr>
        </p15:guide>
        <p15:guide id="10" pos="702">
          <p15:clr>
            <a:srgbClr val="F26B43"/>
          </p15:clr>
        </p15:guide>
        <p15:guide id="11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7800" y="2438400"/>
            <a:ext cx="6270922" cy="2098226"/>
          </a:xfrm>
        </p:spPr>
        <p:txBody>
          <a:bodyPr/>
          <a:lstStyle/>
          <a:p>
            <a:r>
              <a:rPr lang="en-US" dirty="0" smtClean="0"/>
              <a:t>Human Computer Interaction</a:t>
            </a:r>
            <a:br>
              <a:rPr lang="en-US" dirty="0" smtClean="0"/>
            </a:br>
            <a:r>
              <a:rPr lang="en-US" dirty="0" smtClean="0"/>
              <a:t>(HCI)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97488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457200"/>
            <a:ext cx="7200900" cy="1485900"/>
          </a:xfrm>
        </p:spPr>
        <p:txBody>
          <a:bodyPr>
            <a:normAutofit/>
          </a:bodyPr>
          <a:lstStyle/>
          <a:p>
            <a:r>
              <a:rPr lang="en-US" dirty="0" smtClean="0"/>
              <a:t>Defining Scenarios for each persona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700" y="2057400"/>
            <a:ext cx="7886700" cy="45720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S</a:t>
            </a:r>
            <a:r>
              <a:rPr lang="en-US" dirty="0" smtClean="0"/>
              <a:t>cenarios</a:t>
            </a:r>
            <a:r>
              <a:rPr lang="en-US" b="1" dirty="0" smtClean="0"/>
              <a:t> </a:t>
            </a:r>
            <a:r>
              <a:rPr lang="en-US" dirty="0"/>
              <a:t>are concise narrative descriptions of one or more </a:t>
            </a:r>
            <a:r>
              <a:rPr lang="en-US" dirty="0" smtClean="0"/>
              <a:t>personas using </a:t>
            </a:r>
            <a:r>
              <a:rPr lang="en-US" dirty="0"/>
              <a:t>a product to achieve specific </a:t>
            </a:r>
            <a:r>
              <a:rPr lang="en-US" dirty="0" smtClean="0"/>
              <a:t>goals</a:t>
            </a:r>
          </a:p>
          <a:p>
            <a:pPr algn="just"/>
            <a:r>
              <a:rPr lang="en-US" dirty="0"/>
              <a:t>They allow us to start our designs from </a:t>
            </a:r>
            <a:r>
              <a:rPr lang="en-US" dirty="0" smtClean="0"/>
              <a:t>a story </a:t>
            </a:r>
            <a:r>
              <a:rPr lang="en-US" dirty="0"/>
              <a:t>describing an ideal experience from the persona’s perspective, focusing </a:t>
            </a:r>
            <a:r>
              <a:rPr lang="en-US" dirty="0" smtClean="0"/>
              <a:t>on people</a:t>
            </a:r>
            <a:r>
              <a:rPr lang="en-US" dirty="0"/>
              <a:t>, and how they think and behave, rather than on technology or business </a:t>
            </a:r>
            <a:r>
              <a:rPr lang="en-US" dirty="0" smtClean="0"/>
              <a:t>goals</a:t>
            </a:r>
          </a:p>
          <a:p>
            <a:pPr algn="just"/>
            <a:r>
              <a:rPr lang="en-US" dirty="0"/>
              <a:t>Scenario content and context are derived from information gathered during </a:t>
            </a:r>
            <a:r>
              <a:rPr lang="en-US" dirty="0" smtClean="0"/>
              <a:t>the Research </a:t>
            </a:r>
            <a:r>
              <a:rPr lang="en-US" dirty="0"/>
              <a:t>phase and analyzed during the Modeling </a:t>
            </a:r>
            <a:r>
              <a:rPr lang="en-US" dirty="0" smtClean="0"/>
              <a:t>phase</a:t>
            </a:r>
          </a:p>
          <a:p>
            <a:pPr algn="just"/>
            <a:r>
              <a:rPr lang="en-US" dirty="0" smtClean="0"/>
              <a:t>It helps in real-time </a:t>
            </a:r>
            <a:r>
              <a:rPr lang="en-US" dirty="0"/>
              <a:t>synthesis of structure and </a:t>
            </a:r>
            <a:r>
              <a:rPr lang="en-US" dirty="0" smtClean="0"/>
              <a:t>behavior— typically</a:t>
            </a:r>
            <a:r>
              <a:rPr lang="en-US" dirty="0"/>
              <a:t>, at a whiteboard— and later informs the detailed look-and-feel. </a:t>
            </a:r>
            <a:r>
              <a:rPr lang="en-US" dirty="0" smtClean="0"/>
              <a:t> Moreover,</a:t>
            </a:r>
            <a:r>
              <a:rPr lang="en-US" dirty="0"/>
              <a:t> </a:t>
            </a:r>
            <a:r>
              <a:rPr lang="en-US" dirty="0" smtClean="0"/>
              <a:t>personas </a:t>
            </a:r>
            <a:r>
              <a:rPr lang="en-US" dirty="0"/>
              <a:t>and scenarios are used to test the validity of design ideas and </a:t>
            </a:r>
            <a:r>
              <a:rPr lang="en-US" dirty="0" smtClean="0"/>
              <a:t>assumptions throughout </a:t>
            </a:r>
            <a:r>
              <a:rPr lang="en-US" dirty="0"/>
              <a:t>the process</a:t>
            </a:r>
          </a:p>
        </p:txBody>
      </p:sp>
    </p:spTree>
    <p:extLst>
      <p:ext uri="{BB962C8B-B14F-4D97-AF65-F5344CB8AC3E}">
        <p14:creationId xmlns:p14="http://schemas.microsoft.com/office/powerpoint/2010/main" xmlns="" val="461429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Scenarios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dirty="0" smtClean="0"/>
              <a:t>ontext scenarios</a:t>
            </a:r>
          </a:p>
          <a:p>
            <a:r>
              <a:rPr lang="en-US" dirty="0"/>
              <a:t>K</a:t>
            </a:r>
            <a:r>
              <a:rPr lang="en-US" dirty="0" smtClean="0"/>
              <a:t>ey </a:t>
            </a:r>
            <a:r>
              <a:rPr lang="en-US" dirty="0"/>
              <a:t>path </a:t>
            </a:r>
            <a:r>
              <a:rPr lang="en-US" dirty="0" smtClean="0"/>
              <a:t>scenarios</a:t>
            </a:r>
          </a:p>
          <a:p>
            <a:r>
              <a:rPr lang="en-US" dirty="0"/>
              <a:t>V</a:t>
            </a:r>
            <a:r>
              <a:rPr lang="en-US" dirty="0" smtClean="0"/>
              <a:t>alidation </a:t>
            </a:r>
            <a:r>
              <a:rPr lang="en-US" dirty="0"/>
              <a:t>scenarios</a:t>
            </a:r>
          </a:p>
        </p:txBody>
      </p:sp>
    </p:spTree>
    <p:extLst>
      <p:ext uri="{BB962C8B-B14F-4D97-AF65-F5344CB8AC3E}">
        <p14:creationId xmlns:p14="http://schemas.microsoft.com/office/powerpoint/2010/main" xmlns="" val="2540482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8229600" cy="1143000"/>
          </a:xfrm>
        </p:spPr>
        <p:txBody>
          <a:bodyPr/>
          <a:lstStyle/>
          <a:p>
            <a:r>
              <a:rPr lang="en-US" dirty="0"/>
              <a:t>Types of </a:t>
            </a:r>
            <a:r>
              <a:rPr lang="en-US" dirty="0" smtClean="0"/>
              <a:t>Scenarios (cont.)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95400"/>
            <a:ext cx="8229600" cy="533400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b="1" dirty="0"/>
              <a:t>Context </a:t>
            </a:r>
            <a:r>
              <a:rPr lang="en-US" b="1" dirty="0" smtClean="0"/>
              <a:t>scenario: </a:t>
            </a:r>
            <a:r>
              <a:rPr lang="en-US" dirty="0" smtClean="0"/>
              <a:t>It</a:t>
            </a:r>
            <a:r>
              <a:rPr lang="en-US" b="1" dirty="0" smtClean="0"/>
              <a:t> </a:t>
            </a:r>
            <a:r>
              <a:rPr lang="en-US" dirty="0" smtClean="0"/>
              <a:t>is </a:t>
            </a:r>
            <a:r>
              <a:rPr lang="en-US" dirty="0"/>
              <a:t>used to explore, at a high level, how </a:t>
            </a:r>
            <a:r>
              <a:rPr lang="en-US" dirty="0" smtClean="0"/>
              <a:t>the product </a:t>
            </a:r>
            <a:r>
              <a:rPr lang="en-US" dirty="0"/>
              <a:t>can best serve the needs of the </a:t>
            </a:r>
            <a:r>
              <a:rPr lang="en-US" dirty="0" smtClean="0"/>
              <a:t>personas</a:t>
            </a:r>
          </a:p>
          <a:p>
            <a:pPr algn="just"/>
            <a:r>
              <a:rPr lang="en-US" dirty="0" smtClean="0"/>
              <a:t>Created before </a:t>
            </a:r>
            <a:r>
              <a:rPr lang="en-US" dirty="0"/>
              <a:t>any design is performed and are written from the perspective of </a:t>
            </a:r>
            <a:r>
              <a:rPr lang="en-US" dirty="0" smtClean="0"/>
              <a:t>the persona</a:t>
            </a:r>
            <a:r>
              <a:rPr lang="en-US" dirty="0"/>
              <a:t>, focused on human activities, perceptions, and </a:t>
            </a:r>
            <a:r>
              <a:rPr lang="en-US" dirty="0" smtClean="0"/>
              <a:t>desires</a:t>
            </a:r>
          </a:p>
          <a:p>
            <a:pPr algn="just"/>
            <a:r>
              <a:rPr lang="en-US" dirty="0" smtClean="0"/>
              <a:t>It will help in extracting the needs of users which includes</a:t>
            </a:r>
          </a:p>
          <a:p>
            <a:pPr marL="0" indent="0" algn="just">
              <a:buNone/>
            </a:pPr>
            <a:r>
              <a:rPr lang="en-US" dirty="0" smtClean="0"/>
              <a:t>1. </a:t>
            </a:r>
            <a:r>
              <a:rPr lang="en-US" b="1" dirty="0" smtClean="0"/>
              <a:t>data needs</a:t>
            </a:r>
            <a:r>
              <a:rPr lang="en-US" dirty="0" smtClean="0"/>
              <a:t>: </a:t>
            </a:r>
            <a:r>
              <a:rPr lang="en-US" dirty="0"/>
              <a:t>Common </a:t>
            </a:r>
            <a:r>
              <a:rPr lang="en-US" dirty="0" smtClean="0"/>
              <a:t>examples include </a:t>
            </a:r>
            <a:r>
              <a:rPr lang="en-US" dirty="0"/>
              <a:t>accounts, people, documents, messages, songs, images, as well </a:t>
            </a:r>
            <a:r>
              <a:rPr lang="en-US" dirty="0" smtClean="0"/>
              <a:t>as attributes </a:t>
            </a:r>
            <a:r>
              <a:rPr lang="en-US" dirty="0"/>
              <a:t>of those such as status, dates, size, creator, subject, and so </a:t>
            </a:r>
            <a:r>
              <a:rPr lang="en-US" dirty="0" smtClean="0"/>
              <a:t>on.</a:t>
            </a:r>
          </a:p>
          <a:p>
            <a:pPr marL="0" indent="0" algn="just">
              <a:buNone/>
            </a:pPr>
            <a:r>
              <a:rPr lang="en-US" dirty="0" smtClean="0"/>
              <a:t>2. </a:t>
            </a:r>
            <a:r>
              <a:rPr lang="en-US" b="1" dirty="0" smtClean="0"/>
              <a:t>functional needs</a:t>
            </a:r>
            <a:r>
              <a:rPr lang="en-US" dirty="0" smtClean="0"/>
              <a:t>: </a:t>
            </a:r>
            <a:r>
              <a:rPr lang="en-US" dirty="0"/>
              <a:t>Functional needs are the operations or actions that need to be performed on </a:t>
            </a:r>
            <a:r>
              <a:rPr lang="en-US" dirty="0" smtClean="0"/>
              <a:t>the objects </a:t>
            </a:r>
            <a:r>
              <a:rPr lang="en-US" dirty="0"/>
              <a:t>of the system and which are typically translated into interface </a:t>
            </a:r>
            <a:r>
              <a:rPr lang="en-US" dirty="0" smtClean="0"/>
              <a:t>controls. These </a:t>
            </a:r>
            <a:r>
              <a:rPr lang="en-US" dirty="0"/>
              <a:t>can be thought of as the </a:t>
            </a:r>
            <a:r>
              <a:rPr lang="en-US" i="1" dirty="0"/>
              <a:t>actions </a:t>
            </a:r>
            <a:r>
              <a:rPr lang="en-US" dirty="0"/>
              <a:t>of the product</a:t>
            </a:r>
            <a:r>
              <a:rPr lang="en-US" dirty="0" smtClean="0"/>
              <a:t>. </a:t>
            </a:r>
            <a:r>
              <a:rPr lang="en-US" dirty="0"/>
              <a:t>Functional needs also </a:t>
            </a:r>
            <a:r>
              <a:rPr lang="en-US" dirty="0" smtClean="0"/>
              <a:t>define places </a:t>
            </a:r>
            <a:r>
              <a:rPr lang="en-US" dirty="0"/>
              <a:t>or containers where objects or information in the interface must be displayed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3. </a:t>
            </a:r>
            <a:r>
              <a:rPr lang="en-US" b="1" dirty="0" smtClean="0"/>
              <a:t>other needs</a:t>
            </a:r>
            <a:r>
              <a:rPr lang="en-US" dirty="0" smtClean="0"/>
              <a:t>: For example technical, business, customer or partner needs</a:t>
            </a:r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00231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Scenarios (cont</a:t>
            </a:r>
            <a:r>
              <a:rPr lang="en-US" dirty="0" smtClean="0"/>
              <a:t>.)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700" y="1981200"/>
            <a:ext cx="7810500" cy="441960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b="1" dirty="0"/>
              <a:t>Context scenarios</a:t>
            </a:r>
            <a:r>
              <a:rPr lang="en-US" dirty="0"/>
              <a:t> address questions such as the following:</a:t>
            </a:r>
          </a:p>
          <a:p>
            <a:pPr algn="just"/>
            <a:r>
              <a:rPr lang="en-US" dirty="0"/>
              <a:t> In what setting(s) will the product be used?</a:t>
            </a:r>
          </a:p>
          <a:p>
            <a:pPr algn="just"/>
            <a:r>
              <a:rPr lang="en-US" dirty="0"/>
              <a:t> Will it be used for extended amounts of time?</a:t>
            </a:r>
          </a:p>
          <a:p>
            <a:pPr algn="just"/>
            <a:r>
              <a:rPr lang="en-US" dirty="0"/>
              <a:t> Is the persona frequently interrupted?</a:t>
            </a:r>
          </a:p>
          <a:p>
            <a:pPr algn="just"/>
            <a:r>
              <a:rPr lang="en-US" dirty="0"/>
              <a:t> Are there multiple users on a single workstation or device?</a:t>
            </a:r>
          </a:p>
          <a:p>
            <a:pPr algn="just"/>
            <a:r>
              <a:rPr lang="en-US" dirty="0"/>
              <a:t> With what other products will it be used?</a:t>
            </a:r>
          </a:p>
          <a:p>
            <a:pPr algn="just"/>
            <a:r>
              <a:rPr lang="en-US" dirty="0"/>
              <a:t> What primary activities does the persona need to perform to meet </a:t>
            </a:r>
            <a:r>
              <a:rPr lang="en-US" dirty="0" smtClean="0"/>
              <a:t>   her </a:t>
            </a:r>
            <a:r>
              <a:rPr lang="en-US" dirty="0"/>
              <a:t>goals?</a:t>
            </a:r>
          </a:p>
          <a:p>
            <a:pPr algn="just"/>
            <a:r>
              <a:rPr lang="en-US" dirty="0"/>
              <a:t> What is the expected end result of using the product?</a:t>
            </a:r>
          </a:p>
          <a:p>
            <a:pPr algn="just"/>
            <a:r>
              <a:rPr lang="en-US" dirty="0"/>
              <a:t> How much complexity is permissible, based on persona skill and frequency of use?</a:t>
            </a:r>
          </a:p>
        </p:txBody>
      </p:sp>
    </p:spTree>
    <p:extLst>
      <p:ext uri="{BB962C8B-B14F-4D97-AF65-F5344CB8AC3E}">
        <p14:creationId xmlns:p14="http://schemas.microsoft.com/office/powerpoint/2010/main" xmlns="" val="3869615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Scenarios (cont</a:t>
            </a:r>
            <a:r>
              <a:rPr lang="en-US" dirty="0" smtClean="0"/>
              <a:t>.)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700" y="1905000"/>
            <a:ext cx="7810500" cy="4724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Brainstorming:</a:t>
            </a:r>
            <a:endParaRPr lang="en-US" b="1" dirty="0"/>
          </a:p>
          <a:p>
            <a:pPr algn="just"/>
            <a:r>
              <a:rPr lang="en-US" dirty="0"/>
              <a:t>The primary purpose here is to eliminate as much preconception as possible, </a:t>
            </a:r>
            <a:r>
              <a:rPr lang="en-US" dirty="0" smtClean="0"/>
              <a:t>allowing designers </a:t>
            </a:r>
            <a:r>
              <a:rPr lang="en-US" dirty="0"/>
              <a:t>to be open-minded and flexible as they use their imagination to </a:t>
            </a:r>
            <a:r>
              <a:rPr lang="en-US" dirty="0" smtClean="0"/>
              <a:t>construct scenarios</a:t>
            </a:r>
            <a:r>
              <a:rPr lang="en-US" dirty="0"/>
              <a:t>, and use their analytic minds to derive requirements from </a:t>
            </a:r>
            <a:r>
              <a:rPr lang="en-US" dirty="0" smtClean="0"/>
              <a:t>these scenarios</a:t>
            </a:r>
          </a:p>
          <a:p>
            <a:pPr algn="just"/>
            <a:r>
              <a:rPr lang="en-US" dirty="0"/>
              <a:t>Brainstorming should be unconstrained and uncritical — put all the wacky </a:t>
            </a:r>
            <a:r>
              <a:rPr lang="en-US" dirty="0" smtClean="0"/>
              <a:t>ideas you’ve </a:t>
            </a:r>
            <a:r>
              <a:rPr lang="en-US" dirty="0"/>
              <a:t>been considering (plus some you haven’t) out on the table and then be </a:t>
            </a:r>
            <a:r>
              <a:rPr lang="en-US" dirty="0" smtClean="0"/>
              <a:t>prepared to </a:t>
            </a:r>
            <a:r>
              <a:rPr lang="en-US" dirty="0"/>
              <a:t>record </a:t>
            </a:r>
            <a:r>
              <a:rPr lang="en-US" dirty="0" smtClean="0"/>
              <a:t>them</a:t>
            </a:r>
          </a:p>
          <a:p>
            <a:pPr algn="just"/>
            <a:r>
              <a:rPr lang="en-US" dirty="0" smtClean="0"/>
              <a:t>Don’t spend too much time on the brainstorming step; a few hours should be more than sufficient for you and your teammates to get all those crazy ideas out of your systems.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1663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Scenarios (Cont</a:t>
            </a:r>
            <a:r>
              <a:rPr lang="en-US" dirty="0" smtClean="0"/>
              <a:t>.)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700" y="2286000"/>
            <a:ext cx="7810500" cy="4114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Pretending it’s magic:</a:t>
            </a:r>
          </a:p>
          <a:p>
            <a:pPr algn="just"/>
            <a:r>
              <a:rPr lang="en-US" dirty="0"/>
              <a:t>A powerful tool in the early stages of developing scenarios is to </a:t>
            </a:r>
            <a:r>
              <a:rPr lang="en-US" i="1" dirty="0"/>
              <a:t>pretend the </a:t>
            </a:r>
            <a:r>
              <a:rPr lang="en-US" i="1" dirty="0" smtClean="0"/>
              <a:t>interface is </a:t>
            </a:r>
            <a:r>
              <a:rPr lang="en-US" i="1" dirty="0"/>
              <a:t>magic</a:t>
            </a:r>
            <a:r>
              <a:rPr lang="en-US" dirty="0"/>
              <a:t>. If your persona has goals and the product has magical powers to </a:t>
            </a:r>
            <a:r>
              <a:rPr lang="en-US" dirty="0" smtClean="0"/>
              <a:t>meet them</a:t>
            </a:r>
            <a:r>
              <a:rPr lang="en-US" dirty="0"/>
              <a:t>, how simple could the interaction be</a:t>
            </a:r>
            <a:r>
              <a:rPr lang="en-US" dirty="0" smtClean="0"/>
              <a:t>?</a:t>
            </a:r>
          </a:p>
          <a:p>
            <a:pPr algn="just"/>
            <a:r>
              <a:rPr lang="en-US" dirty="0"/>
              <a:t>Magical solutions obviously won’t suffice, but </a:t>
            </a:r>
            <a:r>
              <a:rPr lang="en-US" dirty="0" smtClean="0"/>
              <a:t>figuring out </a:t>
            </a:r>
            <a:r>
              <a:rPr lang="en-US" dirty="0"/>
              <a:t>creative ways to technically accomplish interactions that are as close </a:t>
            </a:r>
            <a:r>
              <a:rPr lang="en-US" dirty="0" smtClean="0"/>
              <a:t>to magical </a:t>
            </a:r>
            <a:r>
              <a:rPr lang="en-US" dirty="0"/>
              <a:t>solutions as possible (from the personas’ perspective) is the essence of </a:t>
            </a:r>
            <a:r>
              <a:rPr lang="en-US" dirty="0" smtClean="0"/>
              <a:t>great interaction design</a:t>
            </a:r>
          </a:p>
          <a:p>
            <a:pPr algn="just"/>
            <a:r>
              <a:rPr lang="en-US" dirty="0"/>
              <a:t>Products that meet goals with the minimum of hassle </a:t>
            </a:r>
            <a:r>
              <a:rPr lang="en-US" dirty="0" smtClean="0"/>
              <a:t>and intrusion </a:t>
            </a:r>
            <a:r>
              <a:rPr lang="en-US" dirty="0"/>
              <a:t>seem almost magical to users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xmlns="" val="1173569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886700" cy="1485900"/>
          </a:xfrm>
        </p:spPr>
        <p:txBody>
          <a:bodyPr>
            <a:normAutofit/>
          </a:bodyPr>
          <a:lstStyle/>
          <a:p>
            <a:r>
              <a:rPr lang="en-US" dirty="0" smtClean="0"/>
              <a:t>An Example Context Scenario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700" y="2286000"/>
            <a:ext cx="7734300" cy="3581400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An example context </a:t>
            </a:r>
            <a:r>
              <a:rPr lang="en-US" b="1" dirty="0" smtClean="0"/>
              <a:t>scenario: </a:t>
            </a:r>
            <a:r>
              <a:rPr lang="en-US" dirty="0" smtClean="0"/>
              <a:t>a </a:t>
            </a:r>
            <a:r>
              <a:rPr lang="en-US" dirty="0"/>
              <a:t>context scenario for a </a:t>
            </a:r>
            <a:r>
              <a:rPr lang="en-US" dirty="0" smtClean="0"/>
              <a:t>primary persona </a:t>
            </a:r>
            <a:r>
              <a:rPr lang="en-US" dirty="0"/>
              <a:t>for a personal digital assistant (PDA) type phone, including both </a:t>
            </a:r>
            <a:r>
              <a:rPr lang="en-US" dirty="0" smtClean="0"/>
              <a:t>the device </a:t>
            </a:r>
            <a:r>
              <a:rPr lang="en-US" dirty="0"/>
              <a:t>and its </a:t>
            </a:r>
            <a:r>
              <a:rPr lang="en-US" dirty="0" smtClean="0"/>
              <a:t>service. </a:t>
            </a:r>
          </a:p>
          <a:p>
            <a:pPr algn="just"/>
            <a:r>
              <a:rPr lang="en-US" dirty="0"/>
              <a:t>Our persona is Vivien Strong, a real-estate agent in </a:t>
            </a:r>
            <a:r>
              <a:rPr lang="en-US" dirty="0" smtClean="0"/>
              <a:t>Indianapolis, whose </a:t>
            </a:r>
            <a:r>
              <a:rPr lang="en-US" dirty="0"/>
              <a:t>goals are to balance work and home life, close the deal, and </a:t>
            </a:r>
            <a:r>
              <a:rPr lang="en-US" dirty="0" smtClean="0"/>
              <a:t>make each </a:t>
            </a:r>
            <a:r>
              <a:rPr lang="en-US" dirty="0"/>
              <a:t>client feel like he is her </a:t>
            </a:r>
            <a:r>
              <a:rPr lang="en-US" i="1" dirty="0"/>
              <a:t>only </a:t>
            </a:r>
            <a:r>
              <a:rPr lang="en-US" dirty="0"/>
              <a:t>client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xmlns="" val="4243497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700" y="2286000"/>
            <a:ext cx="7886700" cy="4114800"/>
          </a:xfrm>
        </p:spPr>
        <p:txBody>
          <a:bodyPr>
            <a:normAutofit/>
          </a:bodyPr>
          <a:lstStyle/>
          <a:p>
            <a:pPr marL="457200" indent="-457200" algn="just">
              <a:buAutoNum type="arabicPeriod"/>
            </a:pPr>
            <a:r>
              <a:rPr lang="en-US" dirty="0" smtClean="0"/>
              <a:t>While </a:t>
            </a:r>
            <a:r>
              <a:rPr lang="en-US" dirty="0"/>
              <a:t>getting ready in the morning, Vivien uses her phone to check her e-mail. </a:t>
            </a:r>
          </a:p>
          <a:p>
            <a:pPr marL="0" indent="0" algn="just">
              <a:buNone/>
            </a:pPr>
            <a:r>
              <a:rPr lang="en-US" i="0" dirty="0" smtClean="0"/>
              <a:t>	It has </a:t>
            </a:r>
            <a:r>
              <a:rPr lang="en-US" i="0" dirty="0"/>
              <a:t>a large enough screen and quick connection time so that </a:t>
            </a:r>
            <a:r>
              <a:rPr lang="en-US" i="0" dirty="0" smtClean="0"/>
              <a:t>	it’s </a:t>
            </a:r>
            <a:r>
              <a:rPr lang="en-US" i="0" dirty="0"/>
              <a:t>more </a:t>
            </a:r>
            <a:r>
              <a:rPr lang="en-US" i="0" dirty="0" smtClean="0"/>
              <a:t>convenient than </a:t>
            </a:r>
            <a:r>
              <a:rPr lang="en-US" i="0" dirty="0"/>
              <a:t>booting up a computer as she rushes </a:t>
            </a:r>
            <a:r>
              <a:rPr lang="en-US" i="0" dirty="0" smtClean="0"/>
              <a:t>	to </a:t>
            </a:r>
            <a:r>
              <a:rPr lang="en-US" i="0" dirty="0"/>
              <a:t>make her daughter, Alice, </a:t>
            </a:r>
            <a:r>
              <a:rPr lang="en-US" i="0" dirty="0" smtClean="0"/>
              <a:t>a sandwich </a:t>
            </a:r>
            <a:r>
              <a:rPr lang="en-US" i="0" dirty="0"/>
              <a:t>for school</a:t>
            </a:r>
            <a:r>
              <a:rPr lang="en-US" i="0" dirty="0" smtClean="0"/>
              <a:t>.</a:t>
            </a:r>
          </a:p>
          <a:p>
            <a:pPr marL="0" indent="0" algn="just">
              <a:buNone/>
            </a:pP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886700" cy="1485900"/>
          </a:xfrm>
        </p:spPr>
        <p:txBody>
          <a:bodyPr>
            <a:normAutofit/>
          </a:bodyPr>
          <a:lstStyle/>
          <a:p>
            <a:r>
              <a:rPr lang="en-US" dirty="0" smtClean="0"/>
              <a:t>An Example Context Scenario [2]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14844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700" y="2286000"/>
            <a:ext cx="7886700" cy="4114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smtClean="0"/>
              <a:t>2</a:t>
            </a:r>
            <a:r>
              <a:rPr lang="en-US" dirty="0"/>
              <a:t>. Vivien sees an e-mail from her newest client, Frank, who wants to see a </a:t>
            </a:r>
            <a:r>
              <a:rPr lang="en-US" dirty="0" smtClean="0"/>
              <a:t>house this </a:t>
            </a:r>
            <a:r>
              <a:rPr lang="en-US" dirty="0"/>
              <a:t>afternoon.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/>
              <a:t>	</a:t>
            </a:r>
            <a:r>
              <a:rPr lang="en-US" dirty="0" smtClean="0"/>
              <a:t>The </a:t>
            </a:r>
            <a:r>
              <a:rPr lang="en-US" dirty="0"/>
              <a:t>device has his contact info,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/>
              <a:t>	</a:t>
            </a:r>
            <a:r>
              <a:rPr lang="en-US" dirty="0" smtClean="0"/>
              <a:t>so </a:t>
            </a:r>
            <a:r>
              <a:rPr lang="en-US" dirty="0"/>
              <a:t>now she can call him with </a:t>
            </a:r>
            <a:r>
              <a:rPr lang="en-US" dirty="0" smtClean="0"/>
              <a:t>a 	simple </a:t>
            </a:r>
            <a:r>
              <a:rPr lang="en-US" dirty="0"/>
              <a:t>action right from the </a:t>
            </a:r>
            <a:r>
              <a:rPr lang="en-US" dirty="0" smtClean="0"/>
              <a:t>e-	mail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endParaRPr lang="en-US" dirty="0" smtClean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886700" cy="1485900"/>
          </a:xfrm>
        </p:spPr>
        <p:txBody>
          <a:bodyPr>
            <a:normAutofit/>
          </a:bodyPr>
          <a:lstStyle/>
          <a:p>
            <a:r>
              <a:rPr lang="en-US" dirty="0" smtClean="0"/>
              <a:t>An Example Context Scenario [2]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43579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700" y="2286000"/>
            <a:ext cx="7886700" cy="4114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smtClean="0"/>
              <a:t>3</a:t>
            </a:r>
            <a:r>
              <a:rPr lang="en-US" dirty="0"/>
              <a:t>. While on the phone with Frank, Vivien switches to speakerphone so  </a:t>
            </a:r>
            <a:r>
              <a:rPr lang="en-US" dirty="0" smtClean="0"/>
              <a:t>   	she </a:t>
            </a:r>
            <a:r>
              <a:rPr lang="en-US" dirty="0"/>
              <a:t>can </a:t>
            </a:r>
            <a:r>
              <a:rPr lang="en-US" dirty="0" smtClean="0"/>
              <a:t>look at </a:t>
            </a:r>
            <a:r>
              <a:rPr lang="en-US" dirty="0"/>
              <a:t>the screen while talking.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	She </a:t>
            </a:r>
            <a:r>
              <a:rPr lang="en-US" dirty="0"/>
              <a:t>looks at her appointments to see when she’s </a:t>
            </a:r>
            <a:r>
              <a:rPr lang="en-US" dirty="0" smtClean="0"/>
              <a:t>free. </a:t>
            </a:r>
          </a:p>
          <a:p>
            <a:pPr marL="0" indent="0" algn="just">
              <a:buNone/>
            </a:pPr>
            <a:r>
              <a:rPr lang="en-US" dirty="0" smtClean="0"/>
              <a:t>	When </a:t>
            </a:r>
            <a:r>
              <a:rPr lang="en-US" dirty="0"/>
              <a:t>she creates a new appointment, the phone automatically </a:t>
            </a:r>
            <a:r>
              <a:rPr lang="en-US" dirty="0" smtClean="0"/>
              <a:t>	makes </a:t>
            </a:r>
            <a:r>
              <a:rPr lang="en-US" dirty="0"/>
              <a:t>it </a:t>
            </a:r>
            <a:r>
              <a:rPr lang="en-US" dirty="0" smtClean="0"/>
              <a:t>an appointment </a:t>
            </a:r>
            <a:r>
              <a:rPr lang="en-US" dirty="0"/>
              <a:t>with Frank, because it knows with </a:t>
            </a:r>
            <a:r>
              <a:rPr lang="en-US" dirty="0" smtClean="0"/>
              <a:t>	whom </a:t>
            </a:r>
            <a:r>
              <a:rPr lang="en-US" dirty="0"/>
              <a:t>she is talking.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	She quickly enters </a:t>
            </a:r>
            <a:r>
              <a:rPr lang="en-US" dirty="0"/>
              <a:t>the address of the property into the </a:t>
            </a:r>
            <a:r>
              <a:rPr lang="en-US" dirty="0" smtClean="0"/>
              <a:t>	appointment </a:t>
            </a:r>
            <a:r>
              <a:rPr lang="en-US" dirty="0"/>
              <a:t>as she finishes </a:t>
            </a:r>
            <a:r>
              <a:rPr lang="en-US" dirty="0" smtClean="0"/>
              <a:t>her conversation</a:t>
            </a:r>
            <a:r>
              <a:rPr lang="en-US" dirty="0"/>
              <a:t>.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886700" cy="1485900"/>
          </a:xfrm>
        </p:spPr>
        <p:txBody>
          <a:bodyPr>
            <a:normAutofit/>
          </a:bodyPr>
          <a:lstStyle/>
          <a:p>
            <a:r>
              <a:rPr lang="en-US" dirty="0" smtClean="0"/>
              <a:t>An Example Context Scenario [2]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77155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700" y="2170627"/>
            <a:ext cx="7581900" cy="3962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smtClean="0"/>
              <a:t>4. After </a:t>
            </a:r>
            <a:r>
              <a:rPr lang="en-US" dirty="0"/>
              <a:t>sending Alice off to school, Vivien heads into the real-estate office </a:t>
            </a:r>
            <a:r>
              <a:rPr lang="en-US" dirty="0" smtClean="0"/>
              <a:t>to gather </a:t>
            </a:r>
            <a:r>
              <a:rPr lang="en-US" dirty="0"/>
              <a:t>some papers for another appointment.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/>
              <a:t>	</a:t>
            </a:r>
            <a:r>
              <a:rPr lang="en-US" dirty="0" smtClean="0"/>
              <a:t>Her </a:t>
            </a:r>
            <a:r>
              <a:rPr lang="en-US" dirty="0"/>
              <a:t>phone has already </a:t>
            </a:r>
            <a:r>
              <a:rPr lang="en-US" dirty="0" smtClean="0"/>
              <a:t>updated her </a:t>
            </a:r>
            <a:r>
              <a:rPr lang="en-US" dirty="0"/>
              <a:t>Outlook appointments</a:t>
            </a:r>
            <a:r>
              <a:rPr lang="en-US" dirty="0" smtClean="0"/>
              <a:t>,</a:t>
            </a:r>
          </a:p>
          <a:p>
            <a:pPr marL="0" indent="0" algn="just">
              <a:buNone/>
            </a:pPr>
            <a:r>
              <a:rPr lang="en-US" dirty="0"/>
              <a:t>	</a:t>
            </a:r>
            <a:r>
              <a:rPr lang="en-US" dirty="0" smtClean="0"/>
              <a:t> </a:t>
            </a:r>
            <a:r>
              <a:rPr lang="en-US" dirty="0"/>
              <a:t>so the rest of the office knows where she’ll be in </a:t>
            </a:r>
            <a:r>
              <a:rPr lang="en-US" dirty="0" smtClean="0"/>
              <a:t>the 	afternoon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886700" cy="1485900"/>
          </a:xfrm>
        </p:spPr>
        <p:txBody>
          <a:bodyPr>
            <a:normAutofit/>
          </a:bodyPr>
          <a:lstStyle/>
          <a:p>
            <a:r>
              <a:rPr lang="en-US" dirty="0" smtClean="0"/>
              <a:t>An Example Context Scenario [2]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966503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700" y="2170627"/>
            <a:ext cx="7581900" cy="3962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smtClean="0"/>
              <a:t>5</a:t>
            </a:r>
            <a:r>
              <a:rPr lang="en-US" dirty="0"/>
              <a:t>. The day goes by quickly, and she’s running a bit late.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/>
              <a:t>	</a:t>
            </a:r>
            <a:r>
              <a:rPr lang="en-US" dirty="0" smtClean="0"/>
              <a:t>As </a:t>
            </a:r>
            <a:r>
              <a:rPr lang="en-US" dirty="0"/>
              <a:t>she heads towards </a:t>
            </a:r>
            <a:r>
              <a:rPr lang="en-US" dirty="0" smtClean="0"/>
              <a:t>the property </a:t>
            </a:r>
            <a:r>
              <a:rPr lang="en-US" dirty="0"/>
              <a:t>she’ll be showing Frank, </a:t>
            </a:r>
            <a:r>
              <a:rPr lang="en-US" dirty="0" smtClean="0"/>
              <a:t>	the </a:t>
            </a:r>
            <a:r>
              <a:rPr lang="en-US" dirty="0"/>
              <a:t>phone alerts her that her appointment is </a:t>
            </a:r>
            <a:r>
              <a:rPr lang="en-US" dirty="0" smtClean="0"/>
              <a:t>in </a:t>
            </a:r>
            <a:r>
              <a:rPr lang="en-US" dirty="0"/>
              <a:t>15 minutes.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/>
              <a:t>	</a:t>
            </a:r>
            <a:r>
              <a:rPr lang="en-US" dirty="0" smtClean="0"/>
              <a:t>When </a:t>
            </a:r>
            <a:r>
              <a:rPr lang="en-US" dirty="0"/>
              <a:t>she flips open the phone, it shows not only the </a:t>
            </a:r>
            <a:r>
              <a:rPr lang="en-US" dirty="0" smtClean="0"/>
              <a:t>	appointment, but </a:t>
            </a:r>
            <a:r>
              <a:rPr lang="en-US" dirty="0"/>
              <a:t>a list of all documents related to Frank, </a:t>
            </a:r>
            <a:r>
              <a:rPr lang="en-US" dirty="0" smtClean="0"/>
              <a:t>	including </a:t>
            </a:r>
            <a:r>
              <a:rPr lang="en-US" dirty="0"/>
              <a:t>e-mails, memos, </a:t>
            </a:r>
            <a:r>
              <a:rPr lang="en-US" dirty="0" smtClean="0"/>
              <a:t>phone messages</a:t>
            </a:r>
            <a:r>
              <a:rPr lang="en-US" dirty="0"/>
              <a:t>, and call logs to </a:t>
            </a:r>
            <a:r>
              <a:rPr lang="en-US" dirty="0" smtClean="0"/>
              <a:t>	Frank’s </a:t>
            </a:r>
            <a:r>
              <a:rPr lang="en-US" dirty="0"/>
              <a:t>number.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/>
              <a:t>	</a:t>
            </a:r>
            <a:r>
              <a:rPr lang="en-US" dirty="0" smtClean="0"/>
              <a:t>Vivien </a:t>
            </a:r>
            <a:r>
              <a:rPr lang="en-US" dirty="0"/>
              <a:t>presses the call button, </a:t>
            </a:r>
            <a:r>
              <a:rPr lang="en-US" dirty="0" smtClean="0"/>
              <a:t>and the </a:t>
            </a:r>
            <a:r>
              <a:rPr lang="en-US" dirty="0"/>
              <a:t>phone automatically </a:t>
            </a:r>
            <a:r>
              <a:rPr lang="en-US" dirty="0" smtClean="0"/>
              <a:t>	connects </a:t>
            </a:r>
            <a:r>
              <a:rPr lang="en-US" dirty="0"/>
              <a:t>to Frank because it knows her </a:t>
            </a:r>
            <a:r>
              <a:rPr lang="en-US" dirty="0" smtClean="0"/>
              <a:t>appointment with </a:t>
            </a:r>
            <a:r>
              <a:rPr lang="en-US" dirty="0"/>
              <a:t>him </a:t>
            </a:r>
            <a:r>
              <a:rPr lang="en-US" dirty="0" smtClean="0"/>
              <a:t>	is </a:t>
            </a:r>
            <a:r>
              <a:rPr lang="en-US" dirty="0"/>
              <a:t>soon.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/>
              <a:t>	</a:t>
            </a:r>
            <a:r>
              <a:rPr lang="en-US" dirty="0" smtClean="0"/>
              <a:t>She </a:t>
            </a:r>
            <a:r>
              <a:rPr lang="en-US" dirty="0"/>
              <a:t>lets him know she’ll be there in 20 minutes.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886700" cy="1485900"/>
          </a:xfrm>
        </p:spPr>
        <p:txBody>
          <a:bodyPr>
            <a:normAutofit/>
          </a:bodyPr>
          <a:lstStyle/>
          <a:p>
            <a:r>
              <a:rPr lang="en-US" dirty="0" smtClean="0"/>
              <a:t>An Example Context Scenario [2]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48348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4211" y="2095500"/>
            <a:ext cx="7734300" cy="4648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6. Vivien knows the address of the property but is a bit unsure exactly </a:t>
            </a:r>
            <a:r>
              <a:rPr lang="en-US" dirty="0" smtClean="0"/>
              <a:t>	where </a:t>
            </a:r>
            <a:r>
              <a:rPr lang="en-US" dirty="0"/>
              <a:t>it </a:t>
            </a:r>
            <a:r>
              <a:rPr lang="en-US" dirty="0" smtClean="0"/>
              <a:t>is. </a:t>
            </a:r>
          </a:p>
          <a:p>
            <a:pPr marL="0" indent="0" algn="just">
              <a:buNone/>
            </a:pPr>
            <a:r>
              <a:rPr lang="en-US" dirty="0" smtClean="0"/>
              <a:t>	She </a:t>
            </a:r>
            <a:r>
              <a:rPr lang="en-US" dirty="0"/>
              <a:t>pulls over and taps the address she put into the </a:t>
            </a:r>
            <a:r>
              <a:rPr lang="en-US" dirty="0" smtClean="0"/>
              <a:t>	appointment</a:t>
            </a:r>
            <a:r>
              <a:rPr lang="en-US" dirty="0"/>
              <a:t>.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	The phone downloads </a:t>
            </a:r>
            <a:r>
              <a:rPr lang="en-US" dirty="0"/>
              <a:t>directions along with a thumbnail map </a:t>
            </a:r>
            <a:r>
              <a:rPr lang="en-US" dirty="0" smtClean="0"/>
              <a:t>	showing </a:t>
            </a:r>
            <a:r>
              <a:rPr lang="en-US" dirty="0"/>
              <a:t>her location </a:t>
            </a:r>
            <a:r>
              <a:rPr lang="en-US" dirty="0" smtClean="0"/>
              <a:t>relative to </a:t>
            </a:r>
            <a:r>
              <a:rPr lang="en-US" dirty="0"/>
              <a:t>the destination.</a:t>
            </a: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28700" y="609600"/>
            <a:ext cx="7886700" cy="1485900"/>
          </a:xfrm>
        </p:spPr>
        <p:txBody>
          <a:bodyPr>
            <a:normAutofit/>
          </a:bodyPr>
          <a:lstStyle/>
          <a:p>
            <a:r>
              <a:rPr lang="en-US" dirty="0" smtClean="0"/>
              <a:t>An Example Context Scenario [2]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024090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4211" y="2095500"/>
            <a:ext cx="7734300" cy="4648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smtClean="0"/>
              <a:t> 7</a:t>
            </a:r>
            <a:r>
              <a:rPr lang="en-US" dirty="0"/>
              <a:t>. Vivien gets to the property on time and starts showing it to Frank.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	She </a:t>
            </a:r>
            <a:r>
              <a:rPr lang="en-US" dirty="0"/>
              <a:t>hears </a:t>
            </a:r>
            <a:r>
              <a:rPr lang="en-US" dirty="0" smtClean="0"/>
              <a:t>the phone </a:t>
            </a:r>
            <a:r>
              <a:rPr lang="en-US" dirty="0"/>
              <a:t>ring from her purse.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	Normally </a:t>
            </a:r>
            <a:r>
              <a:rPr lang="en-US" dirty="0"/>
              <a:t>while she is in an appointment, the </a:t>
            </a:r>
            <a:r>
              <a:rPr lang="en-US" dirty="0" smtClean="0"/>
              <a:t>phone will 	automatically </a:t>
            </a:r>
            <a:r>
              <a:rPr lang="en-US" dirty="0"/>
              <a:t>transfer directly to voicemail,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/>
              <a:t>	</a:t>
            </a:r>
            <a:r>
              <a:rPr lang="en-US" dirty="0" smtClean="0"/>
              <a:t>But </a:t>
            </a:r>
            <a:r>
              <a:rPr lang="en-US" dirty="0"/>
              <a:t>Alice has a code </a:t>
            </a:r>
            <a:r>
              <a:rPr lang="en-US" dirty="0" smtClean="0"/>
              <a:t>she can press </a:t>
            </a:r>
            <a:r>
              <a:rPr lang="en-US" dirty="0"/>
              <a:t>to get through.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	The </a:t>
            </a:r>
            <a:r>
              <a:rPr lang="en-US" dirty="0"/>
              <a:t>phone knows it’s Alice calling, and uses a </a:t>
            </a:r>
            <a:r>
              <a:rPr lang="en-US" dirty="0" smtClean="0"/>
              <a:t>distinctive ring 	tone.</a:t>
            </a: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28700" y="609600"/>
            <a:ext cx="7886700" cy="1485900"/>
          </a:xfrm>
        </p:spPr>
        <p:txBody>
          <a:bodyPr>
            <a:normAutofit/>
          </a:bodyPr>
          <a:lstStyle/>
          <a:p>
            <a:r>
              <a:rPr lang="en-US" dirty="0" smtClean="0"/>
              <a:t>An Example Context Scenario [2]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0082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4211" y="2095500"/>
            <a:ext cx="7734300" cy="4648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smtClean="0"/>
              <a:t>8</a:t>
            </a:r>
            <a:r>
              <a:rPr lang="en-US" dirty="0"/>
              <a:t>. Vivien takes the call — </a:t>
            </a:r>
            <a:r>
              <a:rPr lang="en-US" dirty="0" smtClean="0"/>
              <a:t>Alice </a:t>
            </a:r>
            <a:r>
              <a:rPr lang="en-US" dirty="0"/>
              <a:t>missed the bus and needs a pickup.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/>
              <a:t>	</a:t>
            </a:r>
            <a:r>
              <a:rPr lang="en-US" dirty="0" smtClean="0"/>
              <a:t>Vivien </a:t>
            </a:r>
            <a:r>
              <a:rPr lang="en-US" dirty="0"/>
              <a:t>calls </a:t>
            </a:r>
            <a:r>
              <a:rPr lang="en-US" dirty="0" smtClean="0"/>
              <a:t>her husband </a:t>
            </a:r>
            <a:r>
              <a:rPr lang="en-US" dirty="0"/>
              <a:t>to see if he can do it.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/>
              <a:t>	</a:t>
            </a:r>
            <a:r>
              <a:rPr lang="en-US" dirty="0" smtClean="0"/>
              <a:t>She </a:t>
            </a:r>
            <a:r>
              <a:rPr lang="en-US" dirty="0"/>
              <a:t>gets his voicemail; he must be out of </a:t>
            </a:r>
            <a:r>
              <a:rPr lang="en-US" dirty="0" smtClean="0"/>
              <a:t>service range</a:t>
            </a:r>
            <a:r>
              <a:rPr lang="en-US" dirty="0"/>
              <a:t>.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/>
              <a:t>	</a:t>
            </a:r>
            <a:r>
              <a:rPr lang="en-US" dirty="0" smtClean="0"/>
              <a:t>She </a:t>
            </a:r>
            <a:r>
              <a:rPr lang="en-US" dirty="0"/>
              <a:t>tells him she’s with a client and asks if he can get Alice.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/>
              <a:t>	</a:t>
            </a:r>
            <a:r>
              <a:rPr lang="en-US" dirty="0" smtClean="0"/>
              <a:t>Five minutes later </a:t>
            </a:r>
            <a:r>
              <a:rPr lang="en-US" dirty="0"/>
              <a:t>the phone makes a brief tone Vivien </a:t>
            </a:r>
            <a:r>
              <a:rPr lang="en-US" dirty="0" smtClean="0"/>
              <a:t>	recognizes </a:t>
            </a:r>
            <a:r>
              <a:rPr lang="en-US" dirty="0"/>
              <a:t>as her husband’s;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/>
              <a:t>	</a:t>
            </a:r>
            <a:r>
              <a:rPr lang="en-US" dirty="0" smtClean="0"/>
              <a:t>she sees he’s </a:t>
            </a:r>
            <a:r>
              <a:rPr lang="en-US" dirty="0"/>
              <a:t>sent her an instant message</a:t>
            </a:r>
            <a:r>
              <a:rPr lang="en-US" dirty="0" smtClean="0"/>
              <a:t>:</a:t>
            </a:r>
          </a:p>
          <a:p>
            <a:pPr marL="0" indent="0" algn="just">
              <a:buNone/>
            </a:pPr>
            <a:r>
              <a:rPr lang="en-US" dirty="0"/>
              <a:t>	</a:t>
            </a:r>
            <a:r>
              <a:rPr lang="en-US" dirty="0" smtClean="0"/>
              <a:t> </a:t>
            </a:r>
            <a:r>
              <a:rPr lang="en-US" dirty="0"/>
              <a:t>“I’ll get Alice; good luck on the deal!”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28700" y="609600"/>
            <a:ext cx="7886700" cy="1485900"/>
          </a:xfrm>
        </p:spPr>
        <p:txBody>
          <a:bodyPr>
            <a:normAutofit/>
          </a:bodyPr>
          <a:lstStyle/>
          <a:p>
            <a:r>
              <a:rPr lang="en-US" dirty="0" smtClean="0"/>
              <a:t>An Example Context Scenario [2]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373939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Scenarios (cont</a:t>
            </a:r>
            <a:r>
              <a:rPr lang="en-US" dirty="0" smtClean="0"/>
              <a:t>.)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700" y="2286000"/>
            <a:ext cx="7505700" cy="3581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Key path </a:t>
            </a:r>
            <a:r>
              <a:rPr lang="en-US" b="1" dirty="0" smtClean="0"/>
              <a:t>scenario</a:t>
            </a:r>
            <a:r>
              <a:rPr lang="en-US" dirty="0" smtClean="0"/>
              <a:t>: More specifically </a:t>
            </a:r>
            <a:r>
              <a:rPr lang="en-US" dirty="0"/>
              <a:t>describing user </a:t>
            </a:r>
            <a:r>
              <a:rPr lang="en-US" dirty="0" smtClean="0"/>
              <a:t>interactions with </a:t>
            </a:r>
            <a:r>
              <a:rPr lang="en-US" dirty="0"/>
              <a:t>the </a:t>
            </a:r>
            <a:r>
              <a:rPr lang="en-US" dirty="0" smtClean="0"/>
              <a:t>product.</a:t>
            </a:r>
          </a:p>
          <a:p>
            <a:pPr algn="just"/>
            <a:r>
              <a:rPr lang="en-US" dirty="0"/>
              <a:t>F</a:t>
            </a:r>
            <a:r>
              <a:rPr lang="en-US" dirty="0" smtClean="0"/>
              <a:t>ocus </a:t>
            </a:r>
            <a:r>
              <a:rPr lang="en-US" dirty="0"/>
              <a:t>on the most significant user interactions, always maintaining </a:t>
            </a:r>
            <a:r>
              <a:rPr lang="en-US" dirty="0" smtClean="0"/>
              <a:t>attention on </a:t>
            </a:r>
            <a:r>
              <a:rPr lang="en-US" dirty="0"/>
              <a:t>how a persona uses the product to achieve their </a:t>
            </a:r>
            <a:r>
              <a:rPr lang="en-US" dirty="0" smtClean="0"/>
              <a:t>goals</a:t>
            </a:r>
          </a:p>
          <a:p>
            <a:pPr algn="just"/>
            <a:r>
              <a:rPr lang="en-US" dirty="0" smtClean="0"/>
              <a:t>It must describe </a:t>
            </a:r>
            <a:r>
              <a:rPr lang="en-US" dirty="0"/>
              <a:t>in exacting detail the precise behavior of each major interaction and </a:t>
            </a:r>
            <a:r>
              <a:rPr lang="en-US" dirty="0" smtClean="0"/>
              <a:t>provide a </a:t>
            </a:r>
            <a:r>
              <a:rPr lang="en-US" dirty="0"/>
              <a:t>walkthrough of each major pathway</a:t>
            </a:r>
          </a:p>
        </p:txBody>
      </p:sp>
    </p:spTree>
    <p:extLst>
      <p:ext uri="{BB962C8B-B14F-4D97-AF65-F5344CB8AC3E}">
        <p14:creationId xmlns:p14="http://schemas.microsoft.com/office/powerpoint/2010/main" xmlns="" val="13183078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Scenarios (cont</a:t>
            </a:r>
            <a:r>
              <a:rPr lang="en-US" dirty="0" smtClean="0"/>
              <a:t>.)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700" y="2286000"/>
            <a:ext cx="7734300" cy="3581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Validation </a:t>
            </a:r>
            <a:r>
              <a:rPr lang="en-US" b="1" dirty="0" smtClean="0"/>
              <a:t>scenarios: </a:t>
            </a:r>
            <a:r>
              <a:rPr lang="en-US" dirty="0" smtClean="0"/>
              <a:t>To </a:t>
            </a:r>
            <a:r>
              <a:rPr lang="en-US" dirty="0"/>
              <a:t>test </a:t>
            </a:r>
            <a:r>
              <a:rPr lang="en-US" dirty="0" smtClean="0"/>
              <a:t>the design </a:t>
            </a:r>
            <a:r>
              <a:rPr lang="en-US" dirty="0"/>
              <a:t>solution in a variety of </a:t>
            </a:r>
            <a:r>
              <a:rPr lang="en-US" dirty="0" smtClean="0"/>
              <a:t>situations</a:t>
            </a:r>
          </a:p>
          <a:p>
            <a:pPr algn="just"/>
            <a:r>
              <a:rPr lang="en-US" dirty="0" smtClean="0"/>
              <a:t>Focus on less </a:t>
            </a:r>
            <a:r>
              <a:rPr lang="en-US" dirty="0"/>
              <a:t>frequent or less </a:t>
            </a:r>
            <a:r>
              <a:rPr lang="en-US" dirty="0" smtClean="0"/>
              <a:t>important interactions</a:t>
            </a:r>
          </a:p>
          <a:p>
            <a:pPr algn="just"/>
            <a:r>
              <a:rPr lang="en-US" dirty="0"/>
              <a:t>The goal here is to </a:t>
            </a:r>
            <a:r>
              <a:rPr lang="en-US" dirty="0" smtClean="0"/>
              <a:t>adjust </a:t>
            </a:r>
            <a:r>
              <a:rPr lang="en-US" dirty="0"/>
              <a:t>the </a:t>
            </a:r>
            <a:r>
              <a:rPr lang="en-US" dirty="0" smtClean="0"/>
              <a:t>design as needed.</a:t>
            </a:r>
          </a:p>
          <a:p>
            <a:pPr algn="just"/>
            <a:r>
              <a:rPr lang="en-US" dirty="0"/>
              <a:t>These scenarios tend to be less </a:t>
            </a:r>
            <a:r>
              <a:rPr lang="en-US" dirty="0" smtClean="0"/>
              <a:t>detailed and </a:t>
            </a:r>
            <a:r>
              <a:rPr lang="en-US" dirty="0"/>
              <a:t>typically take the form of a number of “what if . . .” questions about the </a:t>
            </a:r>
            <a:r>
              <a:rPr lang="en-US" dirty="0" smtClean="0"/>
              <a:t>proposed solutions</a:t>
            </a:r>
            <a:endParaRPr lang="en-US" b="1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414359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Scenarios Vs. Use Cases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Scenarios covers not </a:t>
            </a:r>
            <a:r>
              <a:rPr lang="en-US" dirty="0"/>
              <a:t>only the functionality of the </a:t>
            </a:r>
            <a:r>
              <a:rPr lang="en-US" dirty="0" smtClean="0"/>
              <a:t>system but </a:t>
            </a:r>
            <a:r>
              <a:rPr lang="en-US" dirty="0"/>
              <a:t>the way those functions are expressed in terms of </a:t>
            </a:r>
            <a:r>
              <a:rPr lang="en-US" dirty="0" smtClean="0"/>
              <a:t>what the </a:t>
            </a:r>
            <a:r>
              <a:rPr lang="en-US" dirty="0"/>
              <a:t>user sees and how she interacts with the </a:t>
            </a:r>
            <a:r>
              <a:rPr lang="en-US" dirty="0" smtClean="0"/>
              <a:t>system</a:t>
            </a:r>
          </a:p>
          <a:p>
            <a:pPr algn="just"/>
            <a:r>
              <a:rPr lang="en-US" dirty="0"/>
              <a:t>The precise </a:t>
            </a:r>
            <a:r>
              <a:rPr lang="en-US" i="1" dirty="0"/>
              <a:t>behavior </a:t>
            </a:r>
            <a:r>
              <a:rPr lang="en-US" dirty="0" smtClean="0"/>
              <a:t>of the </a:t>
            </a:r>
            <a:r>
              <a:rPr lang="en-US" dirty="0"/>
              <a:t>system — precisely </a:t>
            </a:r>
            <a:r>
              <a:rPr lang="en-US" i="1" dirty="0"/>
              <a:t>how </a:t>
            </a:r>
            <a:r>
              <a:rPr lang="en-US" dirty="0"/>
              <a:t>the system responds — is not typically part of a </a:t>
            </a:r>
            <a:r>
              <a:rPr lang="en-US" dirty="0" smtClean="0"/>
              <a:t>conventional or </a:t>
            </a:r>
            <a:r>
              <a:rPr lang="en-US" i="1" dirty="0"/>
              <a:t>concrete </a:t>
            </a:r>
            <a:r>
              <a:rPr lang="en-US" dirty="0"/>
              <a:t>use case; many assumptions about the form and behavior </a:t>
            </a:r>
            <a:r>
              <a:rPr lang="en-US" dirty="0" smtClean="0"/>
              <a:t>of the </a:t>
            </a:r>
            <a:r>
              <a:rPr lang="en-US" dirty="0"/>
              <a:t>system to be designed remain </a:t>
            </a:r>
            <a:r>
              <a:rPr lang="en-US" dirty="0" smtClean="0"/>
              <a:t>implicit</a:t>
            </a:r>
          </a:p>
          <a:p>
            <a:pPr algn="just"/>
            <a:r>
              <a:rPr lang="en-US" dirty="0"/>
              <a:t>Use cases permit a complete </a:t>
            </a:r>
            <a:r>
              <a:rPr lang="en-US" dirty="0" smtClean="0"/>
              <a:t>cataloguing of </a:t>
            </a:r>
            <a:r>
              <a:rPr lang="en-US" dirty="0"/>
              <a:t>user tasks for different classes of users but say little or nothing about </a:t>
            </a:r>
            <a:r>
              <a:rPr lang="en-US" dirty="0" smtClean="0"/>
              <a:t>how these </a:t>
            </a:r>
            <a:r>
              <a:rPr lang="en-US" dirty="0"/>
              <a:t>tasks are presented to the </a:t>
            </a:r>
            <a:r>
              <a:rPr lang="en-US" dirty="0" smtClean="0"/>
              <a:t>user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36433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Important things while designing detailed </a:t>
            </a:r>
            <a:r>
              <a:rPr lang="en-US" dirty="0" smtClean="0"/>
              <a:t>interactions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700" y="2286000"/>
            <a:ext cx="2933700" cy="358140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400" b="1" dirty="0" smtClean="0"/>
              <a:t>Parallel Design: </a:t>
            </a:r>
            <a:r>
              <a:rPr lang="en-US" sz="2400" dirty="0"/>
              <a:t>If time and resources allow, explore design </a:t>
            </a:r>
            <a:r>
              <a:rPr lang="en-US" sz="2400" dirty="0" smtClean="0"/>
              <a:t>alternatives</a:t>
            </a:r>
          </a:p>
          <a:p>
            <a:r>
              <a:rPr lang="en-US" sz="2400" dirty="0"/>
              <a:t>Have several design teams work independently, then compare draft designs</a:t>
            </a:r>
            <a:endParaRPr lang="en-US" sz="2400" b="1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36321" t="26283" r="15750" b="24657"/>
          <a:stretch/>
        </p:blipFill>
        <p:spPr bwMode="auto">
          <a:xfrm>
            <a:off x="3962400" y="2286000"/>
            <a:ext cx="4876800" cy="3743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2526393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Important things while designing </a:t>
            </a:r>
            <a:r>
              <a:rPr lang="en-US" dirty="0" smtClean="0"/>
              <a:t>detailed interactions (cont.)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700" y="2171700"/>
            <a:ext cx="7734300" cy="3581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Pretend the product is </a:t>
            </a:r>
            <a:r>
              <a:rPr lang="en-US" sz="2400" b="1" dirty="0" smtClean="0"/>
              <a:t>human:</a:t>
            </a:r>
          </a:p>
          <a:p>
            <a:pPr algn="just"/>
            <a:r>
              <a:rPr lang="en-US" sz="2400" dirty="0"/>
              <a:t>I</a:t>
            </a:r>
            <a:r>
              <a:rPr lang="en-US" sz="2400" dirty="0" smtClean="0"/>
              <a:t>nteractions </a:t>
            </a:r>
            <a:r>
              <a:rPr lang="en-US" sz="2400" dirty="0"/>
              <a:t>with a digital system should be similar in </a:t>
            </a:r>
            <a:r>
              <a:rPr lang="en-US" sz="2400" dirty="0" smtClean="0"/>
              <a:t>tone and </a:t>
            </a:r>
            <a:r>
              <a:rPr lang="en-US" sz="2400" dirty="0"/>
              <a:t>helpfulness to interactions with a polite, considerate </a:t>
            </a:r>
            <a:r>
              <a:rPr lang="en-US" sz="2400" dirty="0" smtClean="0"/>
              <a:t>human</a:t>
            </a:r>
            <a:r>
              <a:rPr lang="en-US" sz="2400" dirty="0"/>
              <a:t> </a:t>
            </a:r>
            <a:endParaRPr lang="en-US" sz="2400" dirty="0" smtClean="0"/>
          </a:p>
          <a:p>
            <a:pPr algn="just"/>
            <a:r>
              <a:rPr lang="en-US" sz="2400" dirty="0" smtClean="0"/>
              <a:t>You </a:t>
            </a:r>
            <a:r>
              <a:rPr lang="en-US" sz="2400" dirty="0"/>
              <a:t>should ask </a:t>
            </a:r>
            <a:r>
              <a:rPr lang="en-US" sz="2400" dirty="0" smtClean="0"/>
              <a:t>yourself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What </a:t>
            </a:r>
            <a:r>
              <a:rPr lang="en-US" dirty="0"/>
              <a:t>would a helpful human do? 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What </a:t>
            </a:r>
            <a:r>
              <a:rPr lang="en-US" dirty="0"/>
              <a:t>would a </a:t>
            </a:r>
            <a:r>
              <a:rPr lang="en-US" dirty="0" smtClean="0"/>
              <a:t>thoughtful, considerate </a:t>
            </a:r>
            <a:r>
              <a:rPr lang="en-US" dirty="0"/>
              <a:t>interaction feel like? 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Is </a:t>
            </a:r>
            <a:r>
              <a:rPr lang="en-US" dirty="0"/>
              <a:t>the primary persona being treated </a:t>
            </a:r>
            <a:r>
              <a:rPr lang="en-US" dirty="0" smtClean="0"/>
              <a:t>humanely by </a:t>
            </a:r>
            <a:r>
              <a:rPr lang="en-US" dirty="0"/>
              <a:t>the product? 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In </a:t>
            </a:r>
            <a:r>
              <a:rPr lang="en-US" dirty="0"/>
              <a:t>what ways can the software offer helpful information </a:t>
            </a:r>
            <a:r>
              <a:rPr lang="en-US" dirty="0" smtClean="0"/>
              <a:t>without getting </a:t>
            </a:r>
            <a:r>
              <a:rPr lang="en-US" dirty="0"/>
              <a:t>in the way? 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How </a:t>
            </a:r>
            <a:r>
              <a:rPr lang="en-US" dirty="0"/>
              <a:t>can it minimize the persona’s effort in reaching his goals?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xmlns="" val="40803021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6403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Important things while designing detailed interactions (cont.)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0999" y="1888901"/>
            <a:ext cx="2514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Getting Ideas from Your </a:t>
            </a:r>
            <a:r>
              <a:rPr lang="en-US" sz="2400" b="1" dirty="0" smtClean="0"/>
              <a:t>Users:</a:t>
            </a:r>
          </a:p>
          <a:p>
            <a:pPr algn="just"/>
            <a:r>
              <a:rPr lang="en-US" sz="2400" dirty="0" smtClean="0"/>
              <a:t>A </a:t>
            </a:r>
            <a:r>
              <a:rPr lang="en-US" sz="2400" dirty="0"/>
              <a:t>simple user survey can quickly tell you where users would expect to find certain functionality.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33988" t="23454" r="11190" b="19709"/>
          <a:stretch/>
        </p:blipFill>
        <p:spPr bwMode="auto">
          <a:xfrm>
            <a:off x="3045599" y="1905000"/>
            <a:ext cx="5617590" cy="4368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1524898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Important things while designing </a:t>
            </a:r>
            <a:r>
              <a:rPr lang="en-US" dirty="0" smtClean="0"/>
              <a:t>interactions (cont.)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Follow </a:t>
            </a:r>
            <a:r>
              <a:rPr lang="en-US" b="1" dirty="0" smtClean="0"/>
              <a:t>Conventions: </a:t>
            </a:r>
            <a:r>
              <a:rPr lang="en-US" dirty="0" smtClean="0"/>
              <a:t>Following </a:t>
            </a:r>
            <a:r>
              <a:rPr lang="en-US" dirty="0"/>
              <a:t>the standard way of doing things is generally </a:t>
            </a:r>
            <a:r>
              <a:rPr lang="en-US" dirty="0" smtClean="0"/>
              <a:t>good</a:t>
            </a:r>
          </a:p>
          <a:p>
            <a:pPr algn="just"/>
            <a:r>
              <a:rPr lang="en-US" dirty="0"/>
              <a:t>Only break the convention for good reason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For example: Link styles, </a:t>
            </a:r>
            <a:r>
              <a:rPr lang="en-US" dirty="0"/>
              <a:t>An Asterisk Means a Required </a:t>
            </a:r>
            <a:r>
              <a:rPr lang="en-US" dirty="0" smtClean="0"/>
              <a:t>Field, </a:t>
            </a:r>
            <a:r>
              <a:rPr lang="en-US" dirty="0"/>
              <a:t>Platform </a:t>
            </a:r>
            <a:r>
              <a:rPr lang="en-US" dirty="0" smtClean="0"/>
              <a:t>Conventions (e.g., </a:t>
            </a:r>
            <a:r>
              <a:rPr lang="en-US" dirty="0"/>
              <a:t>Macintosh Human Interface </a:t>
            </a:r>
            <a:r>
              <a:rPr lang="en-US" dirty="0" smtClean="0"/>
              <a:t>Guidelines, </a:t>
            </a:r>
            <a:r>
              <a:rPr lang="en-US" dirty="0"/>
              <a:t>Microsoft Windows User </a:t>
            </a:r>
            <a:r>
              <a:rPr lang="en-US" dirty="0" smtClean="0"/>
              <a:t>Experience, </a:t>
            </a:r>
            <a:r>
              <a:rPr lang="en-US" dirty="0"/>
              <a:t>Java Look and Feel Design Guidelines</a:t>
            </a:r>
            <a:r>
              <a:rPr lang="en-US" dirty="0" smtClean="0"/>
              <a:t>) often </a:t>
            </a:r>
            <a:r>
              <a:rPr lang="en-US" dirty="0"/>
              <a:t>supported by widget libraries of shared </a:t>
            </a:r>
            <a:r>
              <a:rPr lang="en-US" dirty="0" smtClean="0"/>
              <a:t>code, </a:t>
            </a:r>
            <a:r>
              <a:rPr lang="en-US" dirty="0"/>
              <a:t>Design </a:t>
            </a:r>
            <a:r>
              <a:rPr lang="en-US" dirty="0" smtClean="0"/>
              <a:t>Patterns (</a:t>
            </a:r>
            <a:r>
              <a:rPr lang="en-US" dirty="0"/>
              <a:t>for example, the shopping cart design pattern for an e-commerce web site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464664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[1] Lecture Notes of Prof. Keith Andrews, Available at: www.iicm.tugraz.at/</a:t>
            </a:r>
            <a:r>
              <a:rPr lang="en-US" dirty="0" err="1"/>
              <a:t>hci</a:t>
            </a:r>
            <a:r>
              <a:rPr lang="en-US" dirty="0"/>
              <a:t>‎</a:t>
            </a:r>
          </a:p>
          <a:p>
            <a:pPr marL="0" indent="0">
              <a:buNone/>
            </a:pPr>
            <a:r>
              <a:rPr lang="en-US" dirty="0"/>
              <a:t>[2] “About Face 3.0, the Essentials of Interaction Design”, by Alan Cooper, Robert </a:t>
            </a:r>
            <a:r>
              <a:rPr lang="en-US" dirty="0" err="1"/>
              <a:t>Reimann</a:t>
            </a:r>
            <a:r>
              <a:rPr lang="en-US" dirty="0"/>
              <a:t>, and David Cronin, Third Edition</a:t>
            </a:r>
          </a:p>
        </p:txBody>
      </p:sp>
    </p:spTree>
    <p:extLst>
      <p:ext uri="{BB962C8B-B14F-4D97-AF65-F5344CB8AC3E}">
        <p14:creationId xmlns:p14="http://schemas.microsoft.com/office/powerpoint/2010/main" xmlns="" val="1504129670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3706</TotalTime>
  <Words>1473</Words>
  <Application>Microsoft Office PowerPoint</Application>
  <PresentationFormat>On-screen Show (4:3)</PresentationFormat>
  <Paragraphs>117</Paragraphs>
  <Slides>24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Crop</vt:lpstr>
      <vt:lpstr>Human Computer Interaction (HCI)</vt:lpstr>
      <vt:lpstr>Defining Scenarios for each persona [2]</vt:lpstr>
      <vt:lpstr>Types of Scenarios [2]</vt:lpstr>
      <vt:lpstr>Types of Scenarios (cont.) [2]</vt:lpstr>
      <vt:lpstr>Types of Scenarios (cont.) [2]</vt:lpstr>
      <vt:lpstr>Types of Scenarios (cont.) [2]</vt:lpstr>
      <vt:lpstr>Types of Scenarios (Cont.) [2]</vt:lpstr>
      <vt:lpstr>An Example Context Scenario [2]</vt:lpstr>
      <vt:lpstr>An Example Context Scenario [2]</vt:lpstr>
      <vt:lpstr>An Example Context Scenario [2]</vt:lpstr>
      <vt:lpstr>An Example Context Scenario [2]</vt:lpstr>
      <vt:lpstr>An Example Context Scenario [2]</vt:lpstr>
      <vt:lpstr>An Example Context Scenario [2]</vt:lpstr>
      <vt:lpstr>An Example Context Scenario [2]</vt:lpstr>
      <vt:lpstr>An Example Context Scenario [2]</vt:lpstr>
      <vt:lpstr>An Example Context Scenario [2]</vt:lpstr>
      <vt:lpstr>Types of Scenarios (cont.) [2]</vt:lpstr>
      <vt:lpstr>Types of Scenarios (cont.) [2]</vt:lpstr>
      <vt:lpstr>Scenarios Vs. Use Cases [2]</vt:lpstr>
      <vt:lpstr>Important things while designing detailed interactions [1]</vt:lpstr>
      <vt:lpstr>Important things while designing detailed interactions (cont.) [2]</vt:lpstr>
      <vt:lpstr>Important things while designing detailed interactions (cont.) [1]</vt:lpstr>
      <vt:lpstr>Important things while designing interactions (cont.) [1]</vt:lpstr>
      <vt:lpstr>References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Computer Interaction (HCI)</dc:title>
  <dc:creator>ibm</dc:creator>
  <cp:lastModifiedBy>Dr. Atifa</cp:lastModifiedBy>
  <cp:revision>1001</cp:revision>
  <dcterms:created xsi:type="dcterms:W3CDTF">2006-08-16T00:00:00Z</dcterms:created>
  <dcterms:modified xsi:type="dcterms:W3CDTF">2016-11-22T05:25:52Z</dcterms:modified>
</cp:coreProperties>
</file>